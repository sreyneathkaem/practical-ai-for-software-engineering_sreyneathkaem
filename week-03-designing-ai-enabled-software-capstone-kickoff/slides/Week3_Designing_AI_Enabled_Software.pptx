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E7F7E0-614D-4D13-9398-B1847FD5B946}">
  <a:tblStyle styleId="{A7E7F7E0-614D-4D13-9398-B1847FD5B94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2" Type="http://schemas.openxmlformats.org/officeDocument/2006/relationships/slide" Target="slides/slide45.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6d49e6124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f6d49e6124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Week 1 ends at 'it works'. Week 2 is the whole right column: control, failure, cost, reliability.</a:t>
            </a:r>
            <a:endParaRPr/>
          </a:p>
        </p:txBody>
      </p:sp>
      <p:sp>
        <p:nvSpPr>
          <p:cNvPr id="56" name="Google Shape;56;g3f6d49e6124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6d49e6124_2_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f6d49e6124_2_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session is a bridge, not a technical deep dive. RAG, agents, tool calling, and embeddings all appear today, but only as design vocabulary. Students implement them starting Week 4 onward.</a:t>
            </a:r>
            <a:endParaRPr/>
          </a:p>
        </p:txBody>
      </p:sp>
      <p:sp>
        <p:nvSpPr>
          <p:cNvPr id="67" name="Google Shape;67;g3f6d49e6124_2_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6d49e6124_2_1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f6d49e6124_2_1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Set expectations up front: no code today. That question in the box is the one to return to whenever discussion drifts toward implementation detail.</a:t>
            </a:r>
            <a:endParaRPr/>
          </a:p>
        </p:txBody>
      </p:sp>
      <p:sp>
        <p:nvSpPr>
          <p:cNvPr id="79" name="Google Shape;79;g3f6d49e6124_2_1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6d49e6124_2_2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g3f6d49e6124_2_2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f6d49e6124_2_2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6d49e6124_2_4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f6d49e6124_2_4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3f6d49e6124_2_4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6d49e6124_2_5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f6d49e6124_2_5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 the second question sit. Most students will hesitate, that hesitation is the whole point of the session: they can feel the gap between a demo and a product even before they can name it.</a:t>
            </a:r>
            <a:endParaRPr/>
          </a:p>
        </p:txBody>
      </p:sp>
      <p:sp>
        <p:nvSpPr>
          <p:cNvPr id="114" name="Google Shape;114;g3f6d49e6124_2_5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6d49e6124_2_8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f6d49e6124_2_8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f6d49e6124_2_8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6d49e6124_2_9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f6d49e6124_2_9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second question matters more than the first. Push students past listing AI capabilities into actually deciding what should stay deterministic, rule-based, or human-owned.</a:t>
            </a:r>
            <a:endParaRPr/>
          </a:p>
        </p:txBody>
      </p:sp>
      <p:sp>
        <p:nvSpPr>
          <p:cNvPr id="157" name="Google Shape;157;g3f6d49e6124_2_9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6d49e6124_2_11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f6d49e6124_2_11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f6d49e6124_2_11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6d49e6124_2_12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f6d49e6124_2_12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f6d49e6124_2_12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d49e6124_2_13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f6d49e6124_2_13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f6d49e6124_2_13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6d49e6124_2_14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f6d49e6124_2_14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f6d49e6124_2_14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6d49e6124_2_15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f6d49e6124_2_15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f6d49e6124_2_15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6d49e6124_2_17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f6d49e6124_2_17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f6d49e6124_2_17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6d49e6124_2_18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f6d49e6124_2_18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f6d49e6124_2_18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6d49e6124_2_19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f6d49e6124_2_19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f6d49e6124_2_19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6d49e6124_2_20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f6d49e6124_2_20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f6d49e6124_2_20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6d49e6124_2_22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f6d49e6124_2_22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f6d49e6124_2_22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6d49e6124_2_24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3f6d49e6124_2_24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f6d49e6124_2_24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6d49e6124_2_27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3f6d49e6124_2_27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g3f6d49e6124_2_27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6d49e6124_2_28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f6d49e6124_2_28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f6d49e6124_2_28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f6d49e6124_2_31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f6d49e6124_2_31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f6d49e6124_2_31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6d49e6124_2_34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3f6d49e6124_2_34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3f6d49e6124_2_34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6d49e6124_2_35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f6d49e6124_2_35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Introduce each item on the right briefly, no implementation detail. The point of this slide is the shape of the gap, not mastery of any one item yet.</a:t>
            </a:r>
            <a:endParaRPr/>
          </a:p>
        </p:txBody>
      </p:sp>
      <p:sp>
        <p:nvSpPr>
          <p:cNvPr id="431" name="Google Shape;431;g3f6d49e6124_2_35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f6d49e6124_2_37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f6d49e6124_2_37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f6d49e6124_2_37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f6d49e6124_2_38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g3f6d49e6124_2_38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g3f6d49e6124_2_38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6d49e6124_2_39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g3f6d49e6124_2_39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g3f6d49e6124_2_39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f6d49e6124_2_42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g3f6d49e6124_2_42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Let this run. There's no clean answer, and that's fine, the goal is for students to feel the weight of the question before they start leaning on AI tools in their own capstone.</a:t>
            </a:r>
            <a:endParaRPr/>
          </a:p>
        </p:txBody>
      </p:sp>
      <p:sp>
        <p:nvSpPr>
          <p:cNvPr id="502" name="Google Shape;502;g3f6d49e6124_2_42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6d49e6124_2_43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3f6d49e6124_2_43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g3f6d49e6124_2_43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f6d49e6124_4_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g3f6d49e6124_4_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Shift gears completely here. Session 1 was conceptual; this session is entirely about their own project, right before they walk into the Lab 3 workshop.</a:t>
            </a:r>
            <a:endParaRPr/>
          </a:p>
        </p:txBody>
      </p:sp>
      <p:sp>
        <p:nvSpPr>
          <p:cNvPr id="529" name="Google Shape;529;g3f6d49e6124_4_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f6d49e6124_4_1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g3f6d49e6124_4_1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g3f6d49e6124_4_1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6d49e6124_4_2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g3f6d49e6124_4_2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3f6d49e6124_4_2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f6d49e6124_4_3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g3f6d49e6124_4_3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g3f6d49e6124_4_3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f6d49e6124_4_4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g3f6d49e6124_4_4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g3f6d49e6124_4_4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f6d49e6124_4_6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g3f6d49e6124_4_6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g3f6d49e6124_4_6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f6d49e6124_4_7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f6d49e6124_4_7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g3f6d49e6124_4_7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f6d49e6124_4_9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f6d49e6124_4_9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g3f6d49e6124_4_9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f6d49e6124_4_10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g3f6d49e6124_4_10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g3f6d49e6124_4_10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f6d49e6124_4_11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g3f6d49e6124_4_11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g3f6d49e6124_4_11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f6d49e6124_4_12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g3f6d49e6124_4_12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g3f6d49e6124_4_12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6d49e6124_4_13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g3f6d49e6124_4_13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g3f6d49e6124_4_13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f6d49e6124_4_14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3f6d49e6124_4_14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g3f6d49e6124_4_14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f6d49e6124_4_15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g3f6d49e6124_4_15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g3f6d49e6124_4_15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f6d49e6124_4_16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f6d49e6124_4_16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g3f6d49e6124_4_16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6d49e6124_4_17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g3f6d49e6124_4_17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g3f6d49e6124_4_17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cSld name="MAIN">
    <p:bg>
      <p:bgPr>
        <a:solidFill>
          <a:srgbClr val="FFFFFF"/>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6"/>
          <p:cNvSpPr/>
          <p:nvPr/>
        </p:nvSpPr>
        <p:spPr>
          <a:xfrm>
            <a:off x="411480" y="288036"/>
            <a:ext cx="82983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822B"/>
              </a:buClr>
              <a:buSzPts val="900"/>
              <a:buFont typeface="Calibri"/>
              <a:buNone/>
            </a:pPr>
            <a:r>
              <a:rPr b="1" i="0" lang="en" sz="900" u="none" cap="none" strike="noStrike">
                <a:solidFill>
                  <a:srgbClr val="D9822B"/>
                </a:solidFill>
                <a:latin typeface="Calibri"/>
                <a:ea typeface="Calibri"/>
                <a:cs typeface="Calibri"/>
                <a:sym typeface="Calibri"/>
              </a:rPr>
              <a:t>FROM WEEK </a:t>
            </a:r>
            <a:r>
              <a:rPr b="1" lang="en" sz="900">
                <a:solidFill>
                  <a:srgbClr val="D9822B"/>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59" name="Google Shape;59;p16"/>
          <p:cNvSpPr/>
          <p:nvPr/>
        </p:nvSpPr>
        <p:spPr>
          <a:xfrm>
            <a:off x="411480" y="493776"/>
            <a:ext cx="82983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545"/>
              </a:buClr>
              <a:buSzPts val="2300"/>
              <a:buFont typeface="Cambria"/>
              <a:buNone/>
            </a:pPr>
            <a:r>
              <a:rPr b="1" lang="en" sz="2300">
                <a:solidFill>
                  <a:srgbClr val="0B2545"/>
                </a:solidFill>
                <a:latin typeface="Cambria"/>
                <a:ea typeface="Cambria"/>
                <a:cs typeface="Cambria"/>
                <a:sym typeface="Cambria"/>
              </a:rPr>
              <a:t>Review</a:t>
            </a:r>
            <a:endParaRPr b="0" i="0" sz="2300" u="none" cap="none" strike="noStrike">
              <a:solidFill>
                <a:schemeClr val="dk1"/>
              </a:solidFill>
              <a:latin typeface="Calibri"/>
              <a:ea typeface="Calibri"/>
              <a:cs typeface="Calibri"/>
              <a:sym typeface="Calibri"/>
            </a:endParaRPr>
          </a:p>
        </p:txBody>
      </p:sp>
      <p:sp>
        <p:nvSpPr>
          <p:cNvPr id="60" name="Google Shape;60;p16"/>
          <p:cNvSpPr/>
          <p:nvPr/>
        </p:nvSpPr>
        <p:spPr>
          <a:xfrm>
            <a:off x="411480" y="4841748"/>
            <a:ext cx="548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2  ·  Session 1</a:t>
            </a:r>
            <a:endParaRPr b="0" i="0" sz="700" u="none" cap="none" strike="noStrike">
              <a:solidFill>
                <a:schemeClr val="dk1"/>
              </a:solidFill>
              <a:latin typeface="Calibri"/>
              <a:ea typeface="Calibri"/>
              <a:cs typeface="Calibri"/>
              <a:sym typeface="Calibri"/>
            </a:endParaRPr>
          </a:p>
        </p:txBody>
      </p:sp>
      <p:sp>
        <p:nvSpPr>
          <p:cNvPr id="61" name="Google Shape;61;p16"/>
          <p:cNvSpPr/>
          <p:nvPr/>
        </p:nvSpPr>
        <p:spPr>
          <a:xfrm>
            <a:off x="8366760" y="4841748"/>
            <a:ext cx="3429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
        <p:nvSpPr>
          <p:cNvPr id="62" name="Google Shape;62;p16"/>
          <p:cNvSpPr/>
          <p:nvPr/>
        </p:nvSpPr>
        <p:spPr>
          <a:xfrm>
            <a:off x="411500" y="1337298"/>
            <a:ext cx="8263800" cy="3277200"/>
          </a:xfrm>
          <a:prstGeom prst="roundRect">
            <a:avLst>
              <a:gd fmla="val 2778" name="adj"/>
            </a:avLst>
          </a:prstGeom>
          <a:solidFill>
            <a:srgbClr val="EEF2F6"/>
          </a:solidFill>
          <a:ln cap="flat" cmpd="sng" w="14300">
            <a:solidFill>
              <a:srgbClr val="F2A65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6"/>
          <p:cNvSpPr/>
          <p:nvPr/>
        </p:nvSpPr>
        <p:spPr>
          <a:xfrm>
            <a:off x="718325" y="1508750"/>
            <a:ext cx="7559100" cy="2872200"/>
          </a:xfrm>
          <a:prstGeom prst="rect">
            <a:avLst/>
          </a:prstGeom>
          <a:noFill/>
          <a:ln>
            <a:noFill/>
          </a:ln>
        </p:spPr>
        <p:txBody>
          <a:bodyPr anchorCtr="0" anchor="t" bIns="0" lIns="0" spcFirstLastPara="1" rIns="0" wrap="square" tIns="0">
            <a:noAutofit/>
          </a:bodyPr>
          <a:lstStyle/>
          <a:p>
            <a:pPr indent="-323850" lvl="0" marL="457200" marR="0" rtl="0" algn="l">
              <a:lnSpc>
                <a:spcPct val="150000"/>
              </a:lnSpc>
              <a:spcBef>
                <a:spcPts val="0"/>
              </a:spcBef>
              <a:spcAft>
                <a:spcPts val="0"/>
              </a:spcAft>
              <a:buClr>
                <a:srgbClr val="0B2545"/>
              </a:buClr>
              <a:buSzPts val="1500"/>
              <a:buFont typeface="Calibri"/>
              <a:buAutoNum type="arabicPeriod"/>
            </a:pPr>
            <a:r>
              <a:rPr lang="en" sz="1500">
                <a:solidFill>
                  <a:srgbClr val="0B2545"/>
                </a:solidFill>
                <a:latin typeface="Calibri"/>
                <a:ea typeface="Calibri"/>
                <a:cs typeface="Calibri"/>
                <a:sym typeface="Calibri"/>
              </a:rPr>
              <a:t>What's the difference between a terminal error (e.g. bad API key) and a transient error (e.g. rate limit)? Why do they need different handling?</a:t>
            </a:r>
            <a:endParaRPr sz="1500">
              <a:solidFill>
                <a:srgbClr val="0B2545"/>
              </a:solidFill>
              <a:latin typeface="Calibri"/>
              <a:ea typeface="Calibri"/>
              <a:cs typeface="Calibri"/>
              <a:sym typeface="Calibri"/>
            </a:endParaRPr>
          </a:p>
          <a:p>
            <a:pPr indent="-323850" lvl="0" marL="457200" marR="0" rtl="0" algn="l">
              <a:lnSpc>
                <a:spcPct val="150000"/>
              </a:lnSpc>
              <a:spcBef>
                <a:spcPts val="0"/>
              </a:spcBef>
              <a:spcAft>
                <a:spcPts val="0"/>
              </a:spcAft>
              <a:buClr>
                <a:srgbClr val="0B2545"/>
              </a:buClr>
              <a:buSzPts val="1500"/>
              <a:buFont typeface="Calibri"/>
              <a:buAutoNum type="arabicPeriod"/>
            </a:pPr>
            <a:r>
              <a:rPr lang="en" sz="1500">
                <a:solidFill>
                  <a:srgbClr val="0B2545"/>
                </a:solidFill>
                <a:latin typeface="Calibri"/>
                <a:ea typeface="Calibri"/>
                <a:cs typeface="Calibri"/>
                <a:sym typeface="Calibri"/>
              </a:rPr>
              <a:t>Why retry a transient error with exponential backoff and jitter, instead of retrying immediately?</a:t>
            </a:r>
            <a:endParaRPr sz="1500">
              <a:solidFill>
                <a:srgbClr val="0B2545"/>
              </a:solidFill>
              <a:latin typeface="Calibri"/>
              <a:ea typeface="Calibri"/>
              <a:cs typeface="Calibri"/>
              <a:sym typeface="Calibri"/>
            </a:endParaRPr>
          </a:p>
          <a:p>
            <a:pPr indent="-323850" lvl="0" marL="457200" marR="0" rtl="0" algn="l">
              <a:lnSpc>
                <a:spcPct val="150000"/>
              </a:lnSpc>
              <a:spcBef>
                <a:spcPts val="0"/>
              </a:spcBef>
              <a:spcAft>
                <a:spcPts val="0"/>
              </a:spcAft>
              <a:buClr>
                <a:srgbClr val="0B2545"/>
              </a:buClr>
              <a:buSzPts val="1500"/>
              <a:buFont typeface="Calibri"/>
              <a:buAutoNum type="arabicPeriod"/>
            </a:pPr>
            <a:r>
              <a:rPr lang="en" sz="1500">
                <a:solidFill>
                  <a:srgbClr val="0B2545"/>
                </a:solidFill>
                <a:latin typeface="Calibri"/>
                <a:ea typeface="Calibri"/>
                <a:cs typeface="Calibri"/>
                <a:sym typeface="Calibri"/>
              </a:rPr>
              <a:t>What's a rate limit, and what should your app do when it hits one?</a:t>
            </a:r>
            <a:endParaRPr sz="1500">
              <a:solidFill>
                <a:srgbClr val="0B2545"/>
              </a:solidFill>
              <a:latin typeface="Calibri"/>
              <a:ea typeface="Calibri"/>
              <a:cs typeface="Calibri"/>
              <a:sym typeface="Calibri"/>
            </a:endParaRPr>
          </a:p>
          <a:p>
            <a:pPr indent="-323850" lvl="0" marL="457200" marR="0" rtl="0" algn="l">
              <a:lnSpc>
                <a:spcPct val="150000"/>
              </a:lnSpc>
              <a:spcBef>
                <a:spcPts val="0"/>
              </a:spcBef>
              <a:spcAft>
                <a:spcPts val="0"/>
              </a:spcAft>
              <a:buClr>
                <a:srgbClr val="0B2545"/>
              </a:buClr>
              <a:buSzPts val="1500"/>
              <a:buFont typeface="Calibri"/>
              <a:buAutoNum type="arabicPeriod"/>
            </a:pPr>
            <a:r>
              <a:rPr lang="en" sz="1500">
                <a:solidFill>
                  <a:srgbClr val="0B2545"/>
                </a:solidFill>
                <a:latin typeface="Calibri"/>
                <a:ea typeface="Calibri"/>
                <a:cs typeface="Calibri"/>
                <a:sym typeface="Calibri"/>
              </a:rPr>
              <a:t>Why should you track token usage per request, and why do the field names vary by model?</a:t>
            </a:r>
            <a:endParaRPr sz="1500">
              <a:solidFill>
                <a:srgbClr val="0B2545"/>
              </a:solidFill>
              <a:latin typeface="Calibri"/>
              <a:ea typeface="Calibri"/>
              <a:cs typeface="Calibri"/>
              <a:sym typeface="Calibri"/>
            </a:endParaRPr>
          </a:p>
          <a:p>
            <a:pPr indent="-323850" lvl="0" marL="457200" marR="0" rtl="0" algn="l">
              <a:lnSpc>
                <a:spcPct val="150000"/>
              </a:lnSpc>
              <a:spcBef>
                <a:spcPts val="0"/>
              </a:spcBef>
              <a:spcAft>
                <a:spcPts val="0"/>
              </a:spcAft>
              <a:buClr>
                <a:srgbClr val="0B2545"/>
              </a:buClr>
              <a:buSzPts val="1500"/>
              <a:buFont typeface="Calibri"/>
              <a:buAutoNum type="arabicPeriod"/>
            </a:pPr>
            <a:r>
              <a:rPr lang="en" sz="1500">
                <a:solidFill>
                  <a:srgbClr val="0B2545"/>
                </a:solidFill>
                <a:latin typeface="Calibri"/>
                <a:ea typeface="Calibri"/>
                <a:cs typeface="Calibri"/>
                <a:sym typeface="Calibri"/>
              </a:rPr>
              <a:t>What does streaming change about how the user experiences a response, versus waiting for the full completion?</a:t>
            </a:r>
            <a:endParaRPr sz="1500">
              <a:solidFill>
                <a:srgbClr val="0B2545"/>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68" name="Shape 68"/>
        <p:cNvGrpSpPr/>
        <p:nvPr/>
      </p:nvGrpSpPr>
      <p:grpSpPr>
        <a:xfrm>
          <a:off x="0" y="0"/>
          <a:ext cx="0" cy="0"/>
          <a:chOff x="0" y="0"/>
          <a:chExt cx="0" cy="0"/>
        </a:xfrm>
      </p:grpSpPr>
      <p:sp>
        <p:nvSpPr>
          <p:cNvPr id="69" name="Google Shape;69;p17"/>
          <p:cNvSpPr/>
          <p:nvPr/>
        </p:nvSpPr>
        <p:spPr>
          <a:xfrm>
            <a:off x="480073" y="617220"/>
            <a:ext cx="7544001"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PRACTICAL AI FOR SOFTWARE ENGINEERING</a:t>
            </a:r>
            <a:endParaRPr b="0" i="0" sz="1100" u="none" cap="none" strike="noStrike">
              <a:solidFill>
                <a:schemeClr val="dk1"/>
              </a:solidFill>
              <a:latin typeface="Calibri"/>
              <a:ea typeface="Calibri"/>
              <a:cs typeface="Calibri"/>
              <a:sym typeface="Calibri"/>
            </a:endParaRPr>
          </a:p>
        </p:txBody>
      </p:sp>
      <p:sp>
        <p:nvSpPr>
          <p:cNvPr id="70" name="Google Shape;70;p17"/>
          <p:cNvSpPr/>
          <p:nvPr/>
        </p:nvSpPr>
        <p:spPr>
          <a:xfrm>
            <a:off x="452640" y="925830"/>
            <a:ext cx="8229819" cy="7543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3200"/>
              <a:buFont typeface="Cambria"/>
              <a:buNone/>
            </a:pPr>
            <a:r>
              <a:rPr b="1" i="0" lang="en" sz="3200" u="none" cap="none" strike="noStrike">
                <a:solidFill>
                  <a:srgbClr val="FFFFFF"/>
                </a:solidFill>
                <a:latin typeface="Cambria"/>
                <a:ea typeface="Cambria"/>
                <a:cs typeface="Cambria"/>
                <a:sym typeface="Cambria"/>
              </a:rPr>
              <a:t>Designing AI-Enabled Software</a:t>
            </a:r>
            <a:endParaRPr b="0" i="0" sz="3200" u="none" cap="none" strike="noStrike">
              <a:solidFill>
                <a:schemeClr val="dk1"/>
              </a:solidFill>
              <a:latin typeface="Calibri"/>
              <a:ea typeface="Calibri"/>
              <a:cs typeface="Calibri"/>
              <a:sym typeface="Calibri"/>
            </a:endParaRPr>
          </a:p>
        </p:txBody>
      </p:sp>
      <p:sp>
        <p:nvSpPr>
          <p:cNvPr id="71" name="Google Shape;71;p17"/>
          <p:cNvSpPr/>
          <p:nvPr/>
        </p:nvSpPr>
        <p:spPr>
          <a:xfrm>
            <a:off x="480073" y="1885950"/>
            <a:ext cx="2057455" cy="377190"/>
          </a:xfrm>
          <a:prstGeom prst="roundRect">
            <a:avLst>
              <a:gd fmla="val 9091" name="adj"/>
            </a:avLst>
          </a:prstGeom>
          <a:solidFill>
            <a:srgbClr val="13407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 name="Google Shape;72;p17"/>
          <p:cNvSpPr/>
          <p:nvPr/>
        </p:nvSpPr>
        <p:spPr>
          <a:xfrm>
            <a:off x="480073" y="1885950"/>
            <a:ext cx="2057455"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WEEK 3  ·  SESSION 1</a:t>
            </a:r>
            <a:endParaRPr b="0" i="0" sz="1000" u="none" cap="none" strike="noStrike">
              <a:solidFill>
                <a:schemeClr val="dk1"/>
              </a:solidFill>
              <a:latin typeface="Calibri"/>
              <a:ea typeface="Calibri"/>
              <a:cs typeface="Calibri"/>
              <a:sym typeface="Calibri"/>
            </a:endParaRPr>
          </a:p>
        </p:txBody>
      </p:sp>
      <p:sp>
        <p:nvSpPr>
          <p:cNvPr id="73" name="Google Shape;73;p17"/>
          <p:cNvSpPr/>
          <p:nvPr/>
        </p:nvSpPr>
        <p:spPr>
          <a:xfrm>
            <a:off x="2708982" y="1885950"/>
            <a:ext cx="5486546"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500"/>
              <a:buFont typeface="Cambria"/>
              <a:buNone/>
            </a:pPr>
            <a:r>
              <a:rPr b="0" i="1" lang="en" sz="1500" u="none" cap="none" strike="noStrike">
                <a:solidFill>
                  <a:srgbClr val="8DA9C4"/>
                </a:solidFill>
                <a:latin typeface="Cambria"/>
                <a:ea typeface="Cambria"/>
                <a:cs typeface="Cambria"/>
                <a:sym typeface="Cambria"/>
              </a:rPr>
              <a:t>Lecture + Discussion, 3 hours</a:t>
            </a:r>
            <a:endParaRPr b="0" i="0" sz="1500" u="none" cap="none" strike="noStrike">
              <a:solidFill>
                <a:schemeClr val="dk1"/>
              </a:solidFill>
              <a:latin typeface="Calibri"/>
              <a:ea typeface="Calibri"/>
              <a:cs typeface="Calibri"/>
              <a:sym typeface="Calibri"/>
            </a:endParaRPr>
          </a:p>
        </p:txBody>
      </p:sp>
      <p:sp>
        <p:nvSpPr>
          <p:cNvPr id="74" name="Google Shape;74;p17"/>
          <p:cNvSpPr/>
          <p:nvPr/>
        </p:nvSpPr>
        <p:spPr>
          <a:xfrm>
            <a:off x="493789" y="2503170"/>
            <a:ext cx="788691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6E4F0"/>
              </a:buClr>
              <a:buSzPts val="1200"/>
              <a:buFont typeface="Calibri"/>
              <a:buNone/>
            </a:pPr>
            <a:r>
              <a:rPr b="0" i="0" lang="en" sz="1200" u="none" cap="none" strike="noStrike">
                <a:solidFill>
                  <a:srgbClr val="D6E4F0"/>
                </a:solidFill>
                <a:latin typeface="Calibri"/>
                <a:ea typeface="Calibri"/>
                <a:cs typeface="Calibri"/>
                <a:sym typeface="Calibri"/>
              </a:rPr>
              <a:t>From “I know how an LLM/API works” to “I can design an AI-enabled product.”</a:t>
            </a:r>
            <a:endParaRPr b="0" i="0" sz="1200" u="none" cap="none" strike="noStrike">
              <a:solidFill>
                <a:schemeClr val="dk1"/>
              </a:solidFill>
              <a:latin typeface="Calibri"/>
              <a:ea typeface="Calibri"/>
              <a:cs typeface="Calibri"/>
              <a:sym typeface="Calibri"/>
            </a:endParaRPr>
          </a:p>
        </p:txBody>
      </p:sp>
      <p:sp>
        <p:nvSpPr>
          <p:cNvPr id="75" name="Google Shape;75;p17"/>
          <p:cNvSpPr/>
          <p:nvPr/>
        </p:nvSpPr>
        <p:spPr>
          <a:xfrm>
            <a:off x="493789" y="4354830"/>
            <a:ext cx="7544001"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1000"/>
              <a:buFont typeface="Calibri"/>
              <a:buNone/>
            </a:pPr>
            <a:r>
              <a:rPr b="0" i="0" lang="en" sz="1000" u="none" cap="none" strike="noStrike">
                <a:solidFill>
                  <a:srgbClr val="5C6B7A"/>
                </a:solidFill>
                <a:latin typeface="Calibri"/>
                <a:ea typeface="Calibri"/>
                <a:cs typeface="Calibri"/>
                <a:sym typeface="Calibri"/>
              </a:rPr>
              <a:t>Year 3 Software Engineering  ·  CamTech University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18"/>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WEEK 3 · PURPOSE</a:t>
            </a:r>
            <a:endParaRPr b="0" i="0" sz="800" u="none" cap="none" strike="noStrike">
              <a:solidFill>
                <a:schemeClr val="dk1"/>
              </a:solidFill>
              <a:latin typeface="Calibri"/>
              <a:ea typeface="Calibri"/>
              <a:cs typeface="Calibri"/>
              <a:sym typeface="Calibri"/>
            </a:endParaRPr>
          </a:p>
        </p:txBody>
      </p:sp>
      <p:sp>
        <p:nvSpPr>
          <p:cNvPr id="82" name="Google Shape;82;p18"/>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A Different Question This Week</a:t>
            </a:r>
            <a:endParaRPr b="0" i="0" sz="2000" u="none" cap="none" strike="noStrike">
              <a:solidFill>
                <a:schemeClr val="dk1"/>
              </a:solidFill>
              <a:latin typeface="Calibri"/>
              <a:ea typeface="Calibri"/>
              <a:cs typeface="Calibri"/>
              <a:sym typeface="Calibri"/>
            </a:endParaRPr>
          </a:p>
        </p:txBody>
      </p:sp>
      <p:cxnSp>
        <p:nvCxnSpPr>
          <p:cNvPr id="83" name="Google Shape;83;p18"/>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84" name="Google Shape;84;p18"/>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85" name="Google Shape;85;p18"/>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a:t>
            </a:r>
            <a:endParaRPr b="0" i="0" sz="700" u="none" cap="none" strike="noStrike">
              <a:solidFill>
                <a:schemeClr val="dk1"/>
              </a:solidFill>
              <a:latin typeface="Calibri"/>
              <a:ea typeface="Calibri"/>
              <a:cs typeface="Calibri"/>
              <a:sym typeface="Calibri"/>
            </a:endParaRPr>
          </a:p>
        </p:txBody>
      </p:sp>
      <p:sp>
        <p:nvSpPr>
          <p:cNvPr id="86" name="Google Shape;86;p18"/>
          <p:cNvSpPr/>
          <p:nvPr/>
        </p:nvSpPr>
        <p:spPr>
          <a:xfrm>
            <a:off x="411491" y="1303020"/>
            <a:ext cx="8298401" cy="411480"/>
          </a:xfrm>
          <a:prstGeom prst="rect">
            <a:avLst/>
          </a:prstGeom>
          <a:noFill/>
          <a:ln>
            <a:noFill/>
          </a:ln>
        </p:spPr>
        <p:txBody>
          <a:bodyPr anchorCtr="0" anchor="t" bIns="34275" lIns="68575" spcFirstLastPara="1" rIns="68575" wrap="square" tIns="34275">
            <a:noAutofit/>
          </a:bodyPr>
          <a:lstStyle/>
          <a:p>
            <a:pPr indent="-184150" lvl="0" marL="177800" marR="0" rtl="0" algn="l">
              <a:spcBef>
                <a:spcPts val="0"/>
              </a:spcBef>
              <a:spcAft>
                <a:spcPts val="0"/>
              </a:spcAft>
              <a:buClr>
                <a:srgbClr val="13293D"/>
              </a:buClr>
              <a:buSzPts val="1300"/>
              <a:buFont typeface="Calibri"/>
              <a:buChar char="•"/>
            </a:pPr>
            <a:r>
              <a:rPr b="1" i="0" lang="en" sz="1300" u="none" cap="none" strike="noStrike">
                <a:solidFill>
                  <a:srgbClr val="13293D"/>
                </a:solidFill>
                <a:latin typeface="Calibri"/>
                <a:ea typeface="Calibri"/>
                <a:cs typeface="Calibri"/>
                <a:sym typeface="Calibri"/>
              </a:rPr>
              <a:t>Weeks 1 and 2 taught you how LLMs work and how to call them.</a:t>
            </a:r>
            <a:endParaRPr b="0" i="0" sz="1300" u="none" cap="none" strike="noStrike">
              <a:solidFill>
                <a:schemeClr val="dk1"/>
              </a:solidFill>
              <a:latin typeface="Calibri"/>
              <a:ea typeface="Calibri"/>
              <a:cs typeface="Calibri"/>
              <a:sym typeface="Calibri"/>
            </a:endParaRPr>
          </a:p>
        </p:txBody>
      </p:sp>
      <p:sp>
        <p:nvSpPr>
          <p:cNvPr id="87" name="Google Shape;87;p18"/>
          <p:cNvSpPr/>
          <p:nvPr/>
        </p:nvSpPr>
        <p:spPr>
          <a:xfrm>
            <a:off x="685818" y="1851660"/>
            <a:ext cx="7749747" cy="1028700"/>
          </a:xfrm>
          <a:prstGeom prst="roundRect">
            <a:avLst>
              <a:gd fmla="val 5333"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8"/>
          <p:cNvSpPr/>
          <p:nvPr/>
        </p:nvSpPr>
        <p:spPr>
          <a:xfrm>
            <a:off x="960146" y="1851660"/>
            <a:ext cx="7201092"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600"/>
              <a:buFont typeface="Cambria"/>
              <a:buNone/>
            </a:pPr>
            <a:r>
              <a:rPr b="1" i="1" lang="en" sz="1600" u="none" cap="none" strike="noStrike">
                <a:solidFill>
                  <a:srgbClr val="FFFFFF"/>
                </a:solidFill>
                <a:latin typeface="Cambria"/>
                <a:ea typeface="Cambria"/>
                <a:cs typeface="Cambria"/>
                <a:sym typeface="Cambria"/>
              </a:rPr>
              <a:t>Now that you can use an LLM, what should you actually build with it, and how do you design it well?</a:t>
            </a:r>
            <a:endParaRPr b="0" i="0" sz="1600" u="none" cap="none" strike="noStrike">
              <a:solidFill>
                <a:schemeClr val="dk1"/>
              </a:solidFill>
              <a:latin typeface="Calibri"/>
              <a:ea typeface="Calibri"/>
              <a:cs typeface="Calibri"/>
              <a:sym typeface="Calibri"/>
            </a:endParaRPr>
          </a:p>
        </p:txBody>
      </p:sp>
      <p:sp>
        <p:nvSpPr>
          <p:cNvPr id="89" name="Google Shape;89;p18"/>
          <p:cNvSpPr/>
          <p:nvPr/>
        </p:nvSpPr>
        <p:spPr>
          <a:xfrm>
            <a:off x="411491" y="3086100"/>
            <a:ext cx="8298401" cy="1371600"/>
          </a:xfrm>
          <a:prstGeom prst="rect">
            <a:avLst/>
          </a:prstGeom>
          <a:noFill/>
          <a:ln>
            <a:noFill/>
          </a:ln>
        </p:spPr>
        <p:txBody>
          <a:bodyPr anchorCtr="0" anchor="t" bIns="34275" lIns="68575" spcFirstLastPara="1" rIns="68575" wrap="square" tIns="34275">
            <a:noAutofit/>
          </a:bodyPr>
          <a:lstStyle/>
          <a:p>
            <a:pPr indent="-171450" lvl="0" marL="177800" marR="0" rtl="0" algn="l">
              <a:spcBef>
                <a:spcPts val="0"/>
              </a:spcBef>
              <a:spcAft>
                <a:spcPts val="0"/>
              </a:spcAft>
              <a:buClr>
                <a:srgbClr val="13293D"/>
              </a:buClr>
              <a:buSzPts val="1100"/>
              <a:buFont typeface="Calibri"/>
              <a:buChar char="•"/>
            </a:pPr>
            <a:r>
              <a:rPr b="0" i="0" lang="en" sz="1100" u="none" cap="none" strike="noStrike">
                <a:solidFill>
                  <a:srgbClr val="13293D"/>
                </a:solidFill>
                <a:latin typeface="Calibri"/>
                <a:ea typeface="Calibri"/>
                <a:cs typeface="Calibri"/>
                <a:sym typeface="Calibri"/>
              </a:rPr>
              <a:t>This week deliberately avoids deep implementation of RAG, agents, and embeddings.</a:t>
            </a:r>
            <a:endParaRPr b="0" i="0" sz="1100" u="none" cap="none" strike="noStrike">
              <a:solidFill>
                <a:schemeClr val="dk1"/>
              </a:solidFill>
              <a:latin typeface="Calibri"/>
              <a:ea typeface="Calibri"/>
              <a:cs typeface="Calibri"/>
              <a:sym typeface="Calibri"/>
            </a:endParaRPr>
          </a:p>
          <a:p>
            <a:pPr indent="-171450" lvl="0" marL="177800" marR="0" rtl="0" algn="l">
              <a:spcBef>
                <a:spcPts val="500"/>
              </a:spcBef>
              <a:spcAft>
                <a:spcPts val="0"/>
              </a:spcAft>
              <a:buClr>
                <a:srgbClr val="13293D"/>
              </a:buClr>
              <a:buSzPts val="1100"/>
              <a:buFont typeface="Calibri"/>
              <a:buChar char="•"/>
            </a:pPr>
            <a:r>
              <a:rPr b="0" i="0" lang="en" sz="1100" u="none" cap="none" strike="noStrike">
                <a:solidFill>
                  <a:srgbClr val="13293D"/>
                </a:solidFill>
                <a:latin typeface="Calibri"/>
                <a:ea typeface="Calibri"/>
                <a:cs typeface="Calibri"/>
                <a:sym typeface="Calibri"/>
              </a:rPr>
              <a:t>You'll encounter them as architectural capabilities and design choices, not code yet.</a:t>
            </a:r>
            <a:endParaRPr b="0" i="0" sz="1100" u="none" cap="none" strike="noStrike">
              <a:solidFill>
                <a:schemeClr val="dk1"/>
              </a:solidFill>
              <a:latin typeface="Calibri"/>
              <a:ea typeface="Calibri"/>
              <a:cs typeface="Calibri"/>
              <a:sym typeface="Calibri"/>
            </a:endParaRPr>
          </a:p>
          <a:p>
            <a:pPr indent="-171450" lvl="0" marL="177800" marR="0" rtl="0" algn="l">
              <a:spcBef>
                <a:spcPts val="700"/>
              </a:spcBef>
              <a:spcAft>
                <a:spcPts val="0"/>
              </a:spcAft>
              <a:buClr>
                <a:srgbClr val="13293D"/>
              </a:buClr>
              <a:buSzPts val="1100"/>
              <a:buFont typeface="Calibri"/>
              <a:buChar char="•"/>
            </a:pPr>
            <a:r>
              <a:rPr b="1" i="0" lang="en" sz="1100" u="none" cap="none" strike="noStrike">
                <a:solidFill>
                  <a:srgbClr val="13293D"/>
                </a:solidFill>
                <a:latin typeface="Calibri"/>
                <a:ea typeface="Calibri"/>
                <a:cs typeface="Calibri"/>
                <a:sym typeface="Calibri"/>
              </a:rPr>
              <a:t>Later weeks teach you how to actually build them.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9"/>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WEEK 3 · LEARNING OUTCOMES</a:t>
            </a:r>
            <a:endParaRPr b="0" i="0" sz="800" u="none" cap="none" strike="noStrike">
              <a:solidFill>
                <a:schemeClr val="dk1"/>
              </a:solidFill>
              <a:latin typeface="Calibri"/>
              <a:ea typeface="Calibri"/>
              <a:cs typeface="Calibri"/>
              <a:sym typeface="Calibri"/>
            </a:endParaRPr>
          </a:p>
        </p:txBody>
      </p:sp>
      <p:sp>
        <p:nvSpPr>
          <p:cNvPr id="96" name="Google Shape;96;p19"/>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By the End of Session 1, You Can…</a:t>
            </a:r>
            <a:endParaRPr b="0" i="0" sz="2000" u="none" cap="none" strike="noStrike">
              <a:solidFill>
                <a:schemeClr val="dk1"/>
              </a:solidFill>
              <a:latin typeface="Calibri"/>
              <a:ea typeface="Calibri"/>
              <a:cs typeface="Calibri"/>
              <a:sym typeface="Calibri"/>
            </a:endParaRPr>
          </a:p>
        </p:txBody>
      </p:sp>
      <p:cxnSp>
        <p:nvCxnSpPr>
          <p:cNvPr id="97" name="Google Shape;97;p19"/>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98" name="Google Shape;98;p19"/>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99" name="Google Shape;99;p19"/>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
        <p:nvSpPr>
          <p:cNvPr id="100" name="Google Shape;100;p19"/>
          <p:cNvSpPr/>
          <p:nvPr/>
        </p:nvSpPr>
        <p:spPr>
          <a:xfrm>
            <a:off x="411491" y="1337310"/>
            <a:ext cx="8298401" cy="3360420"/>
          </a:xfrm>
          <a:prstGeom prst="rect">
            <a:avLst/>
          </a:prstGeom>
          <a:noFill/>
          <a:ln>
            <a:noFill/>
          </a:ln>
        </p:spPr>
        <p:txBody>
          <a:bodyPr anchorCtr="0" anchor="t" bIns="34275" lIns="68575" spcFirstLastPara="1" rIns="68575" wrap="square" tIns="34275">
            <a:noAutofit/>
          </a:bodyPr>
          <a:lstStyle/>
          <a:p>
            <a:pPr indent="-177800" lvl="0" marL="177800" marR="0" rtl="0" algn="l">
              <a:spcBef>
                <a:spcPts val="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Analyze a software problem and determine whether AI is appropriate.</a:t>
            </a:r>
            <a:endParaRPr b="0" i="0" sz="12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Differentiate conventional software, AI-assisted features, and AI-centric systems.</a:t>
            </a:r>
            <a:endParaRPr b="0" i="0" sz="12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Identify appropriate AI integration patterns for a software application.</a:t>
            </a:r>
            <a:endParaRPr b="0" i="0" sz="12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Analyze the role of RAG, tools, agents, evaluation, guardrails, and human oversight at a conceptual level.</a:t>
            </a:r>
            <a:endParaRPr b="0" i="0" sz="12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Evaluate an AI product idea using feasibility, value, risk, and engineering criteria.</a:t>
            </a:r>
            <a:endParaRPr b="0" i="0" sz="12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13293D"/>
              </a:buClr>
              <a:buSzPts val="1200"/>
              <a:buFont typeface="Calibri"/>
              <a:buChar char="•"/>
            </a:pPr>
            <a:r>
              <a:rPr b="1" i="0" lang="en" sz="1200" u="none" cap="none" strike="noStrike">
                <a:solidFill>
                  <a:srgbClr val="13293D"/>
                </a:solidFill>
                <a:latin typeface="Calibri"/>
                <a:ea typeface="Calibri"/>
                <a:cs typeface="Calibri"/>
                <a:sym typeface="Calibri"/>
              </a:rPr>
              <a:t>Design an initial concept and architecture for your capstone project.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105" name="Shape 105"/>
        <p:cNvGrpSpPr/>
        <p:nvPr/>
      </p:nvGrpSpPr>
      <p:grpSpPr>
        <a:xfrm>
          <a:off x="0" y="0"/>
          <a:ext cx="0" cy="0"/>
          <a:chOff x="0" y="0"/>
          <a:chExt cx="0" cy="0"/>
        </a:xfrm>
      </p:grpSpPr>
      <p:sp>
        <p:nvSpPr>
          <p:cNvPr id="106" name="Google Shape;106;p20"/>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20"/>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1</a:t>
            </a:r>
            <a:endParaRPr b="0" i="0" sz="4100" u="none" cap="none" strike="noStrike">
              <a:solidFill>
                <a:schemeClr val="dk1"/>
              </a:solidFill>
              <a:latin typeface="Calibri"/>
              <a:ea typeface="Calibri"/>
              <a:cs typeface="Calibri"/>
              <a:sym typeface="Calibri"/>
            </a:endParaRPr>
          </a:p>
        </p:txBody>
      </p:sp>
      <p:sp>
        <p:nvSpPr>
          <p:cNvPr id="108" name="Google Shape;108;p20"/>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1</a:t>
            </a:r>
            <a:endParaRPr b="0" i="0" sz="1100" u="none" cap="none" strike="noStrike">
              <a:solidFill>
                <a:schemeClr val="dk1"/>
              </a:solidFill>
              <a:latin typeface="Calibri"/>
              <a:ea typeface="Calibri"/>
              <a:cs typeface="Calibri"/>
              <a:sym typeface="Calibri"/>
            </a:endParaRPr>
          </a:p>
        </p:txBody>
      </p:sp>
      <p:sp>
        <p:nvSpPr>
          <p:cNvPr id="109" name="Google Shape;109;p20"/>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From AI Demo to AI Product</a:t>
            </a:r>
            <a:endParaRPr b="0" i="0" sz="2400" u="none" cap="none" strike="noStrike">
              <a:solidFill>
                <a:schemeClr val="dk1"/>
              </a:solidFill>
              <a:latin typeface="Calibri"/>
              <a:ea typeface="Calibri"/>
              <a:cs typeface="Calibri"/>
              <a:sym typeface="Calibri"/>
            </a:endParaRPr>
          </a:p>
        </p:txBody>
      </p:sp>
      <p:sp>
        <p:nvSpPr>
          <p:cNvPr id="110" name="Google Shape;110;p20"/>
          <p:cNvSpPr/>
          <p:nvPr/>
        </p:nvSpPr>
        <p:spPr>
          <a:xfrm>
            <a:off x="1748837" y="2571750"/>
            <a:ext cx="6858183"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300"/>
              <a:buFont typeface="Cambria"/>
              <a:buNone/>
            </a:pPr>
            <a:r>
              <a:rPr b="0" i="1" lang="en" sz="1300" u="none" cap="none" strike="noStrike">
                <a:solidFill>
                  <a:srgbClr val="8DA9C4"/>
                </a:solidFill>
                <a:latin typeface="Cambria"/>
                <a:ea typeface="Cambria"/>
                <a:cs typeface="Cambria"/>
                <a:sym typeface="Cambria"/>
              </a:rPr>
              <a:t>What does good AI integration actually look like?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21"/>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1 · WARM-UP</a:t>
            </a:r>
            <a:endParaRPr b="0" i="0" sz="800" u="none" cap="none" strike="noStrike">
              <a:solidFill>
                <a:schemeClr val="dk1"/>
              </a:solidFill>
              <a:latin typeface="Calibri"/>
              <a:ea typeface="Calibri"/>
              <a:cs typeface="Calibri"/>
              <a:sym typeface="Calibri"/>
            </a:endParaRPr>
          </a:p>
        </p:txBody>
      </p:sp>
      <p:sp>
        <p:nvSpPr>
          <p:cNvPr id="117" name="Google Shape;117;p21"/>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You Already Built This</a:t>
            </a:r>
            <a:endParaRPr b="0" i="0" sz="2000" u="none" cap="none" strike="noStrike">
              <a:solidFill>
                <a:schemeClr val="dk1"/>
              </a:solidFill>
              <a:latin typeface="Calibri"/>
              <a:ea typeface="Calibri"/>
              <a:cs typeface="Calibri"/>
              <a:sym typeface="Calibri"/>
            </a:endParaRPr>
          </a:p>
        </p:txBody>
      </p:sp>
      <p:cxnSp>
        <p:nvCxnSpPr>
          <p:cNvPr id="118" name="Google Shape;118;p21"/>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119" name="Google Shape;119;p21"/>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120" name="Google Shape;120;p21"/>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sp>
        <p:nvSpPr>
          <p:cNvPr id="121" name="Google Shape;121;p21"/>
          <p:cNvSpPr/>
          <p:nvPr/>
        </p:nvSpPr>
        <p:spPr>
          <a:xfrm>
            <a:off x="411491" y="1268730"/>
            <a:ext cx="8298401" cy="342900"/>
          </a:xfrm>
          <a:prstGeom prst="rect">
            <a:avLst/>
          </a:prstGeom>
          <a:noFill/>
          <a:ln>
            <a:noFill/>
          </a:ln>
        </p:spPr>
        <p:txBody>
          <a:bodyPr anchorCtr="0" anchor="t" bIns="34275" lIns="68575" spcFirstLastPara="1" rIns="68575" wrap="square" tIns="34275">
            <a:noAutofit/>
          </a:bodyPr>
          <a:lstStyle/>
          <a:p>
            <a:pPr indent="-184150" lvl="0" marL="177800" marR="0" rtl="0" algn="l">
              <a:spcBef>
                <a:spcPts val="0"/>
              </a:spcBef>
              <a:spcAft>
                <a:spcPts val="0"/>
              </a:spcAft>
              <a:buClr>
                <a:srgbClr val="13293D"/>
              </a:buClr>
              <a:buSzPts val="1300"/>
              <a:buFont typeface="Calibri"/>
              <a:buChar char="•"/>
            </a:pPr>
            <a:r>
              <a:rPr b="1" i="0" lang="en" sz="1300" u="none" cap="none" strike="noStrike">
                <a:solidFill>
                  <a:srgbClr val="13293D"/>
                </a:solidFill>
                <a:latin typeface="Calibri"/>
                <a:ea typeface="Calibri"/>
                <a:cs typeface="Calibri"/>
                <a:sym typeface="Calibri"/>
              </a:rPr>
              <a:t>AskBot, from Week 1.</a:t>
            </a:r>
            <a:endParaRPr b="0" i="0" sz="1300" u="none" cap="none" strike="noStrike">
              <a:solidFill>
                <a:schemeClr val="dk1"/>
              </a:solidFill>
              <a:latin typeface="Calibri"/>
              <a:ea typeface="Calibri"/>
              <a:cs typeface="Calibri"/>
              <a:sym typeface="Calibri"/>
            </a:endParaRPr>
          </a:p>
        </p:txBody>
      </p:sp>
      <p:sp>
        <p:nvSpPr>
          <p:cNvPr id="122" name="Google Shape;122;p21"/>
          <p:cNvSpPr/>
          <p:nvPr/>
        </p:nvSpPr>
        <p:spPr>
          <a:xfrm>
            <a:off x="685824" y="1783075"/>
            <a:ext cx="1594500"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23" name="Google Shape;123;p21"/>
          <p:cNvSpPr/>
          <p:nvPr/>
        </p:nvSpPr>
        <p:spPr>
          <a:xfrm>
            <a:off x="685826" y="1783075"/>
            <a:ext cx="1560300"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800" u="none" cap="none" strike="noStrike">
                <a:solidFill>
                  <a:srgbClr val="FFFFFF"/>
                </a:solidFill>
                <a:latin typeface="Calibri"/>
                <a:ea typeface="Calibri"/>
                <a:cs typeface="Calibri"/>
                <a:sym typeface="Calibri"/>
              </a:rPr>
              <a:t>User</a:t>
            </a:r>
            <a:endParaRPr b="0" i="0" sz="1800" u="none" cap="none" strike="noStrike">
              <a:solidFill>
                <a:schemeClr val="dk1"/>
              </a:solidFill>
              <a:latin typeface="Calibri"/>
              <a:ea typeface="Calibri"/>
              <a:cs typeface="Calibri"/>
              <a:sym typeface="Calibri"/>
            </a:endParaRPr>
          </a:p>
        </p:txBody>
      </p:sp>
      <p:sp>
        <p:nvSpPr>
          <p:cNvPr id="124" name="Google Shape;124;p21"/>
          <p:cNvSpPr/>
          <p:nvPr/>
        </p:nvSpPr>
        <p:spPr>
          <a:xfrm>
            <a:off x="2280346" y="178308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25" name="Google Shape;125;p21"/>
          <p:cNvSpPr/>
          <p:nvPr/>
        </p:nvSpPr>
        <p:spPr>
          <a:xfrm>
            <a:off x="2554673" y="178308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26" name="Google Shape;126;p21"/>
          <p:cNvSpPr/>
          <p:nvPr/>
        </p:nvSpPr>
        <p:spPr>
          <a:xfrm>
            <a:off x="2588964" y="178308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800" u="none" cap="none" strike="noStrike">
                <a:solidFill>
                  <a:srgbClr val="FFFFFF"/>
                </a:solidFill>
                <a:latin typeface="Calibri"/>
                <a:ea typeface="Calibri"/>
                <a:cs typeface="Calibri"/>
                <a:sym typeface="Calibri"/>
              </a:rPr>
              <a:t>Application</a:t>
            </a:r>
            <a:endParaRPr b="0" i="0" sz="1800" u="none" cap="none" strike="noStrike">
              <a:solidFill>
                <a:schemeClr val="dk1"/>
              </a:solidFill>
              <a:latin typeface="Calibri"/>
              <a:ea typeface="Calibri"/>
              <a:cs typeface="Calibri"/>
              <a:sym typeface="Calibri"/>
            </a:endParaRPr>
          </a:p>
        </p:txBody>
      </p:sp>
      <p:sp>
        <p:nvSpPr>
          <p:cNvPr id="127" name="Google Shape;127;p21"/>
          <p:cNvSpPr/>
          <p:nvPr/>
        </p:nvSpPr>
        <p:spPr>
          <a:xfrm>
            <a:off x="4423528" y="178308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28" name="Google Shape;128;p21"/>
          <p:cNvSpPr/>
          <p:nvPr/>
        </p:nvSpPr>
        <p:spPr>
          <a:xfrm>
            <a:off x="4697855" y="178308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29" name="Google Shape;129;p21"/>
          <p:cNvSpPr/>
          <p:nvPr/>
        </p:nvSpPr>
        <p:spPr>
          <a:xfrm>
            <a:off x="4732146" y="178308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800" u="none" cap="none" strike="noStrike">
                <a:solidFill>
                  <a:srgbClr val="FFFFFF"/>
                </a:solidFill>
                <a:latin typeface="Calibri"/>
                <a:ea typeface="Calibri"/>
                <a:cs typeface="Calibri"/>
                <a:sym typeface="Calibri"/>
              </a:rPr>
              <a:t>OpenAI API</a:t>
            </a:r>
            <a:endParaRPr b="0" i="0" sz="1800" u="none" cap="none" strike="noStrike">
              <a:solidFill>
                <a:schemeClr val="dk1"/>
              </a:solidFill>
              <a:latin typeface="Calibri"/>
              <a:ea typeface="Calibri"/>
              <a:cs typeface="Calibri"/>
              <a:sym typeface="Calibri"/>
            </a:endParaRPr>
          </a:p>
        </p:txBody>
      </p:sp>
      <p:sp>
        <p:nvSpPr>
          <p:cNvPr id="130" name="Google Shape;130;p21"/>
          <p:cNvSpPr/>
          <p:nvPr/>
        </p:nvSpPr>
        <p:spPr>
          <a:xfrm>
            <a:off x="6566710" y="178308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31" name="Google Shape;131;p21"/>
          <p:cNvSpPr/>
          <p:nvPr/>
        </p:nvSpPr>
        <p:spPr>
          <a:xfrm>
            <a:off x="6841027" y="1783075"/>
            <a:ext cx="1594500"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132" name="Google Shape;132;p21"/>
          <p:cNvSpPr/>
          <p:nvPr/>
        </p:nvSpPr>
        <p:spPr>
          <a:xfrm>
            <a:off x="6870284" y="1783075"/>
            <a:ext cx="1536000"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 sz="1800" u="none" cap="none" strike="noStrike">
                <a:solidFill>
                  <a:srgbClr val="FFFFFF"/>
                </a:solidFill>
                <a:latin typeface="Calibri"/>
                <a:ea typeface="Calibri"/>
                <a:cs typeface="Calibri"/>
                <a:sym typeface="Calibri"/>
              </a:rPr>
              <a:t>Response</a:t>
            </a:r>
            <a:endParaRPr b="0" i="0" sz="1800" u="none" cap="none" strike="noStrike">
              <a:solidFill>
                <a:schemeClr val="dk1"/>
              </a:solidFill>
              <a:latin typeface="Calibri"/>
              <a:ea typeface="Calibri"/>
              <a:cs typeface="Calibri"/>
              <a:sym typeface="Calibri"/>
            </a:endParaRPr>
          </a:p>
        </p:txBody>
      </p:sp>
      <p:sp>
        <p:nvSpPr>
          <p:cNvPr id="133" name="Google Shape;133;p21"/>
          <p:cNvSpPr/>
          <p:nvPr/>
        </p:nvSpPr>
        <p:spPr>
          <a:xfrm>
            <a:off x="685818" y="2708910"/>
            <a:ext cx="7749747" cy="685800"/>
          </a:xfrm>
          <a:prstGeom prst="roundRect">
            <a:avLst>
              <a:gd fmla="val 8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21"/>
          <p:cNvSpPr/>
          <p:nvPr/>
        </p:nvSpPr>
        <p:spPr>
          <a:xfrm>
            <a:off x="960146" y="2708910"/>
            <a:ext cx="7201092"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500"/>
              <a:buFont typeface="Cambria"/>
              <a:buNone/>
            </a:pPr>
            <a:r>
              <a:rPr b="1" i="1" lang="en" sz="1500" u="none" cap="none" strike="noStrike">
                <a:solidFill>
                  <a:srgbClr val="FFFFFF"/>
                </a:solidFill>
                <a:latin typeface="Cambria"/>
                <a:ea typeface="Cambria"/>
                <a:cs typeface="Cambria"/>
                <a:sym typeface="Cambria"/>
              </a:rPr>
              <a:t>“Is AskBot an AI product?”</a:t>
            </a:r>
            <a:endParaRPr b="0" i="0" sz="1500" u="none" cap="none" strike="noStrike">
              <a:solidFill>
                <a:schemeClr val="dk1"/>
              </a:solidFill>
              <a:latin typeface="Calibri"/>
              <a:ea typeface="Calibri"/>
              <a:cs typeface="Calibri"/>
              <a:sym typeface="Calibri"/>
            </a:endParaRPr>
          </a:p>
        </p:txBody>
      </p:sp>
      <p:sp>
        <p:nvSpPr>
          <p:cNvPr id="135" name="Google Shape;135;p21"/>
          <p:cNvSpPr/>
          <p:nvPr/>
        </p:nvSpPr>
        <p:spPr>
          <a:xfrm>
            <a:off x="411491" y="3531870"/>
            <a:ext cx="8298401" cy="274320"/>
          </a:xfrm>
          <a:prstGeom prst="rect">
            <a:avLst/>
          </a:prstGeom>
          <a:noFill/>
          <a:ln>
            <a:noFill/>
          </a:ln>
        </p:spPr>
        <p:txBody>
          <a:bodyPr anchorCtr="0" anchor="t" bIns="34275" lIns="68575" spcFirstLastPara="1" rIns="68575" wrap="square" tIns="34275">
            <a:noAutofit/>
          </a:bodyPr>
          <a:lstStyle/>
          <a:p>
            <a:pPr indent="-171450" lvl="0" marL="177800" marR="0" rtl="0" algn="l">
              <a:spcBef>
                <a:spcPts val="0"/>
              </a:spcBef>
              <a:spcAft>
                <a:spcPts val="0"/>
              </a:spcAft>
              <a:buClr>
                <a:srgbClr val="D9822B"/>
              </a:buClr>
              <a:buSzPts val="1100"/>
              <a:buFont typeface="Calibri"/>
              <a:buChar char="•"/>
            </a:pPr>
            <a:r>
              <a:rPr b="1" i="0" lang="en" sz="1100" u="none" cap="none" strike="noStrike">
                <a:solidFill>
                  <a:srgbClr val="D9822B"/>
                </a:solidFill>
                <a:latin typeface="Calibri"/>
                <a:ea typeface="Calibri"/>
                <a:cs typeface="Calibri"/>
                <a:sym typeface="Calibri"/>
              </a:rPr>
              <a:t>Technically, yes.</a:t>
            </a:r>
            <a:endParaRPr b="0" i="0" sz="1100" u="none" cap="none" strike="noStrike">
              <a:solidFill>
                <a:schemeClr val="dk1"/>
              </a:solidFill>
              <a:latin typeface="Calibri"/>
              <a:ea typeface="Calibri"/>
              <a:cs typeface="Calibri"/>
              <a:sym typeface="Calibri"/>
            </a:endParaRPr>
          </a:p>
        </p:txBody>
      </p:sp>
      <p:sp>
        <p:nvSpPr>
          <p:cNvPr id="136" name="Google Shape;136;p21"/>
          <p:cNvSpPr/>
          <p:nvPr/>
        </p:nvSpPr>
        <p:spPr>
          <a:xfrm>
            <a:off x="685818" y="3840480"/>
            <a:ext cx="7749747" cy="754380"/>
          </a:xfrm>
          <a:prstGeom prst="roundRect">
            <a:avLst>
              <a:gd fmla="val 7273"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21"/>
          <p:cNvSpPr/>
          <p:nvPr/>
        </p:nvSpPr>
        <p:spPr>
          <a:xfrm>
            <a:off x="960146" y="3840480"/>
            <a:ext cx="7201092"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400"/>
              <a:buFont typeface="Cambria"/>
              <a:buNone/>
            </a:pPr>
            <a:r>
              <a:rPr b="1" i="1" lang="en" sz="1400" u="none" cap="none" strike="noStrike">
                <a:solidFill>
                  <a:srgbClr val="FFFFFF"/>
                </a:solidFill>
                <a:latin typeface="Cambria"/>
                <a:ea typeface="Cambria"/>
                <a:cs typeface="Cambria"/>
                <a:sym typeface="Cambria"/>
              </a:rPr>
              <a:t>“Would you deploy AskBot?”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22"/>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1 · FRAMING</a:t>
            </a:r>
            <a:endParaRPr b="0" i="0" sz="800" u="none" cap="none" strike="noStrike">
              <a:solidFill>
                <a:schemeClr val="dk1"/>
              </a:solidFill>
              <a:latin typeface="Calibri"/>
              <a:ea typeface="Calibri"/>
              <a:cs typeface="Calibri"/>
              <a:sym typeface="Calibri"/>
            </a:endParaRPr>
          </a:p>
        </p:txBody>
      </p:sp>
      <p:sp>
        <p:nvSpPr>
          <p:cNvPr id="144" name="Google Shape;144;p22"/>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AI Demo vs. AI-Enabled Software System</a:t>
            </a:r>
            <a:endParaRPr b="0" i="0" sz="2000" u="none" cap="none" strike="noStrike">
              <a:solidFill>
                <a:schemeClr val="dk1"/>
              </a:solidFill>
              <a:latin typeface="Calibri"/>
              <a:ea typeface="Calibri"/>
              <a:cs typeface="Calibri"/>
              <a:sym typeface="Calibri"/>
            </a:endParaRPr>
          </a:p>
        </p:txBody>
      </p:sp>
      <p:cxnSp>
        <p:nvCxnSpPr>
          <p:cNvPr id="145" name="Google Shape;145;p22"/>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146" name="Google Shape;146;p22"/>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147" name="Google Shape;147;p22"/>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sp>
        <p:nvSpPr>
          <p:cNvPr id="148" name="Google Shape;148;p22"/>
          <p:cNvSpPr/>
          <p:nvPr/>
        </p:nvSpPr>
        <p:spPr>
          <a:xfrm>
            <a:off x="411500" y="1063274"/>
            <a:ext cx="4046400" cy="3360000"/>
          </a:xfrm>
          <a:prstGeom prst="roundRect">
            <a:avLst>
              <a:gd fmla="val 1087" name="adj"/>
            </a:avLst>
          </a:prstGeom>
          <a:solidFill>
            <a:srgbClr val="F7F9FB"/>
          </a:solidFill>
          <a:ln cap="flat" cmpd="sng" w="12700">
            <a:solidFill>
              <a:srgbClr val="D3DD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22"/>
          <p:cNvSpPr/>
          <p:nvPr/>
        </p:nvSpPr>
        <p:spPr>
          <a:xfrm>
            <a:off x="4697855" y="1063274"/>
            <a:ext cx="4046400" cy="3360000"/>
          </a:xfrm>
          <a:prstGeom prst="roundRect">
            <a:avLst>
              <a:gd fmla="val 1087" name="adj"/>
            </a:avLst>
          </a:prstGeom>
          <a:solidFill>
            <a:srgbClr val="D6E4F0"/>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22"/>
          <p:cNvSpPr/>
          <p:nvPr/>
        </p:nvSpPr>
        <p:spPr>
          <a:xfrm>
            <a:off x="582946" y="1219200"/>
            <a:ext cx="37035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1300"/>
              <a:buFont typeface="Cambria"/>
              <a:buNone/>
            </a:pPr>
            <a:r>
              <a:rPr b="1" i="0" lang="en" sz="1300" u="none" cap="none" strike="noStrike">
                <a:solidFill>
                  <a:srgbClr val="0B2545"/>
                </a:solidFill>
                <a:latin typeface="Cambria"/>
                <a:ea typeface="Cambria"/>
                <a:cs typeface="Cambria"/>
                <a:sym typeface="Cambria"/>
              </a:rPr>
              <a:t>AI Demo</a:t>
            </a:r>
            <a:endParaRPr b="0" i="0" sz="1300" u="none" cap="none" strike="noStrike">
              <a:solidFill>
                <a:schemeClr val="dk1"/>
              </a:solidFill>
              <a:latin typeface="Calibri"/>
              <a:ea typeface="Calibri"/>
              <a:cs typeface="Calibri"/>
              <a:sym typeface="Calibri"/>
            </a:endParaRPr>
          </a:p>
        </p:txBody>
      </p:sp>
      <p:sp>
        <p:nvSpPr>
          <p:cNvPr id="151" name="Google Shape;151;p22"/>
          <p:cNvSpPr/>
          <p:nvPr/>
        </p:nvSpPr>
        <p:spPr>
          <a:xfrm>
            <a:off x="4869310" y="1219200"/>
            <a:ext cx="37035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1300"/>
              <a:buFont typeface="Cambria"/>
              <a:buNone/>
            </a:pPr>
            <a:r>
              <a:rPr b="1" i="0" lang="en" sz="1300" u="none" cap="none" strike="noStrike">
                <a:solidFill>
                  <a:srgbClr val="0B2545"/>
                </a:solidFill>
                <a:latin typeface="Cambria"/>
                <a:ea typeface="Cambria"/>
                <a:cs typeface="Cambria"/>
                <a:sym typeface="Cambria"/>
              </a:rPr>
              <a:t>AI-Enabled Software System</a:t>
            </a:r>
            <a:endParaRPr b="0" i="0" sz="1300" u="none" cap="none" strike="noStrike">
              <a:solidFill>
                <a:schemeClr val="dk1"/>
              </a:solidFill>
              <a:latin typeface="Calibri"/>
              <a:ea typeface="Calibri"/>
              <a:cs typeface="Calibri"/>
              <a:sym typeface="Calibri"/>
            </a:endParaRPr>
          </a:p>
        </p:txBody>
      </p:sp>
      <p:sp>
        <p:nvSpPr>
          <p:cNvPr id="152" name="Google Shape;152;p22"/>
          <p:cNvSpPr/>
          <p:nvPr/>
        </p:nvSpPr>
        <p:spPr>
          <a:xfrm>
            <a:off x="582946" y="1562100"/>
            <a:ext cx="3703500" cy="2571900"/>
          </a:xfrm>
          <a:prstGeom prst="rect">
            <a:avLst/>
          </a:prstGeom>
          <a:noFill/>
          <a:ln>
            <a:noFill/>
          </a:ln>
        </p:spPr>
        <p:txBody>
          <a:bodyPr anchorCtr="0" anchor="t" bIns="34275" lIns="68575" spcFirstLastPara="1" rIns="68575" wrap="square" tIns="34275">
            <a:noAutofit/>
          </a:bodyPr>
          <a:lstStyle/>
          <a:p>
            <a:pPr indent="-177800" lvl="0" marL="177800" marR="0" rtl="0" algn="l">
              <a:spcBef>
                <a:spcPts val="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Prompt</a:t>
            </a:r>
            <a:endParaRPr b="0" i="0" sz="10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API</a:t>
            </a:r>
            <a:endParaRPr b="0" i="0" sz="100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Response</a:t>
            </a:r>
            <a:endParaRPr b="0" i="0" sz="1000" u="none" cap="none" strike="noStrike">
              <a:solidFill>
                <a:schemeClr val="dk1"/>
              </a:solidFill>
              <a:latin typeface="Calibri"/>
              <a:ea typeface="Calibri"/>
              <a:cs typeface="Calibri"/>
              <a:sym typeface="Calibri"/>
            </a:endParaRPr>
          </a:p>
        </p:txBody>
      </p:sp>
      <p:sp>
        <p:nvSpPr>
          <p:cNvPr id="153" name="Google Shape;153;p22"/>
          <p:cNvSpPr/>
          <p:nvPr/>
        </p:nvSpPr>
        <p:spPr>
          <a:xfrm>
            <a:off x="4869310" y="1562100"/>
            <a:ext cx="3703500" cy="2571900"/>
          </a:xfrm>
          <a:prstGeom prst="rect">
            <a:avLst/>
          </a:prstGeom>
          <a:noFill/>
          <a:ln>
            <a:noFill/>
          </a:ln>
        </p:spPr>
        <p:txBody>
          <a:bodyPr anchorCtr="0" anchor="t" bIns="34275" lIns="68575" spcFirstLastPara="1" rIns="68575" wrap="square" tIns="34275">
            <a:noAutofit/>
          </a:bodyPr>
          <a:lstStyle/>
          <a:p>
            <a:pPr indent="-177800" lvl="0" marL="177800" marR="0" rtl="0" algn="l">
              <a:lnSpc>
                <a:spcPct val="100000"/>
              </a:lnSpc>
              <a:spcBef>
                <a:spcPts val="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Users</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Business requirements</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Application logic</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Data</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AI models</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Context</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Tools</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Permissions</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Evaluation</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Security</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Monitoring</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Deployment</a:t>
            </a:r>
            <a:endParaRPr b="0" i="0" sz="10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13293D"/>
              </a:buClr>
              <a:buSzPts val="1000"/>
              <a:buFont typeface="Calibri"/>
              <a:buChar char="✓"/>
            </a:pPr>
            <a:r>
              <a:rPr b="0" i="0" lang="en" sz="1000" u="none" cap="none" strike="noStrike">
                <a:solidFill>
                  <a:srgbClr val="13293D"/>
                </a:solidFill>
                <a:latin typeface="Calibri"/>
                <a:ea typeface="Calibri"/>
                <a:cs typeface="Calibri"/>
                <a:sym typeface="Calibri"/>
              </a:rPr>
              <a:t>Human oversight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23"/>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1 · DISCUSSION ACTIVITY</a:t>
            </a:r>
            <a:endParaRPr b="0" i="0" sz="800" u="none" cap="none" strike="noStrike">
              <a:solidFill>
                <a:schemeClr val="dk1"/>
              </a:solidFill>
              <a:latin typeface="Calibri"/>
              <a:ea typeface="Calibri"/>
              <a:cs typeface="Calibri"/>
              <a:sym typeface="Calibri"/>
            </a:endParaRPr>
          </a:p>
        </p:txBody>
      </p:sp>
      <p:sp>
        <p:nvSpPr>
          <p:cNvPr id="160" name="Google Shape;160;p23"/>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Where Exactly Is the AI?</a:t>
            </a:r>
            <a:endParaRPr b="0" i="0" sz="2000" u="none" cap="none" strike="noStrike">
              <a:solidFill>
                <a:schemeClr val="dk1"/>
              </a:solidFill>
              <a:latin typeface="Calibri"/>
              <a:ea typeface="Calibri"/>
              <a:cs typeface="Calibri"/>
              <a:sym typeface="Calibri"/>
            </a:endParaRPr>
          </a:p>
        </p:txBody>
      </p:sp>
      <p:cxnSp>
        <p:nvCxnSpPr>
          <p:cNvPr id="161" name="Google Shape;161;p23"/>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162" name="Google Shape;162;p23"/>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163" name="Google Shape;163;p23"/>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sp>
        <p:nvSpPr>
          <p:cNvPr id="164" name="Google Shape;164;p23"/>
          <p:cNvSpPr/>
          <p:nvPr/>
        </p:nvSpPr>
        <p:spPr>
          <a:xfrm>
            <a:off x="411500" y="1268726"/>
            <a:ext cx="8298300" cy="2130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i="0" lang="en" sz="1600" u="none" cap="none" strike="noStrike">
                <a:solidFill>
                  <a:srgbClr val="13293D"/>
                </a:solidFill>
                <a:latin typeface="Calibri"/>
                <a:ea typeface="Calibri"/>
                <a:cs typeface="Calibri"/>
                <a:sym typeface="Calibri"/>
              </a:rPr>
              <a:t>Look at each system below.</a:t>
            </a:r>
            <a:endParaRPr b="0" i="0" sz="1600" u="none" cap="none" strike="noStrike">
              <a:solidFill>
                <a:schemeClr val="dk1"/>
              </a:solidFill>
              <a:latin typeface="Calibri"/>
              <a:ea typeface="Calibri"/>
              <a:cs typeface="Calibri"/>
              <a:sym typeface="Calibri"/>
            </a:endParaRPr>
          </a:p>
          <a:p>
            <a:pPr indent="-215900" lvl="1" marL="400050" marR="0" rtl="0" algn="l">
              <a:lnSpc>
                <a:spcPct val="115000"/>
              </a:lnSpc>
              <a:spcBef>
                <a:spcPts val="800"/>
              </a:spcBef>
              <a:spcAft>
                <a:spcPts val="0"/>
              </a:spcAft>
              <a:buClr>
                <a:srgbClr val="13293D"/>
              </a:buClr>
              <a:buSzPts val="1600"/>
              <a:buFont typeface="Calibri"/>
              <a:buAutoNum type="alphaLcPeriod"/>
            </a:pPr>
            <a:r>
              <a:rPr b="0" i="0" lang="en" sz="1600" u="none" cap="none" strike="noStrike">
                <a:solidFill>
                  <a:srgbClr val="13293D"/>
                </a:solidFill>
                <a:latin typeface="Calibri"/>
                <a:ea typeface="Calibri"/>
                <a:cs typeface="Calibri"/>
                <a:sym typeface="Calibri"/>
              </a:rPr>
              <a:t>ChatGPT wrapper</a:t>
            </a:r>
            <a:endParaRPr b="0" i="0" sz="1600" u="none" cap="none" strike="noStrike">
              <a:solidFill>
                <a:schemeClr val="dk1"/>
              </a:solidFill>
              <a:latin typeface="Calibri"/>
              <a:ea typeface="Calibri"/>
              <a:cs typeface="Calibri"/>
              <a:sym typeface="Calibri"/>
            </a:endParaRPr>
          </a:p>
          <a:p>
            <a:pPr indent="-215900" lvl="1" marL="400050" marR="0" rtl="0" algn="l">
              <a:lnSpc>
                <a:spcPct val="115000"/>
              </a:lnSpc>
              <a:spcBef>
                <a:spcPts val="0"/>
              </a:spcBef>
              <a:spcAft>
                <a:spcPts val="0"/>
              </a:spcAft>
              <a:buClr>
                <a:srgbClr val="13293D"/>
              </a:buClr>
              <a:buSzPts val="1600"/>
              <a:buFont typeface="Calibri"/>
              <a:buAutoNum type="alphaLcPeriod"/>
            </a:pPr>
            <a:r>
              <a:rPr b="0" i="0" lang="en" sz="1600" u="none" cap="none" strike="noStrike">
                <a:solidFill>
                  <a:srgbClr val="13293D"/>
                </a:solidFill>
                <a:latin typeface="Calibri"/>
                <a:ea typeface="Calibri"/>
                <a:cs typeface="Calibri"/>
                <a:sym typeface="Calibri"/>
              </a:rPr>
              <a:t>University policy assistant</a:t>
            </a:r>
            <a:endParaRPr b="0" i="0" sz="1600" u="none" cap="none" strike="noStrike">
              <a:solidFill>
                <a:schemeClr val="dk1"/>
              </a:solidFill>
              <a:latin typeface="Calibri"/>
              <a:ea typeface="Calibri"/>
              <a:cs typeface="Calibri"/>
              <a:sym typeface="Calibri"/>
            </a:endParaRPr>
          </a:p>
          <a:p>
            <a:pPr indent="-215900" lvl="1" marL="400050" marR="0" rtl="0" algn="l">
              <a:lnSpc>
                <a:spcPct val="115000"/>
              </a:lnSpc>
              <a:spcBef>
                <a:spcPts val="0"/>
              </a:spcBef>
              <a:spcAft>
                <a:spcPts val="0"/>
              </a:spcAft>
              <a:buClr>
                <a:srgbClr val="13293D"/>
              </a:buClr>
              <a:buSzPts val="1600"/>
              <a:buFont typeface="Calibri"/>
              <a:buAutoNum type="alphaLcPeriod"/>
            </a:pPr>
            <a:r>
              <a:rPr b="0" i="0" lang="en" sz="1600" u="none" cap="none" strike="noStrike">
                <a:solidFill>
                  <a:srgbClr val="13293D"/>
                </a:solidFill>
                <a:latin typeface="Calibri"/>
                <a:ea typeface="Calibri"/>
                <a:cs typeface="Calibri"/>
                <a:sym typeface="Calibri"/>
              </a:rPr>
              <a:t>AI customer-support system</a:t>
            </a:r>
            <a:endParaRPr b="0" i="0" sz="1600" u="none" cap="none" strike="noStrike">
              <a:solidFill>
                <a:schemeClr val="dk1"/>
              </a:solidFill>
              <a:latin typeface="Calibri"/>
              <a:ea typeface="Calibri"/>
              <a:cs typeface="Calibri"/>
              <a:sym typeface="Calibri"/>
            </a:endParaRPr>
          </a:p>
          <a:p>
            <a:pPr indent="-215900" lvl="1" marL="400050" marR="0" rtl="0" algn="l">
              <a:lnSpc>
                <a:spcPct val="115000"/>
              </a:lnSpc>
              <a:spcBef>
                <a:spcPts val="0"/>
              </a:spcBef>
              <a:spcAft>
                <a:spcPts val="0"/>
              </a:spcAft>
              <a:buClr>
                <a:srgbClr val="13293D"/>
              </a:buClr>
              <a:buSzPts val="1600"/>
              <a:buFont typeface="Calibri"/>
              <a:buAutoNum type="alphaLcPeriod"/>
            </a:pPr>
            <a:r>
              <a:rPr b="0" i="0" lang="en" sz="1600" u="none" cap="none" strike="noStrike">
                <a:solidFill>
                  <a:srgbClr val="13293D"/>
                </a:solidFill>
                <a:latin typeface="Calibri"/>
                <a:ea typeface="Calibri"/>
                <a:cs typeface="Calibri"/>
                <a:sym typeface="Calibri"/>
              </a:rPr>
              <a:t>AI code reviewer</a:t>
            </a:r>
            <a:endParaRPr b="0" i="0" sz="1600" u="none" cap="none" strike="noStrike">
              <a:solidFill>
                <a:schemeClr val="dk1"/>
              </a:solidFill>
              <a:latin typeface="Calibri"/>
              <a:ea typeface="Calibri"/>
              <a:cs typeface="Calibri"/>
              <a:sym typeface="Calibri"/>
            </a:endParaRPr>
          </a:p>
          <a:p>
            <a:pPr indent="-215900" lvl="1" marL="400050" marR="0" rtl="0" algn="l">
              <a:lnSpc>
                <a:spcPct val="115000"/>
              </a:lnSpc>
              <a:spcBef>
                <a:spcPts val="0"/>
              </a:spcBef>
              <a:spcAft>
                <a:spcPts val="0"/>
              </a:spcAft>
              <a:buClr>
                <a:srgbClr val="13293D"/>
              </a:buClr>
              <a:buSzPts val="1600"/>
              <a:buFont typeface="Calibri"/>
              <a:buAutoNum type="alphaLcPeriod"/>
            </a:pPr>
            <a:r>
              <a:rPr b="0" i="0" lang="en" sz="1600" u="none" cap="none" strike="noStrike">
                <a:solidFill>
                  <a:srgbClr val="13293D"/>
                </a:solidFill>
                <a:latin typeface="Calibri"/>
                <a:ea typeface="Calibri"/>
                <a:cs typeface="Calibri"/>
                <a:sym typeface="Calibri"/>
              </a:rPr>
              <a:t>CV screening application</a:t>
            </a:r>
            <a:endParaRPr b="0" i="0" sz="1600" u="none" cap="none" strike="noStrike">
              <a:solidFill>
                <a:schemeClr val="dk1"/>
              </a:solidFill>
              <a:latin typeface="Calibri"/>
              <a:ea typeface="Calibri"/>
              <a:cs typeface="Calibri"/>
              <a:sym typeface="Calibri"/>
            </a:endParaRPr>
          </a:p>
          <a:p>
            <a:pPr indent="-215900" lvl="1" marL="400050" marR="0" rtl="0" algn="l">
              <a:lnSpc>
                <a:spcPct val="115000"/>
              </a:lnSpc>
              <a:spcBef>
                <a:spcPts val="0"/>
              </a:spcBef>
              <a:spcAft>
                <a:spcPts val="0"/>
              </a:spcAft>
              <a:buClr>
                <a:srgbClr val="13293D"/>
              </a:buClr>
              <a:buSzPts val="1600"/>
              <a:buFont typeface="Calibri"/>
              <a:buAutoNum type="alphaLcPeriod"/>
            </a:pPr>
            <a:r>
              <a:rPr b="0" i="0" lang="en" sz="1600" u="none" cap="none" strike="noStrike">
                <a:solidFill>
                  <a:srgbClr val="13293D"/>
                </a:solidFill>
                <a:latin typeface="Calibri"/>
                <a:ea typeface="Calibri"/>
                <a:cs typeface="Calibri"/>
                <a:sym typeface="Calibri"/>
              </a:rPr>
              <a:t>AI travel planner</a:t>
            </a:r>
            <a:endParaRPr b="0" i="0" sz="1600" u="none" cap="none" strike="noStrike">
              <a:solidFill>
                <a:schemeClr val="dk1"/>
              </a:solidFill>
              <a:latin typeface="Calibri"/>
              <a:ea typeface="Calibri"/>
              <a:cs typeface="Calibri"/>
              <a:sym typeface="Calibri"/>
            </a:endParaRPr>
          </a:p>
        </p:txBody>
      </p:sp>
      <p:sp>
        <p:nvSpPr>
          <p:cNvPr id="165" name="Google Shape;165;p23"/>
          <p:cNvSpPr/>
          <p:nvPr/>
        </p:nvSpPr>
        <p:spPr>
          <a:xfrm>
            <a:off x="411491" y="3474720"/>
            <a:ext cx="8298300" cy="480000"/>
          </a:xfrm>
          <a:prstGeom prst="roundRect">
            <a:avLst>
              <a:gd fmla="val 7143"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 name="Google Shape;166;p23"/>
          <p:cNvSpPr/>
          <p:nvPr/>
        </p:nvSpPr>
        <p:spPr>
          <a:xfrm>
            <a:off x="603520" y="3526011"/>
            <a:ext cx="79143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QUESTION 1</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Where exactly is the AI?</a:t>
            </a:r>
            <a:endParaRPr b="0" i="0" sz="1100" u="none" cap="none" strike="noStrike">
              <a:solidFill>
                <a:schemeClr val="dk1"/>
              </a:solidFill>
              <a:latin typeface="Calibri"/>
              <a:ea typeface="Calibri"/>
              <a:cs typeface="Calibri"/>
              <a:sym typeface="Calibri"/>
            </a:endParaRPr>
          </a:p>
        </p:txBody>
      </p:sp>
      <p:sp>
        <p:nvSpPr>
          <p:cNvPr id="167" name="Google Shape;167;p23"/>
          <p:cNvSpPr/>
          <p:nvPr/>
        </p:nvSpPr>
        <p:spPr>
          <a:xfrm>
            <a:off x="411491" y="3989070"/>
            <a:ext cx="8298300" cy="480000"/>
          </a:xfrm>
          <a:prstGeom prst="roundRect">
            <a:avLst>
              <a:gd fmla="val 7143" name="adj"/>
            </a:avLst>
          </a:prstGeom>
          <a:solidFill>
            <a:srgbClr val="D6E4F0"/>
          </a:solidFill>
          <a:ln cap="flat" cmpd="sng" w="15875">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23"/>
          <p:cNvSpPr/>
          <p:nvPr/>
        </p:nvSpPr>
        <p:spPr>
          <a:xfrm>
            <a:off x="603520" y="4040361"/>
            <a:ext cx="79143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34074"/>
              </a:buClr>
              <a:buSzPts val="900"/>
              <a:buFont typeface="Calibri"/>
              <a:buNone/>
            </a:pPr>
            <a:r>
              <a:rPr b="1" i="0" lang="en" sz="1100" u="none" cap="none" strike="noStrike">
                <a:solidFill>
                  <a:srgbClr val="134074"/>
                </a:solidFill>
                <a:latin typeface="Calibri"/>
                <a:ea typeface="Calibri"/>
                <a:cs typeface="Calibri"/>
                <a:sym typeface="Calibri"/>
              </a:rPr>
              <a:t>QUESTION 2 (the important one)</a:t>
            </a:r>
            <a:br>
              <a:rPr b="1" i="0" lang="en" sz="1100" u="none" cap="none" strike="noStrike">
                <a:solidFill>
                  <a:srgbClr val="134074"/>
                </a:solidFill>
                <a:latin typeface="Calibri"/>
                <a:ea typeface="Calibri"/>
                <a:cs typeface="Calibri"/>
                <a:sym typeface="Calibri"/>
              </a:rPr>
            </a:br>
            <a:r>
              <a:rPr b="0" i="0" lang="en" sz="1100" u="none" cap="none" strike="noStrike">
                <a:solidFill>
                  <a:srgbClr val="13293D"/>
                </a:solidFill>
                <a:latin typeface="Calibri"/>
                <a:ea typeface="Calibri"/>
                <a:cs typeface="Calibri"/>
                <a:sym typeface="Calibri"/>
              </a:rPr>
              <a:t>What parts should NOT be 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173" name="Shape 173"/>
        <p:cNvGrpSpPr/>
        <p:nvPr/>
      </p:nvGrpSpPr>
      <p:grpSpPr>
        <a:xfrm>
          <a:off x="0" y="0"/>
          <a:ext cx="0" cy="0"/>
          <a:chOff x="0" y="0"/>
          <a:chExt cx="0" cy="0"/>
        </a:xfrm>
      </p:grpSpPr>
      <p:sp>
        <p:nvSpPr>
          <p:cNvPr id="174" name="Google Shape;174;p24"/>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24"/>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2</a:t>
            </a:r>
            <a:endParaRPr b="0" i="0" sz="4100" u="none" cap="none" strike="noStrike">
              <a:solidFill>
                <a:schemeClr val="dk1"/>
              </a:solidFill>
              <a:latin typeface="Calibri"/>
              <a:ea typeface="Calibri"/>
              <a:cs typeface="Calibri"/>
              <a:sym typeface="Calibri"/>
            </a:endParaRPr>
          </a:p>
        </p:txBody>
      </p:sp>
      <p:sp>
        <p:nvSpPr>
          <p:cNvPr id="176" name="Google Shape;176;p24"/>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2</a:t>
            </a:r>
            <a:endParaRPr b="0" i="0" sz="1100" u="none" cap="none" strike="noStrike">
              <a:solidFill>
                <a:schemeClr val="dk1"/>
              </a:solidFill>
              <a:latin typeface="Calibri"/>
              <a:ea typeface="Calibri"/>
              <a:cs typeface="Calibri"/>
              <a:sym typeface="Calibri"/>
            </a:endParaRPr>
          </a:p>
        </p:txBody>
      </p:sp>
      <p:sp>
        <p:nvSpPr>
          <p:cNvPr id="177" name="Google Shape;177;p24"/>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Should This Problem Even Use AI?</a:t>
            </a:r>
            <a:endParaRPr b="0" i="0" sz="2400" u="none" cap="none" strike="noStrike">
              <a:solidFill>
                <a:schemeClr val="dk1"/>
              </a:solidFill>
              <a:latin typeface="Calibri"/>
              <a:ea typeface="Calibri"/>
              <a:cs typeface="Calibri"/>
              <a:sym typeface="Calibri"/>
            </a:endParaRPr>
          </a:p>
        </p:txBody>
      </p:sp>
      <p:sp>
        <p:nvSpPr>
          <p:cNvPr id="178" name="Google Shape;178;p24"/>
          <p:cNvSpPr/>
          <p:nvPr/>
        </p:nvSpPr>
        <p:spPr>
          <a:xfrm>
            <a:off x="1748837" y="2571750"/>
            <a:ext cx="6858183"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300"/>
              <a:buFont typeface="Cambria"/>
              <a:buNone/>
            </a:pPr>
            <a:r>
              <a:rPr b="0" i="1" lang="en" sz="1300" u="none" cap="none" strike="noStrike">
                <a:solidFill>
                  <a:srgbClr val="8DA9C4"/>
                </a:solidFill>
                <a:latin typeface="Cambria"/>
                <a:ea typeface="Cambria"/>
                <a:cs typeface="Cambria"/>
                <a:sym typeface="Cambria"/>
              </a:rPr>
              <a:t>The AI Fit Framework — four questions before you build anything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25"/>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FRAMEWORK</a:t>
            </a:r>
            <a:endParaRPr b="0" i="0" sz="800" u="none" cap="none" strike="noStrike">
              <a:solidFill>
                <a:schemeClr val="dk1"/>
              </a:solidFill>
              <a:latin typeface="Calibri"/>
              <a:ea typeface="Calibri"/>
              <a:cs typeface="Calibri"/>
              <a:sym typeface="Calibri"/>
            </a:endParaRPr>
          </a:p>
        </p:txBody>
      </p:sp>
      <p:sp>
        <p:nvSpPr>
          <p:cNvPr id="185" name="Google Shape;185;p25"/>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The AI Fit Framework</a:t>
            </a:r>
            <a:endParaRPr b="0" i="0" sz="2000" u="none" cap="none" strike="noStrike">
              <a:solidFill>
                <a:schemeClr val="dk1"/>
              </a:solidFill>
              <a:latin typeface="Calibri"/>
              <a:ea typeface="Calibri"/>
              <a:cs typeface="Calibri"/>
              <a:sym typeface="Calibri"/>
            </a:endParaRPr>
          </a:p>
        </p:txBody>
      </p:sp>
      <p:cxnSp>
        <p:nvCxnSpPr>
          <p:cNvPr id="186" name="Google Shape;186;p25"/>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187" name="Google Shape;187;p25"/>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188" name="Google Shape;188;p25"/>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sp>
        <p:nvSpPr>
          <p:cNvPr id="189" name="Google Shape;189;p25"/>
          <p:cNvSpPr/>
          <p:nvPr/>
        </p:nvSpPr>
        <p:spPr>
          <a:xfrm>
            <a:off x="411491" y="1371600"/>
            <a:ext cx="8298401" cy="33604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i="0" lang="en" sz="1800" u="none" cap="none" strike="noStrike">
                <a:solidFill>
                  <a:srgbClr val="13293D"/>
                </a:solidFill>
                <a:latin typeface="Calibri"/>
                <a:ea typeface="Calibri"/>
                <a:cs typeface="Calibri"/>
                <a:sym typeface="Calibri"/>
              </a:rPr>
              <a:t>Before committing to an AI feature, ask four questions.</a:t>
            </a:r>
            <a:endParaRPr b="0" i="0" sz="1800" u="none" cap="none" strike="noStrike">
              <a:solidFill>
                <a:schemeClr val="dk1"/>
              </a:solidFill>
              <a:latin typeface="Calibri"/>
              <a:ea typeface="Calibri"/>
              <a:cs typeface="Calibri"/>
              <a:sym typeface="Calibri"/>
            </a:endParaRPr>
          </a:p>
          <a:p>
            <a:pPr indent="0" lvl="0" marL="457200" marR="0" rtl="0" algn="l">
              <a:spcBef>
                <a:spcPts val="1100"/>
              </a:spcBef>
              <a:spcAft>
                <a:spcPts val="0"/>
              </a:spcAft>
              <a:buNone/>
            </a:pPr>
            <a:r>
              <a:rPr b="0" i="0" lang="en" sz="1800" u="none" cap="none" strike="noStrike">
                <a:solidFill>
                  <a:srgbClr val="13293D"/>
                </a:solidFill>
                <a:latin typeface="Calibri"/>
                <a:ea typeface="Calibri"/>
                <a:cs typeface="Calibri"/>
                <a:sym typeface="Calibri"/>
              </a:rPr>
              <a:t>1. Does the problem involve uncertainty?</a:t>
            </a:r>
            <a:endParaRPr b="0" i="0" sz="1800" u="none" cap="none" strike="noStrike">
              <a:solidFill>
                <a:schemeClr val="dk1"/>
              </a:solidFill>
              <a:latin typeface="Calibri"/>
              <a:ea typeface="Calibri"/>
              <a:cs typeface="Calibri"/>
              <a:sym typeface="Calibri"/>
            </a:endParaRPr>
          </a:p>
          <a:p>
            <a:pPr indent="0" lvl="0" marL="457200" marR="0" rtl="0" algn="l">
              <a:spcBef>
                <a:spcPts val="700"/>
              </a:spcBef>
              <a:spcAft>
                <a:spcPts val="0"/>
              </a:spcAft>
              <a:buNone/>
            </a:pPr>
            <a:r>
              <a:rPr b="0" i="0" lang="en" sz="1800" u="none" cap="none" strike="noStrike">
                <a:solidFill>
                  <a:srgbClr val="13293D"/>
                </a:solidFill>
                <a:latin typeface="Calibri"/>
                <a:ea typeface="Calibri"/>
                <a:cs typeface="Calibri"/>
                <a:sym typeface="Calibri"/>
              </a:rPr>
              <a:t>2. Would traditional software work better?</a:t>
            </a:r>
            <a:endParaRPr b="0" i="0" sz="1800" u="none" cap="none" strike="noStrike">
              <a:solidFill>
                <a:schemeClr val="dk1"/>
              </a:solidFill>
              <a:latin typeface="Calibri"/>
              <a:ea typeface="Calibri"/>
              <a:cs typeface="Calibri"/>
              <a:sym typeface="Calibri"/>
            </a:endParaRPr>
          </a:p>
          <a:p>
            <a:pPr indent="0" lvl="0" marL="457200" marR="0" rtl="0" algn="l">
              <a:spcBef>
                <a:spcPts val="700"/>
              </a:spcBef>
              <a:spcAft>
                <a:spcPts val="0"/>
              </a:spcAft>
              <a:buNone/>
            </a:pPr>
            <a:r>
              <a:rPr b="0" i="0" lang="en" sz="1800" u="none" cap="none" strike="noStrike">
                <a:solidFill>
                  <a:srgbClr val="13293D"/>
                </a:solidFill>
                <a:latin typeface="Calibri"/>
                <a:ea typeface="Calibri"/>
                <a:cs typeface="Calibri"/>
                <a:sym typeface="Calibri"/>
              </a:rPr>
              <a:t>3. What happens when AI is wrong?</a:t>
            </a:r>
            <a:endParaRPr b="0" i="0" sz="1800" u="none" cap="none" strike="noStrike">
              <a:solidFill>
                <a:schemeClr val="dk1"/>
              </a:solidFill>
              <a:latin typeface="Calibri"/>
              <a:ea typeface="Calibri"/>
              <a:cs typeface="Calibri"/>
              <a:sym typeface="Calibri"/>
            </a:endParaRPr>
          </a:p>
          <a:p>
            <a:pPr indent="0" lvl="0" marL="457200" marR="0" rtl="0" algn="l">
              <a:spcBef>
                <a:spcPts val="700"/>
              </a:spcBef>
              <a:spcAft>
                <a:spcPts val="0"/>
              </a:spcAft>
              <a:buNone/>
            </a:pPr>
            <a:r>
              <a:rPr b="0" i="0" lang="en" sz="1800" u="none" cap="none" strike="noStrike">
                <a:solidFill>
                  <a:srgbClr val="13293D"/>
                </a:solidFill>
                <a:latin typeface="Calibri"/>
                <a:ea typeface="Calibri"/>
                <a:cs typeface="Calibri"/>
                <a:sym typeface="Calibri"/>
              </a:rPr>
              <a:t>4. Can we evaluate whether it works?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6"/>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QUESTION 1</a:t>
            </a:r>
            <a:endParaRPr b="0" i="0" sz="800" u="none" cap="none" strike="noStrike">
              <a:solidFill>
                <a:schemeClr val="dk1"/>
              </a:solidFill>
              <a:latin typeface="Calibri"/>
              <a:ea typeface="Calibri"/>
              <a:cs typeface="Calibri"/>
              <a:sym typeface="Calibri"/>
            </a:endParaRPr>
          </a:p>
        </p:txBody>
      </p:sp>
      <p:sp>
        <p:nvSpPr>
          <p:cNvPr id="196" name="Google Shape;196;p26"/>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Does the Problem Involve Uncertainty?</a:t>
            </a:r>
            <a:endParaRPr b="0" i="0" sz="2000" u="none" cap="none" strike="noStrike">
              <a:solidFill>
                <a:schemeClr val="dk1"/>
              </a:solidFill>
              <a:latin typeface="Calibri"/>
              <a:ea typeface="Calibri"/>
              <a:cs typeface="Calibri"/>
              <a:sym typeface="Calibri"/>
            </a:endParaRPr>
          </a:p>
        </p:txBody>
      </p:sp>
      <p:cxnSp>
        <p:nvCxnSpPr>
          <p:cNvPr id="197" name="Google Shape;197;p26"/>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198" name="Google Shape;198;p26"/>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199" name="Google Shape;199;p26"/>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8</a:t>
            </a:r>
            <a:endParaRPr b="0" i="0" sz="700" u="none" cap="none" strike="noStrike">
              <a:solidFill>
                <a:schemeClr val="dk1"/>
              </a:solidFill>
              <a:latin typeface="Calibri"/>
              <a:ea typeface="Calibri"/>
              <a:cs typeface="Calibri"/>
              <a:sym typeface="Calibri"/>
            </a:endParaRPr>
          </a:p>
        </p:txBody>
      </p:sp>
      <p:sp>
        <p:nvSpPr>
          <p:cNvPr id="200" name="Google Shape;200;p26"/>
          <p:cNvSpPr/>
          <p:nvPr/>
        </p:nvSpPr>
        <p:spPr>
          <a:xfrm>
            <a:off x="411491" y="1303020"/>
            <a:ext cx="8298401" cy="3360420"/>
          </a:xfrm>
          <a:prstGeom prst="rect">
            <a:avLst/>
          </a:prstGeom>
          <a:noFill/>
          <a:ln>
            <a:noFill/>
          </a:ln>
        </p:spPr>
        <p:txBody>
          <a:bodyPr anchorCtr="0" anchor="t" bIns="34275" lIns="68575" spcFirstLastPara="1" rIns="68575" wrap="square" tIns="34275">
            <a:noAutofit/>
          </a:bodyPr>
          <a:lstStyle/>
          <a:p>
            <a:pPr indent="-215900" lvl="0" marL="177800" marR="0" rtl="0" algn="l">
              <a:spcBef>
                <a:spcPts val="0"/>
              </a:spcBef>
              <a:spcAft>
                <a:spcPts val="0"/>
              </a:spcAft>
              <a:buClr>
                <a:srgbClr val="13293D"/>
              </a:buClr>
              <a:buSzPts val="1800"/>
              <a:buFont typeface="Calibri"/>
              <a:buChar char="•"/>
            </a:pPr>
            <a:r>
              <a:rPr b="0" i="0" lang="en" sz="1800" u="none" cap="none" strike="noStrike">
                <a:solidFill>
                  <a:srgbClr val="13293D"/>
                </a:solidFill>
                <a:latin typeface="Calibri"/>
                <a:ea typeface="Calibri"/>
                <a:cs typeface="Calibri"/>
                <a:sym typeface="Calibri"/>
              </a:rPr>
              <a:t>AI earns its place when inputs or outputs aren't easily captured by deterministic rules.</a:t>
            </a:r>
            <a:endParaRPr b="0" i="0" sz="1800" u="none" cap="none" strike="noStrike">
              <a:solidFill>
                <a:schemeClr val="dk1"/>
              </a:solidFill>
              <a:latin typeface="Calibri"/>
              <a:ea typeface="Calibri"/>
              <a:cs typeface="Calibri"/>
              <a:sym typeface="Calibri"/>
            </a:endParaRPr>
          </a:p>
          <a:p>
            <a:pPr indent="-215900" lvl="0" marL="177800" marR="0" rtl="0" algn="l">
              <a:spcBef>
                <a:spcPts val="1100"/>
              </a:spcBef>
              <a:spcAft>
                <a:spcPts val="0"/>
              </a:spcAft>
              <a:buClr>
                <a:srgbClr val="13293D"/>
              </a:buClr>
              <a:buSzPts val="1800"/>
              <a:buFont typeface="Calibri"/>
              <a:buChar char="•"/>
            </a:pPr>
            <a:r>
              <a:rPr b="0" i="0" lang="en" sz="1800" u="none" cap="none" strike="noStrike">
                <a:solidFill>
                  <a:srgbClr val="13293D"/>
                </a:solidFill>
                <a:latin typeface="Calibri"/>
                <a:ea typeface="Calibri"/>
                <a:cs typeface="Calibri"/>
                <a:sym typeface="Calibri"/>
              </a:rPr>
              <a:t>Natural language</a:t>
            </a:r>
            <a:endParaRPr b="0" i="0" sz="1800" u="none" cap="none" strike="noStrike">
              <a:solidFill>
                <a:schemeClr val="dk1"/>
              </a:solidFill>
              <a:latin typeface="Calibri"/>
              <a:ea typeface="Calibri"/>
              <a:cs typeface="Calibri"/>
              <a:sym typeface="Calibri"/>
            </a:endParaRPr>
          </a:p>
          <a:p>
            <a:pPr indent="-215900" lvl="0" marL="177800" marR="0" rtl="0" algn="l">
              <a:spcBef>
                <a:spcPts val="700"/>
              </a:spcBef>
              <a:spcAft>
                <a:spcPts val="0"/>
              </a:spcAft>
              <a:buClr>
                <a:srgbClr val="13293D"/>
              </a:buClr>
              <a:buSzPts val="1800"/>
              <a:buFont typeface="Calibri"/>
              <a:buChar char="•"/>
            </a:pPr>
            <a:r>
              <a:rPr b="0" i="0" lang="en" sz="1800" u="none" cap="none" strike="noStrike">
                <a:solidFill>
                  <a:srgbClr val="13293D"/>
                </a:solidFill>
                <a:latin typeface="Calibri"/>
                <a:ea typeface="Calibri"/>
                <a:cs typeface="Calibri"/>
                <a:sym typeface="Calibri"/>
              </a:rPr>
              <a:t>Images</a:t>
            </a:r>
            <a:endParaRPr b="0" i="0" sz="1800" u="none" cap="none" strike="noStrike">
              <a:solidFill>
                <a:schemeClr val="dk1"/>
              </a:solidFill>
              <a:latin typeface="Calibri"/>
              <a:ea typeface="Calibri"/>
              <a:cs typeface="Calibri"/>
              <a:sym typeface="Calibri"/>
            </a:endParaRPr>
          </a:p>
          <a:p>
            <a:pPr indent="-215900" lvl="0" marL="177800" marR="0" rtl="0" algn="l">
              <a:spcBef>
                <a:spcPts val="700"/>
              </a:spcBef>
              <a:spcAft>
                <a:spcPts val="0"/>
              </a:spcAft>
              <a:buClr>
                <a:srgbClr val="13293D"/>
              </a:buClr>
              <a:buSzPts val="1800"/>
              <a:buFont typeface="Calibri"/>
              <a:buChar char="•"/>
            </a:pPr>
            <a:r>
              <a:rPr b="0" i="0" lang="en" sz="1800" u="none" cap="none" strike="noStrike">
                <a:solidFill>
                  <a:srgbClr val="13293D"/>
                </a:solidFill>
                <a:latin typeface="Calibri"/>
                <a:ea typeface="Calibri"/>
                <a:cs typeface="Calibri"/>
                <a:sym typeface="Calibri"/>
              </a:rPr>
              <a:t>Classification</a:t>
            </a:r>
            <a:endParaRPr b="0" i="0" sz="1800" u="none" cap="none" strike="noStrike">
              <a:solidFill>
                <a:schemeClr val="dk1"/>
              </a:solidFill>
              <a:latin typeface="Calibri"/>
              <a:ea typeface="Calibri"/>
              <a:cs typeface="Calibri"/>
              <a:sym typeface="Calibri"/>
            </a:endParaRPr>
          </a:p>
          <a:p>
            <a:pPr indent="-215900" lvl="0" marL="177800" marR="0" rtl="0" algn="l">
              <a:spcBef>
                <a:spcPts val="700"/>
              </a:spcBef>
              <a:spcAft>
                <a:spcPts val="0"/>
              </a:spcAft>
              <a:buClr>
                <a:srgbClr val="13293D"/>
              </a:buClr>
              <a:buSzPts val="1800"/>
              <a:buFont typeface="Calibri"/>
              <a:buChar char="•"/>
            </a:pPr>
            <a:r>
              <a:rPr b="0" i="0" lang="en" sz="1800" u="none" cap="none" strike="noStrike">
                <a:solidFill>
                  <a:srgbClr val="13293D"/>
                </a:solidFill>
                <a:latin typeface="Calibri"/>
                <a:ea typeface="Calibri"/>
                <a:cs typeface="Calibri"/>
                <a:sym typeface="Calibri"/>
              </a:rPr>
              <a:t>Prediction</a:t>
            </a:r>
            <a:endParaRPr b="0" i="0" sz="1800" u="none" cap="none" strike="noStrike">
              <a:solidFill>
                <a:schemeClr val="dk1"/>
              </a:solidFill>
              <a:latin typeface="Calibri"/>
              <a:ea typeface="Calibri"/>
              <a:cs typeface="Calibri"/>
              <a:sym typeface="Calibri"/>
            </a:endParaRPr>
          </a:p>
          <a:p>
            <a:pPr indent="-215900" lvl="0" marL="177800" marR="0" rtl="0" algn="l">
              <a:spcBef>
                <a:spcPts val="700"/>
              </a:spcBef>
              <a:spcAft>
                <a:spcPts val="0"/>
              </a:spcAft>
              <a:buClr>
                <a:srgbClr val="13293D"/>
              </a:buClr>
              <a:buSzPts val="1800"/>
              <a:buFont typeface="Calibri"/>
              <a:buChar char="•"/>
            </a:pPr>
            <a:r>
              <a:rPr b="0" i="0" lang="en" sz="1800" u="none" cap="none" strike="noStrike">
                <a:solidFill>
                  <a:srgbClr val="13293D"/>
                </a:solidFill>
                <a:latin typeface="Calibri"/>
                <a:ea typeface="Calibri"/>
                <a:cs typeface="Calibri"/>
                <a:sym typeface="Calibri"/>
              </a:rPr>
              <a:t>Generation</a:t>
            </a:r>
            <a:endParaRPr b="0" i="0" sz="1800" u="none" cap="none" strike="noStrike">
              <a:solidFill>
                <a:schemeClr val="dk1"/>
              </a:solidFill>
              <a:latin typeface="Calibri"/>
              <a:ea typeface="Calibri"/>
              <a:cs typeface="Calibri"/>
              <a:sym typeface="Calibri"/>
            </a:endParaRPr>
          </a:p>
          <a:p>
            <a:pPr indent="-215900" lvl="0" marL="177800" marR="0" rtl="0" algn="l">
              <a:spcBef>
                <a:spcPts val="700"/>
              </a:spcBef>
              <a:spcAft>
                <a:spcPts val="0"/>
              </a:spcAft>
              <a:buClr>
                <a:srgbClr val="13293D"/>
              </a:buClr>
              <a:buSzPts val="1800"/>
              <a:buFont typeface="Calibri"/>
              <a:buChar char="•"/>
            </a:pPr>
            <a:r>
              <a:rPr b="0" i="0" lang="en" sz="1800" u="none" cap="none" strike="noStrike">
                <a:solidFill>
                  <a:srgbClr val="13293D"/>
                </a:solidFill>
                <a:latin typeface="Calibri"/>
                <a:ea typeface="Calibri"/>
                <a:cs typeface="Calibri"/>
                <a:sym typeface="Calibri"/>
              </a:rPr>
              <a:t>Semantic understanding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27"/>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QUESTION 2</a:t>
            </a:r>
            <a:endParaRPr b="0" i="0" sz="800" u="none" cap="none" strike="noStrike">
              <a:solidFill>
                <a:schemeClr val="dk1"/>
              </a:solidFill>
              <a:latin typeface="Calibri"/>
              <a:ea typeface="Calibri"/>
              <a:cs typeface="Calibri"/>
              <a:sym typeface="Calibri"/>
            </a:endParaRPr>
          </a:p>
        </p:txBody>
      </p:sp>
      <p:sp>
        <p:nvSpPr>
          <p:cNvPr id="207" name="Google Shape;207;p27"/>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Would Traditional Software Work Better?</a:t>
            </a:r>
            <a:endParaRPr b="0" i="0" sz="2000" u="none" cap="none" strike="noStrike">
              <a:solidFill>
                <a:schemeClr val="dk1"/>
              </a:solidFill>
              <a:latin typeface="Calibri"/>
              <a:ea typeface="Calibri"/>
              <a:cs typeface="Calibri"/>
              <a:sym typeface="Calibri"/>
            </a:endParaRPr>
          </a:p>
        </p:txBody>
      </p:sp>
      <p:cxnSp>
        <p:nvCxnSpPr>
          <p:cNvPr id="208" name="Google Shape;208;p27"/>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209" name="Google Shape;209;p27"/>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210" name="Google Shape;210;p27"/>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9</a:t>
            </a:r>
            <a:endParaRPr b="0" i="0" sz="700" u="none" cap="none" strike="noStrike">
              <a:solidFill>
                <a:schemeClr val="dk1"/>
              </a:solidFill>
              <a:latin typeface="Calibri"/>
              <a:ea typeface="Calibri"/>
              <a:cs typeface="Calibri"/>
              <a:sym typeface="Calibri"/>
            </a:endParaRPr>
          </a:p>
        </p:txBody>
      </p:sp>
      <p:sp>
        <p:nvSpPr>
          <p:cNvPr id="211" name="Google Shape;211;p27"/>
          <p:cNvSpPr/>
          <p:nvPr/>
        </p:nvSpPr>
        <p:spPr>
          <a:xfrm>
            <a:off x="411491" y="1268730"/>
            <a:ext cx="8298401" cy="582930"/>
          </a:xfrm>
          <a:prstGeom prst="roundRect">
            <a:avLst>
              <a:gd fmla="val 5882" name="adj"/>
            </a:avLst>
          </a:prstGeom>
          <a:solidFill>
            <a:srgbClr val="F7F9FB"/>
          </a:solidFill>
          <a:ln cap="flat" cmpd="sng" w="15875">
            <a:solidFill>
              <a:srgbClr val="B33A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7"/>
          <p:cNvSpPr/>
          <p:nvPr/>
        </p:nvSpPr>
        <p:spPr>
          <a:xfrm>
            <a:off x="603520" y="1337310"/>
            <a:ext cx="7914343" cy="44577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B33A3A"/>
              </a:buClr>
              <a:buSzPts val="900"/>
              <a:buFont typeface="Calibri"/>
              <a:buNone/>
            </a:pPr>
            <a:r>
              <a:rPr b="1" i="0" lang="en" sz="1200" u="none" cap="none" strike="noStrike">
                <a:solidFill>
                  <a:srgbClr val="B33A3A"/>
                </a:solidFill>
                <a:latin typeface="Calibri"/>
                <a:ea typeface="Calibri"/>
                <a:cs typeface="Calibri"/>
                <a:sym typeface="Calibri"/>
              </a:rPr>
              <a:t>DON'T ASK AN LLM</a:t>
            </a:r>
            <a:br>
              <a:rPr b="1" i="0" lang="en" sz="1200" u="none" cap="none" strike="noStrike">
                <a:solidFill>
                  <a:srgbClr val="B33A3A"/>
                </a:solidFill>
                <a:latin typeface="Calibri"/>
                <a:ea typeface="Calibri"/>
                <a:cs typeface="Calibri"/>
                <a:sym typeface="Calibri"/>
              </a:rPr>
            </a:br>
            <a:r>
              <a:rPr b="0" i="0" lang="en" sz="1300" u="none" cap="none" strike="noStrike">
                <a:solidFill>
                  <a:srgbClr val="13293D"/>
                </a:solidFill>
                <a:latin typeface="Calibri"/>
                <a:ea typeface="Calibri"/>
                <a:cs typeface="Calibri"/>
                <a:sym typeface="Calibri"/>
              </a:rPr>
              <a:t>Calculate a student's GPA.</a:t>
            </a:r>
            <a:endParaRPr b="0" i="0" sz="1200" u="none" cap="none" strike="noStrike">
              <a:solidFill>
                <a:schemeClr val="dk1"/>
              </a:solidFill>
              <a:latin typeface="Calibri"/>
              <a:ea typeface="Calibri"/>
              <a:cs typeface="Calibri"/>
              <a:sym typeface="Calibri"/>
            </a:endParaRPr>
          </a:p>
        </p:txBody>
      </p:sp>
      <p:sp>
        <p:nvSpPr>
          <p:cNvPr id="213" name="Google Shape;213;p27"/>
          <p:cNvSpPr/>
          <p:nvPr/>
        </p:nvSpPr>
        <p:spPr>
          <a:xfrm>
            <a:off x="411491" y="1954530"/>
            <a:ext cx="8298401" cy="514350"/>
          </a:xfrm>
          <a:prstGeom prst="roundRect">
            <a:avLst>
              <a:gd fmla="val 8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7"/>
          <p:cNvSpPr/>
          <p:nvPr/>
        </p:nvSpPr>
        <p:spPr>
          <a:xfrm>
            <a:off x="582946" y="1954530"/>
            <a:ext cx="7955492" cy="51435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6E4F0"/>
              </a:buClr>
              <a:buSzPts val="1400"/>
              <a:buFont typeface="Consolas"/>
              <a:buNone/>
            </a:pPr>
            <a:r>
              <a:rPr b="0" i="0" lang="en" sz="1400" u="none" cap="none" strike="noStrike">
                <a:solidFill>
                  <a:srgbClr val="D6E4F0"/>
                </a:solidFill>
                <a:latin typeface="Consolas"/>
                <a:ea typeface="Consolas"/>
                <a:cs typeface="Consolas"/>
                <a:sym typeface="Consolas"/>
              </a:rPr>
              <a:t>GPA = Σ(grade × credits) / Σcredits</a:t>
            </a:r>
            <a:endParaRPr b="0" i="0" sz="1400" u="none" cap="none" strike="noStrike">
              <a:solidFill>
                <a:schemeClr val="dk1"/>
              </a:solidFill>
              <a:latin typeface="Calibri"/>
              <a:ea typeface="Calibri"/>
              <a:cs typeface="Calibri"/>
              <a:sym typeface="Calibri"/>
            </a:endParaRPr>
          </a:p>
        </p:txBody>
      </p:sp>
      <p:sp>
        <p:nvSpPr>
          <p:cNvPr id="215" name="Google Shape;215;p27"/>
          <p:cNvSpPr/>
          <p:nvPr/>
        </p:nvSpPr>
        <p:spPr>
          <a:xfrm>
            <a:off x="411491" y="2571755"/>
            <a:ext cx="8298300" cy="754500"/>
          </a:xfrm>
          <a:prstGeom prst="roundRect">
            <a:avLst>
              <a:gd fmla="val 4545" name="adj"/>
            </a:avLst>
          </a:prstGeom>
          <a:solidFill>
            <a:srgbClr val="D6E4F0"/>
          </a:solidFill>
          <a:ln cap="flat" cmpd="sng" w="15875">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7"/>
          <p:cNvSpPr/>
          <p:nvPr/>
        </p:nvSpPr>
        <p:spPr>
          <a:xfrm>
            <a:off x="603520" y="2640335"/>
            <a:ext cx="7914300" cy="617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34074"/>
              </a:buClr>
              <a:buSzPts val="900"/>
              <a:buFont typeface="Calibri"/>
              <a:buNone/>
            </a:pPr>
            <a:r>
              <a:rPr b="1" i="0" lang="en" sz="1200" u="none" cap="none" strike="noStrike">
                <a:solidFill>
                  <a:srgbClr val="134074"/>
                </a:solidFill>
                <a:latin typeface="Calibri"/>
                <a:ea typeface="Calibri"/>
                <a:cs typeface="Calibri"/>
                <a:sym typeface="Calibri"/>
              </a:rPr>
              <a:t>AI COULD HELP HERE</a:t>
            </a:r>
            <a:br>
              <a:rPr b="1" i="0" lang="en" sz="1200" u="none" cap="none" strike="noStrike">
                <a:solidFill>
                  <a:srgbClr val="134074"/>
                </a:solidFill>
                <a:latin typeface="Calibri"/>
                <a:ea typeface="Calibri"/>
                <a:cs typeface="Calibri"/>
                <a:sym typeface="Calibri"/>
              </a:rPr>
            </a:br>
            <a:r>
              <a:rPr b="0" i="0" lang="en" sz="1300" u="none" cap="none" strike="noStrike">
                <a:solidFill>
                  <a:srgbClr val="13293D"/>
                </a:solidFill>
                <a:latin typeface="Calibri"/>
                <a:ea typeface="Calibri"/>
                <a:cs typeface="Calibri"/>
                <a:sym typeface="Calibri"/>
              </a:rPr>
              <a:t>Explain why the student's graduation requirements aren't satisfied. AI can interpret and communicate information a formula can't phrase.</a:t>
            </a:r>
            <a:endParaRPr b="0" i="0" sz="1200" u="none" cap="none" strike="noStrike">
              <a:solidFill>
                <a:schemeClr val="dk1"/>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28"/>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QUESTION 3</a:t>
            </a:r>
            <a:endParaRPr b="0" i="0" sz="800" u="none" cap="none" strike="noStrike">
              <a:solidFill>
                <a:schemeClr val="dk1"/>
              </a:solidFill>
              <a:latin typeface="Calibri"/>
              <a:ea typeface="Calibri"/>
              <a:cs typeface="Calibri"/>
              <a:sym typeface="Calibri"/>
            </a:endParaRPr>
          </a:p>
        </p:txBody>
      </p:sp>
      <p:sp>
        <p:nvSpPr>
          <p:cNvPr id="223" name="Google Shape;223;p28"/>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What Happens When AI Is Wrong?</a:t>
            </a:r>
            <a:endParaRPr b="0" i="0" sz="2000" u="none" cap="none" strike="noStrike">
              <a:solidFill>
                <a:schemeClr val="dk1"/>
              </a:solidFill>
              <a:latin typeface="Calibri"/>
              <a:ea typeface="Calibri"/>
              <a:cs typeface="Calibri"/>
              <a:sym typeface="Calibri"/>
            </a:endParaRPr>
          </a:p>
        </p:txBody>
      </p:sp>
      <p:cxnSp>
        <p:nvCxnSpPr>
          <p:cNvPr id="224" name="Google Shape;224;p28"/>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225" name="Google Shape;225;p28"/>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226" name="Google Shape;226;p28"/>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10</a:t>
            </a:r>
            <a:endParaRPr b="0" i="0" sz="700" u="none" cap="none" strike="noStrike">
              <a:solidFill>
                <a:schemeClr val="dk1"/>
              </a:solidFill>
              <a:latin typeface="Calibri"/>
              <a:ea typeface="Calibri"/>
              <a:cs typeface="Calibri"/>
              <a:sym typeface="Calibri"/>
            </a:endParaRPr>
          </a:p>
        </p:txBody>
      </p:sp>
      <p:sp>
        <p:nvSpPr>
          <p:cNvPr id="227" name="Google Shape;227;p28"/>
          <p:cNvSpPr/>
          <p:nvPr/>
        </p:nvSpPr>
        <p:spPr>
          <a:xfrm>
            <a:off x="411500" y="1268726"/>
            <a:ext cx="4046400" cy="2828700"/>
          </a:xfrm>
          <a:prstGeom prst="roundRect">
            <a:avLst>
              <a:gd fmla="val 1087" name="adj"/>
            </a:avLst>
          </a:prstGeom>
          <a:solidFill>
            <a:srgbClr val="F7F9FB"/>
          </a:solidFill>
          <a:ln cap="flat" cmpd="sng" w="12700">
            <a:solidFill>
              <a:srgbClr val="D3DD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228" name="Google Shape;228;p28"/>
          <p:cNvSpPr/>
          <p:nvPr/>
        </p:nvSpPr>
        <p:spPr>
          <a:xfrm>
            <a:off x="4697855" y="1268726"/>
            <a:ext cx="4046400" cy="2828700"/>
          </a:xfrm>
          <a:prstGeom prst="roundRect">
            <a:avLst>
              <a:gd fmla="val 1087" name="adj"/>
            </a:avLst>
          </a:prstGeom>
          <a:solidFill>
            <a:srgbClr val="D6E4F0"/>
          </a:solidFill>
          <a:ln cap="flat" cmpd="sng" w="12700">
            <a:solidFill>
              <a:srgbClr val="B33A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229" name="Google Shape;229;p28"/>
          <p:cNvSpPr/>
          <p:nvPr/>
        </p:nvSpPr>
        <p:spPr>
          <a:xfrm>
            <a:off x="582946" y="1371600"/>
            <a:ext cx="3703419"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1300"/>
              <a:buFont typeface="Cambria"/>
              <a:buNone/>
            </a:pPr>
            <a:r>
              <a:rPr b="1" i="0" lang="en" sz="1500" u="none" cap="none" strike="noStrike">
                <a:solidFill>
                  <a:srgbClr val="0B2545"/>
                </a:solidFill>
                <a:latin typeface="Cambria"/>
                <a:ea typeface="Cambria"/>
                <a:cs typeface="Cambria"/>
                <a:sym typeface="Cambria"/>
              </a:rPr>
              <a:t>Movie Recommendation, Wrong</a:t>
            </a:r>
            <a:endParaRPr b="0" i="0" sz="1500" u="none" cap="none" strike="noStrike">
              <a:solidFill>
                <a:schemeClr val="dk1"/>
              </a:solidFill>
              <a:latin typeface="Calibri"/>
              <a:ea typeface="Calibri"/>
              <a:cs typeface="Calibri"/>
              <a:sym typeface="Calibri"/>
            </a:endParaRPr>
          </a:p>
        </p:txBody>
      </p:sp>
      <p:sp>
        <p:nvSpPr>
          <p:cNvPr id="230" name="Google Shape;230;p28"/>
          <p:cNvSpPr/>
          <p:nvPr/>
        </p:nvSpPr>
        <p:spPr>
          <a:xfrm>
            <a:off x="4869310" y="1371600"/>
            <a:ext cx="3703419"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1300"/>
              <a:buFont typeface="Cambria"/>
              <a:buNone/>
            </a:pPr>
            <a:r>
              <a:rPr b="1" i="0" lang="en" sz="1500" u="none" cap="none" strike="noStrike">
                <a:solidFill>
                  <a:srgbClr val="0B2545"/>
                </a:solidFill>
                <a:latin typeface="Cambria"/>
                <a:ea typeface="Cambria"/>
                <a:cs typeface="Cambria"/>
                <a:sym typeface="Cambria"/>
              </a:rPr>
              <a:t>Medical Recommendation, Wrong</a:t>
            </a:r>
            <a:endParaRPr b="0" i="0" sz="1500" u="none" cap="none" strike="noStrike">
              <a:solidFill>
                <a:schemeClr val="dk1"/>
              </a:solidFill>
              <a:latin typeface="Calibri"/>
              <a:ea typeface="Calibri"/>
              <a:cs typeface="Calibri"/>
              <a:sym typeface="Calibri"/>
            </a:endParaRPr>
          </a:p>
        </p:txBody>
      </p:sp>
      <p:sp>
        <p:nvSpPr>
          <p:cNvPr id="231" name="Google Shape;231;p28"/>
          <p:cNvSpPr/>
          <p:nvPr/>
        </p:nvSpPr>
        <p:spPr>
          <a:xfrm>
            <a:off x="582950" y="1714500"/>
            <a:ext cx="3703500" cy="2218800"/>
          </a:xfrm>
          <a:prstGeom prst="rect">
            <a:avLst/>
          </a:prstGeom>
          <a:noFill/>
          <a:ln>
            <a:noFill/>
          </a:ln>
        </p:spPr>
        <p:txBody>
          <a:bodyPr anchorCtr="0" anchor="t" bIns="34275" lIns="68575" spcFirstLastPara="1" rIns="68575" wrap="square" tIns="34275">
            <a:noAutofit/>
          </a:bodyPr>
          <a:lstStyle/>
          <a:p>
            <a:pPr indent="-196850" lvl="0" marL="177800" marR="0" rtl="0" algn="l">
              <a:spcBef>
                <a:spcPts val="0"/>
              </a:spcBef>
              <a:spcAft>
                <a:spcPts val="0"/>
              </a:spcAft>
              <a:buClr>
                <a:srgbClr val="13293D"/>
              </a:buClr>
              <a:buSzPts val="1300"/>
              <a:buFont typeface="Calibri"/>
              <a:buChar char="•"/>
            </a:pPr>
            <a:r>
              <a:rPr b="0" i="0" lang="en" sz="1300" u="none" cap="none" strike="noStrike">
                <a:solidFill>
                  <a:srgbClr val="13293D"/>
                </a:solidFill>
                <a:latin typeface="Calibri"/>
                <a:ea typeface="Calibri"/>
                <a:cs typeface="Calibri"/>
                <a:sym typeface="Calibri"/>
              </a:rPr>
              <a:t>Low consequence</a:t>
            </a:r>
            <a:endParaRPr b="0" i="0" sz="1300" u="none" cap="none" strike="noStrike">
              <a:solidFill>
                <a:schemeClr val="dk1"/>
              </a:solidFill>
              <a:latin typeface="Calibri"/>
              <a:ea typeface="Calibri"/>
              <a:cs typeface="Calibri"/>
              <a:sym typeface="Calibri"/>
            </a:endParaRPr>
          </a:p>
          <a:p>
            <a:pPr indent="-196850" lvl="0" marL="177800" marR="0" rtl="0" algn="l">
              <a:spcBef>
                <a:spcPts val="500"/>
              </a:spcBef>
              <a:spcAft>
                <a:spcPts val="0"/>
              </a:spcAft>
              <a:buClr>
                <a:srgbClr val="13293D"/>
              </a:buClr>
              <a:buSzPts val="1300"/>
              <a:buFont typeface="Calibri"/>
              <a:buChar char="•"/>
            </a:pPr>
            <a:r>
              <a:rPr b="0" i="0" lang="en" sz="1300" u="none" cap="none" strike="noStrike">
                <a:solidFill>
                  <a:srgbClr val="13293D"/>
                </a:solidFill>
                <a:latin typeface="Calibri"/>
                <a:ea typeface="Calibri"/>
                <a:cs typeface="Calibri"/>
                <a:sym typeface="Calibri"/>
              </a:rPr>
              <a:t>Annoying at worst</a:t>
            </a:r>
            <a:endParaRPr b="0" i="0" sz="1300" u="none" cap="none" strike="noStrike">
              <a:solidFill>
                <a:schemeClr val="dk1"/>
              </a:solidFill>
              <a:latin typeface="Calibri"/>
              <a:ea typeface="Calibri"/>
              <a:cs typeface="Calibri"/>
              <a:sym typeface="Calibri"/>
            </a:endParaRPr>
          </a:p>
          <a:p>
            <a:pPr indent="-196850" lvl="0" marL="177800" marR="0" rtl="0" algn="l">
              <a:spcBef>
                <a:spcPts val="500"/>
              </a:spcBef>
              <a:spcAft>
                <a:spcPts val="0"/>
              </a:spcAft>
              <a:buClr>
                <a:srgbClr val="13293D"/>
              </a:buClr>
              <a:buSzPts val="1300"/>
              <a:buFont typeface="Calibri"/>
              <a:buChar char="•"/>
            </a:pPr>
            <a:r>
              <a:rPr b="0" i="0" lang="en" sz="1300" u="none" cap="none" strike="noStrike">
                <a:solidFill>
                  <a:srgbClr val="13293D"/>
                </a:solidFill>
                <a:latin typeface="Calibri"/>
                <a:ea typeface="Calibri"/>
                <a:cs typeface="Calibri"/>
                <a:sym typeface="Calibri"/>
              </a:rPr>
              <a:t>Easy to shrug off and try again</a:t>
            </a:r>
            <a:endParaRPr b="0" i="0" sz="1300" u="none" cap="none" strike="noStrike">
              <a:solidFill>
                <a:schemeClr val="dk1"/>
              </a:solidFill>
              <a:latin typeface="Calibri"/>
              <a:ea typeface="Calibri"/>
              <a:cs typeface="Calibri"/>
              <a:sym typeface="Calibri"/>
            </a:endParaRPr>
          </a:p>
        </p:txBody>
      </p:sp>
      <p:sp>
        <p:nvSpPr>
          <p:cNvPr id="232" name="Google Shape;232;p28"/>
          <p:cNvSpPr/>
          <p:nvPr/>
        </p:nvSpPr>
        <p:spPr>
          <a:xfrm>
            <a:off x="4869310" y="1668444"/>
            <a:ext cx="3703500" cy="1989600"/>
          </a:xfrm>
          <a:prstGeom prst="rect">
            <a:avLst/>
          </a:prstGeom>
          <a:noFill/>
          <a:ln>
            <a:noFill/>
          </a:ln>
        </p:spPr>
        <p:txBody>
          <a:bodyPr anchorCtr="0" anchor="t" bIns="34275" lIns="68575" spcFirstLastPara="1" rIns="68575" wrap="square" tIns="34275">
            <a:noAutofit/>
          </a:bodyPr>
          <a:lstStyle/>
          <a:p>
            <a:pPr indent="-196850" lvl="0" marL="177800" marR="0" rtl="0" algn="l">
              <a:spcBef>
                <a:spcPts val="0"/>
              </a:spcBef>
              <a:spcAft>
                <a:spcPts val="0"/>
              </a:spcAft>
              <a:buClr>
                <a:srgbClr val="13293D"/>
              </a:buClr>
              <a:buSzPts val="1300"/>
              <a:buFont typeface="Calibri"/>
              <a:buChar char="•"/>
            </a:pPr>
            <a:r>
              <a:rPr b="0" i="0" lang="en" sz="1300" u="none" cap="none" strike="noStrike">
                <a:solidFill>
                  <a:srgbClr val="13293D"/>
                </a:solidFill>
                <a:latin typeface="Calibri"/>
                <a:ea typeface="Calibri"/>
                <a:cs typeface="Calibri"/>
                <a:sym typeface="Calibri"/>
              </a:rPr>
              <a:t>Potentially severe consequence</a:t>
            </a:r>
            <a:endParaRPr b="0" i="0" sz="1300" u="none" cap="none" strike="noStrike">
              <a:solidFill>
                <a:schemeClr val="dk1"/>
              </a:solidFill>
              <a:latin typeface="Calibri"/>
              <a:ea typeface="Calibri"/>
              <a:cs typeface="Calibri"/>
              <a:sym typeface="Calibri"/>
            </a:endParaRPr>
          </a:p>
          <a:p>
            <a:pPr indent="-196850" lvl="0" marL="177800" marR="0" rtl="0" algn="l">
              <a:spcBef>
                <a:spcPts val="500"/>
              </a:spcBef>
              <a:spcAft>
                <a:spcPts val="0"/>
              </a:spcAft>
              <a:buClr>
                <a:srgbClr val="13293D"/>
              </a:buClr>
              <a:buSzPts val="1300"/>
              <a:buFont typeface="Calibri"/>
              <a:buChar char="•"/>
            </a:pPr>
            <a:r>
              <a:rPr b="0" i="0" lang="en" sz="1300" u="none" cap="none" strike="noStrike">
                <a:solidFill>
                  <a:srgbClr val="13293D"/>
                </a:solidFill>
                <a:latin typeface="Calibri"/>
                <a:ea typeface="Calibri"/>
                <a:cs typeface="Calibri"/>
                <a:sym typeface="Calibri"/>
              </a:rPr>
              <a:t>Real harm to a real person</a:t>
            </a:r>
            <a:endParaRPr b="0" i="0" sz="1300" u="none" cap="none" strike="noStrike">
              <a:solidFill>
                <a:schemeClr val="dk1"/>
              </a:solidFill>
              <a:latin typeface="Calibri"/>
              <a:ea typeface="Calibri"/>
              <a:cs typeface="Calibri"/>
              <a:sym typeface="Calibri"/>
            </a:endParaRPr>
          </a:p>
          <a:p>
            <a:pPr indent="-196850" lvl="0" marL="177800" marR="0" rtl="0" algn="l">
              <a:spcBef>
                <a:spcPts val="500"/>
              </a:spcBef>
              <a:spcAft>
                <a:spcPts val="0"/>
              </a:spcAft>
              <a:buClr>
                <a:srgbClr val="13293D"/>
              </a:buClr>
              <a:buSzPts val="1300"/>
              <a:buFont typeface="Calibri"/>
              <a:buChar char="•"/>
            </a:pPr>
            <a:r>
              <a:rPr b="0" i="0" lang="en" sz="1300" u="none" cap="none" strike="noStrike">
                <a:solidFill>
                  <a:srgbClr val="13293D"/>
                </a:solidFill>
                <a:latin typeface="Calibri"/>
                <a:ea typeface="Calibri"/>
                <a:cs typeface="Calibri"/>
                <a:sym typeface="Calibri"/>
              </a:rPr>
              <a:t>Demands stronger safeguards</a:t>
            </a:r>
            <a:endParaRPr b="0" i="0" sz="1300" u="none" cap="none" strike="noStrike">
              <a:solidFill>
                <a:schemeClr val="dk1"/>
              </a:solidFill>
              <a:latin typeface="Calibri"/>
              <a:ea typeface="Calibri"/>
              <a:cs typeface="Calibri"/>
              <a:sym typeface="Calibri"/>
            </a:endParaRPr>
          </a:p>
        </p:txBody>
      </p:sp>
      <p:sp>
        <p:nvSpPr>
          <p:cNvPr id="233" name="Google Shape;233;p28"/>
          <p:cNvSpPr/>
          <p:nvPr/>
        </p:nvSpPr>
        <p:spPr>
          <a:xfrm>
            <a:off x="411500" y="4217675"/>
            <a:ext cx="8332800" cy="514500"/>
          </a:xfrm>
          <a:prstGeom prst="roundRect">
            <a:avLst>
              <a:gd fmla="val 6667"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234" name="Google Shape;234;p28"/>
          <p:cNvSpPr/>
          <p:nvPr/>
        </p:nvSpPr>
        <p:spPr>
          <a:xfrm>
            <a:off x="603525" y="4286250"/>
            <a:ext cx="8127000" cy="377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KEY IDEA</a:t>
            </a:r>
            <a:br>
              <a:rPr b="1" i="0" lang="en" sz="1100" u="none" cap="none" strike="noStrike">
                <a:solidFill>
                  <a:srgbClr val="D9822B"/>
                </a:solidFill>
                <a:latin typeface="Calibri"/>
                <a:ea typeface="Calibri"/>
                <a:cs typeface="Calibri"/>
                <a:sym typeface="Calibri"/>
              </a:rPr>
            </a:br>
            <a:r>
              <a:rPr b="0" i="0" lang="en" sz="1100" u="none" cap="none" strike="noStrike">
                <a:solidFill>
                  <a:srgbClr val="13293D"/>
                </a:solidFill>
                <a:latin typeface="Calibri"/>
                <a:ea typeface="Calibri"/>
                <a:cs typeface="Calibri"/>
                <a:sym typeface="Calibri"/>
              </a:rPr>
              <a:t>Risk determines architecture. The more severe a wrong answer is, the more guardrails, evaluation, and human oversight the system needs.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29"/>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QUESTION 4</a:t>
            </a:r>
            <a:endParaRPr b="0" i="0" sz="800" u="none" cap="none" strike="noStrike">
              <a:solidFill>
                <a:schemeClr val="dk1"/>
              </a:solidFill>
              <a:latin typeface="Calibri"/>
              <a:ea typeface="Calibri"/>
              <a:cs typeface="Calibri"/>
              <a:sym typeface="Calibri"/>
            </a:endParaRPr>
          </a:p>
        </p:txBody>
      </p:sp>
      <p:sp>
        <p:nvSpPr>
          <p:cNvPr id="241" name="Google Shape;241;p29"/>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Can We Evaluate Whether It Works?</a:t>
            </a:r>
            <a:endParaRPr b="0" i="0" sz="2000" u="none" cap="none" strike="noStrike">
              <a:solidFill>
                <a:schemeClr val="dk1"/>
              </a:solidFill>
              <a:latin typeface="Calibri"/>
              <a:ea typeface="Calibri"/>
              <a:cs typeface="Calibri"/>
              <a:sym typeface="Calibri"/>
            </a:endParaRPr>
          </a:p>
        </p:txBody>
      </p:sp>
      <p:cxnSp>
        <p:nvCxnSpPr>
          <p:cNvPr id="242" name="Google Shape;242;p29"/>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243" name="Google Shape;243;p29"/>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244" name="Google Shape;244;p29"/>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11</a:t>
            </a:r>
            <a:endParaRPr b="0" i="0" sz="700" u="none" cap="none" strike="noStrike">
              <a:solidFill>
                <a:schemeClr val="dk1"/>
              </a:solidFill>
              <a:latin typeface="Calibri"/>
              <a:ea typeface="Calibri"/>
              <a:cs typeface="Calibri"/>
              <a:sym typeface="Calibri"/>
            </a:endParaRPr>
          </a:p>
        </p:txBody>
      </p:sp>
      <p:sp>
        <p:nvSpPr>
          <p:cNvPr id="245" name="Google Shape;245;p29"/>
          <p:cNvSpPr/>
          <p:nvPr/>
        </p:nvSpPr>
        <p:spPr>
          <a:xfrm>
            <a:off x="685818" y="1577340"/>
            <a:ext cx="7749747" cy="891540"/>
          </a:xfrm>
          <a:prstGeom prst="roundRect">
            <a:avLst>
              <a:gd fmla="val 615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6" name="Google Shape;246;p29"/>
          <p:cNvSpPr/>
          <p:nvPr/>
        </p:nvSpPr>
        <p:spPr>
          <a:xfrm>
            <a:off x="960146" y="1577340"/>
            <a:ext cx="7201092" cy="8915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mbria"/>
              <a:buNone/>
            </a:pPr>
            <a:r>
              <a:rPr b="1" i="1" lang="en" sz="1700" u="none" cap="none" strike="noStrike">
                <a:solidFill>
                  <a:srgbClr val="FFFFFF"/>
                </a:solidFill>
                <a:latin typeface="Cambria"/>
                <a:ea typeface="Cambria"/>
                <a:cs typeface="Cambria"/>
                <a:sym typeface="Cambria"/>
              </a:rPr>
              <a:t>“How will you know your AI is good?”</a:t>
            </a:r>
            <a:endParaRPr b="0" i="0" sz="1700" u="none" cap="none" strike="noStrike">
              <a:solidFill>
                <a:schemeClr val="dk1"/>
              </a:solidFill>
              <a:latin typeface="Calibri"/>
              <a:ea typeface="Calibri"/>
              <a:cs typeface="Calibri"/>
              <a:sym typeface="Calibri"/>
            </a:endParaRPr>
          </a:p>
        </p:txBody>
      </p:sp>
      <p:sp>
        <p:nvSpPr>
          <p:cNvPr id="247" name="Google Shape;247;p29"/>
          <p:cNvSpPr/>
          <p:nvPr/>
        </p:nvSpPr>
        <p:spPr>
          <a:xfrm>
            <a:off x="685825" y="2743200"/>
            <a:ext cx="7749900" cy="685800"/>
          </a:xfrm>
          <a:prstGeom prst="roundRect">
            <a:avLst>
              <a:gd fmla="val 500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29"/>
          <p:cNvSpPr/>
          <p:nvPr/>
        </p:nvSpPr>
        <p:spPr>
          <a:xfrm>
            <a:off x="887350" y="2811775"/>
            <a:ext cx="7362600" cy="548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IF YOU CAN'T ANSWER THAT</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Your capstone idea isn't ready yet. Evaluation isn't an afterthought for Week 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253" name="Shape 253"/>
        <p:cNvGrpSpPr/>
        <p:nvPr/>
      </p:nvGrpSpPr>
      <p:grpSpPr>
        <a:xfrm>
          <a:off x="0" y="0"/>
          <a:ext cx="0" cy="0"/>
          <a:chOff x="0" y="0"/>
          <a:chExt cx="0" cy="0"/>
        </a:xfrm>
      </p:grpSpPr>
      <p:sp>
        <p:nvSpPr>
          <p:cNvPr id="254" name="Google Shape;254;p30"/>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30"/>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3</a:t>
            </a:r>
            <a:endParaRPr b="0" i="0" sz="4100" u="none" cap="none" strike="noStrike">
              <a:solidFill>
                <a:schemeClr val="dk1"/>
              </a:solidFill>
              <a:latin typeface="Calibri"/>
              <a:ea typeface="Calibri"/>
              <a:cs typeface="Calibri"/>
              <a:sym typeface="Calibri"/>
            </a:endParaRPr>
          </a:p>
        </p:txBody>
      </p:sp>
      <p:sp>
        <p:nvSpPr>
          <p:cNvPr id="256" name="Google Shape;256;p30"/>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3</a:t>
            </a:r>
            <a:endParaRPr b="0" i="0" sz="1100" u="none" cap="none" strike="noStrike">
              <a:solidFill>
                <a:schemeClr val="dk1"/>
              </a:solidFill>
              <a:latin typeface="Calibri"/>
              <a:ea typeface="Calibri"/>
              <a:cs typeface="Calibri"/>
              <a:sym typeface="Calibri"/>
            </a:endParaRPr>
          </a:p>
        </p:txBody>
      </p:sp>
      <p:sp>
        <p:nvSpPr>
          <p:cNvPr id="257" name="Google Shape;257;p30"/>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Patterns for Integrating AI into Software</a:t>
            </a:r>
            <a:endParaRPr b="0" i="0" sz="2400" u="none" cap="none" strike="noStrike">
              <a:solidFill>
                <a:schemeClr val="dk1"/>
              </a:solidFill>
              <a:latin typeface="Calibri"/>
              <a:ea typeface="Calibri"/>
              <a:cs typeface="Calibri"/>
              <a:sym typeface="Calibri"/>
            </a:endParaRPr>
          </a:p>
        </p:txBody>
      </p:sp>
      <p:sp>
        <p:nvSpPr>
          <p:cNvPr id="258" name="Google Shape;258;p30"/>
          <p:cNvSpPr/>
          <p:nvPr/>
        </p:nvSpPr>
        <p:spPr>
          <a:xfrm>
            <a:off x="1748837" y="2571750"/>
            <a:ext cx="6858183"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300"/>
              <a:buFont typeface="Cambria"/>
              <a:buNone/>
            </a:pPr>
            <a:r>
              <a:rPr i="1" lang="en" sz="1300">
                <a:solidFill>
                  <a:srgbClr val="8DA9C4"/>
                </a:solidFill>
                <a:latin typeface="Cambria"/>
                <a:ea typeface="Cambria"/>
                <a:cs typeface="Cambria"/>
                <a:sym typeface="Cambria"/>
              </a:rPr>
              <a:t>Focus on </a:t>
            </a:r>
            <a:r>
              <a:rPr b="0" i="1" lang="en" sz="1300" u="none" cap="none" strike="noStrike">
                <a:solidFill>
                  <a:srgbClr val="8DA9C4"/>
                </a:solidFill>
                <a:latin typeface="Cambria"/>
                <a:ea typeface="Cambria"/>
                <a:cs typeface="Cambria"/>
                <a:sym typeface="Cambria"/>
              </a:rPr>
              <a:t>patterns, not technologies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31"/>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3 · SIX PATTERNS</a:t>
            </a:r>
            <a:endParaRPr b="0" i="0" sz="800" u="none" cap="none" strike="noStrike">
              <a:solidFill>
                <a:schemeClr val="dk1"/>
              </a:solidFill>
              <a:latin typeface="Calibri"/>
              <a:ea typeface="Calibri"/>
              <a:cs typeface="Calibri"/>
              <a:sym typeface="Calibri"/>
            </a:endParaRPr>
          </a:p>
        </p:txBody>
      </p:sp>
      <p:sp>
        <p:nvSpPr>
          <p:cNvPr id="265" name="Google Shape;265;p31"/>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From Simplest to Most Autonomous</a:t>
            </a:r>
            <a:endParaRPr b="0" i="0" sz="2000" u="none" cap="none" strike="noStrike">
              <a:solidFill>
                <a:schemeClr val="dk1"/>
              </a:solidFill>
              <a:latin typeface="Calibri"/>
              <a:ea typeface="Calibri"/>
              <a:cs typeface="Calibri"/>
              <a:sym typeface="Calibri"/>
            </a:endParaRPr>
          </a:p>
        </p:txBody>
      </p:sp>
      <p:cxnSp>
        <p:nvCxnSpPr>
          <p:cNvPr id="266" name="Google Shape;266;p31"/>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267" name="Google Shape;267;p31"/>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268" name="Google Shape;268;p31"/>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12</a:t>
            </a:r>
            <a:endParaRPr b="0" i="0" sz="700" u="none" cap="none" strike="noStrike">
              <a:solidFill>
                <a:schemeClr val="dk1"/>
              </a:solidFill>
              <a:latin typeface="Calibri"/>
              <a:ea typeface="Calibri"/>
              <a:cs typeface="Calibri"/>
              <a:sym typeface="Calibri"/>
            </a:endParaRPr>
          </a:p>
        </p:txBody>
      </p:sp>
      <p:graphicFrame>
        <p:nvGraphicFramePr>
          <p:cNvPr id="269" name="Google Shape;269;p31"/>
          <p:cNvGraphicFramePr/>
          <p:nvPr/>
        </p:nvGraphicFramePr>
        <p:xfrm>
          <a:off x="411491" y="1303020"/>
          <a:ext cx="3000000" cy="3000000"/>
        </p:xfrm>
        <a:graphic>
          <a:graphicData uri="http://schemas.openxmlformats.org/drawingml/2006/table">
            <a:tbl>
              <a:tblPr>
                <a:noFill/>
                <a:tableStyleId>{A7E7F7E0-614D-4D13-9398-B1847FD5B946}</a:tableStyleId>
              </a:tblPr>
              <a:tblGrid>
                <a:gridCol w="617225"/>
                <a:gridCol w="7681150"/>
              </a:tblGrid>
              <a:tr h="425175">
                <a:tc>
                  <a:txBody>
                    <a:bodyPr/>
                    <a:lstStyle/>
                    <a:p>
                      <a:pPr indent="0" lvl="0" marL="0" marR="0" rtl="0" algn="l">
                        <a:spcBef>
                          <a:spcPts val="0"/>
                        </a:spcBef>
                        <a:spcAft>
                          <a:spcPts val="0"/>
                        </a:spcAft>
                        <a:buClr>
                          <a:srgbClr val="FFFFFF"/>
                        </a:buClr>
                        <a:buSzPts val="1100"/>
                        <a:buFont typeface="Calibri"/>
                        <a:buNone/>
                      </a:pPr>
                      <a:r>
                        <a:rPr b="1" lang="en" sz="1800" u="none" cap="none" strike="noStrike">
                          <a:solidFill>
                            <a:srgbClr val="FFFFFF"/>
                          </a:solidFill>
                          <a:latin typeface="Calibri"/>
                          <a:ea typeface="Calibri"/>
                          <a:cs typeface="Calibri"/>
                          <a:sym typeface="Calibri"/>
                        </a:rPr>
                        <a:t>#</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100"/>
                        <a:buFont typeface="Calibri"/>
                        <a:buNone/>
                      </a:pPr>
                      <a:r>
                        <a:rPr b="1" lang="en" sz="1800" u="none" cap="none" strike="noStrike">
                          <a:solidFill>
                            <a:srgbClr val="FFFFFF"/>
                          </a:solidFill>
                          <a:latin typeface="Calibri"/>
                          <a:ea typeface="Calibri"/>
                          <a:cs typeface="Calibri"/>
                          <a:sym typeface="Calibri"/>
                        </a:rPr>
                        <a:t>Pattern</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0B2545"/>
                    </a:solidFill>
                  </a:tcPr>
                </a:tc>
              </a:tr>
              <a:tr h="425175">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1</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AI as a Feature</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2</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AI + Application Context</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3</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AI + Knowledge (RAG)</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4</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AI + Tools</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5</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AI Workflow</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6</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100"/>
                        <a:buFont typeface="Calibri"/>
                        <a:buNone/>
                      </a:pPr>
                      <a:r>
                        <a:rPr lang="en" sz="1800" u="none" cap="none" strike="noStrike">
                          <a:solidFill>
                            <a:srgbClr val="13293D"/>
                          </a:solidFill>
                          <a:latin typeface="Calibri"/>
                          <a:ea typeface="Calibri"/>
                          <a:cs typeface="Calibri"/>
                          <a:sym typeface="Calibri"/>
                        </a:rPr>
                        <a:t>Agentic System</a:t>
                      </a:r>
                      <a:endParaRPr sz="18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32"/>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PATTERN 1 · AI AS A FEATURE</a:t>
            </a:r>
            <a:endParaRPr b="0" i="0" sz="800" u="none" cap="none" strike="noStrike">
              <a:solidFill>
                <a:schemeClr val="dk1"/>
              </a:solidFill>
              <a:latin typeface="Calibri"/>
              <a:ea typeface="Calibri"/>
              <a:cs typeface="Calibri"/>
              <a:sym typeface="Calibri"/>
            </a:endParaRPr>
          </a:p>
        </p:txBody>
      </p:sp>
      <p:sp>
        <p:nvSpPr>
          <p:cNvPr id="276" name="Google Shape;276;p32"/>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Existing App + One AI Capability</a:t>
            </a:r>
            <a:endParaRPr b="0" i="0" sz="2000" u="none" cap="none" strike="noStrike">
              <a:solidFill>
                <a:schemeClr val="dk1"/>
              </a:solidFill>
              <a:latin typeface="Calibri"/>
              <a:ea typeface="Calibri"/>
              <a:cs typeface="Calibri"/>
              <a:sym typeface="Calibri"/>
            </a:endParaRPr>
          </a:p>
        </p:txBody>
      </p:sp>
      <p:cxnSp>
        <p:nvCxnSpPr>
          <p:cNvPr id="277" name="Google Shape;277;p32"/>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278" name="Google Shape;278;p32"/>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279" name="Google Shape;279;p32"/>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13</a:t>
            </a:r>
            <a:endParaRPr b="0" i="0" sz="700" u="none" cap="none" strike="noStrike">
              <a:solidFill>
                <a:schemeClr val="dk1"/>
              </a:solidFill>
              <a:latin typeface="Calibri"/>
              <a:ea typeface="Calibri"/>
              <a:cs typeface="Calibri"/>
              <a:sym typeface="Calibri"/>
            </a:endParaRPr>
          </a:p>
        </p:txBody>
      </p:sp>
      <p:sp>
        <p:nvSpPr>
          <p:cNvPr id="280" name="Google Shape;280;p32"/>
          <p:cNvSpPr/>
          <p:nvPr/>
        </p:nvSpPr>
        <p:spPr>
          <a:xfrm>
            <a:off x="411491" y="1268730"/>
            <a:ext cx="8298401" cy="411480"/>
          </a:xfrm>
          <a:prstGeom prst="rect">
            <a:avLst/>
          </a:prstGeom>
          <a:noFill/>
          <a:ln>
            <a:noFill/>
          </a:ln>
        </p:spPr>
        <p:txBody>
          <a:bodyPr anchorCtr="0" anchor="t" bIns="34275" lIns="68575" spcFirstLastPara="1" rIns="68575" wrap="square" tIns="34275">
            <a:noAutofit/>
          </a:bodyPr>
          <a:lstStyle/>
          <a:p>
            <a:pPr indent="-177800" lvl="0" marL="177800" marR="0" rtl="0" algn="l">
              <a:spcBef>
                <a:spcPts val="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Example: existing learning platform, add “Generate Quiz.”</a:t>
            </a:r>
            <a:endParaRPr b="0" i="0" sz="1200" u="none" cap="none" strike="noStrike">
              <a:solidFill>
                <a:schemeClr val="dk1"/>
              </a:solidFill>
              <a:latin typeface="Calibri"/>
              <a:ea typeface="Calibri"/>
              <a:cs typeface="Calibri"/>
              <a:sym typeface="Calibri"/>
            </a:endParaRPr>
          </a:p>
        </p:txBody>
      </p:sp>
      <p:sp>
        <p:nvSpPr>
          <p:cNvPr id="281" name="Google Shape;281;p32"/>
          <p:cNvSpPr/>
          <p:nvPr/>
        </p:nvSpPr>
        <p:spPr>
          <a:xfrm>
            <a:off x="411491" y="1851660"/>
            <a:ext cx="2583249"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282" name="Google Shape;282;p32"/>
          <p:cNvSpPr/>
          <p:nvPr/>
        </p:nvSpPr>
        <p:spPr>
          <a:xfrm>
            <a:off x="445782" y="1851660"/>
            <a:ext cx="251466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Calibri"/>
              <a:buNone/>
            </a:pPr>
            <a:r>
              <a:rPr b="1" i="0" lang="en" sz="1800" u="none" cap="none" strike="noStrike">
                <a:solidFill>
                  <a:srgbClr val="FFFFFF"/>
                </a:solidFill>
                <a:latin typeface="Calibri"/>
                <a:ea typeface="Calibri"/>
                <a:cs typeface="Calibri"/>
                <a:sym typeface="Calibri"/>
              </a:rPr>
              <a:t>Application</a:t>
            </a:r>
            <a:endParaRPr b="0" i="0" sz="1800" u="none" cap="none" strike="noStrike">
              <a:solidFill>
                <a:schemeClr val="dk1"/>
              </a:solidFill>
              <a:latin typeface="Calibri"/>
              <a:ea typeface="Calibri"/>
              <a:cs typeface="Calibri"/>
              <a:sym typeface="Calibri"/>
            </a:endParaRPr>
          </a:p>
        </p:txBody>
      </p:sp>
      <p:sp>
        <p:nvSpPr>
          <p:cNvPr id="283" name="Google Shape;283;p32"/>
          <p:cNvSpPr/>
          <p:nvPr/>
        </p:nvSpPr>
        <p:spPr>
          <a:xfrm>
            <a:off x="2994740" y="185166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84" name="Google Shape;284;p32"/>
          <p:cNvSpPr/>
          <p:nvPr/>
        </p:nvSpPr>
        <p:spPr>
          <a:xfrm>
            <a:off x="3269067" y="1851660"/>
            <a:ext cx="2583249"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285" name="Google Shape;285;p32"/>
          <p:cNvSpPr/>
          <p:nvPr/>
        </p:nvSpPr>
        <p:spPr>
          <a:xfrm>
            <a:off x="3303358" y="1851660"/>
            <a:ext cx="251466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Calibri"/>
              <a:buNone/>
            </a:pPr>
            <a:r>
              <a:rPr b="1" i="0" lang="en" sz="1800" u="none" cap="none" strike="noStrike">
                <a:solidFill>
                  <a:srgbClr val="FFFFFF"/>
                </a:solidFill>
                <a:latin typeface="Calibri"/>
                <a:ea typeface="Calibri"/>
                <a:cs typeface="Calibri"/>
                <a:sym typeface="Calibri"/>
              </a:rPr>
              <a:t>LLM</a:t>
            </a:r>
            <a:endParaRPr b="0" i="0" sz="1800" u="none" cap="none" strike="noStrike">
              <a:solidFill>
                <a:schemeClr val="dk1"/>
              </a:solidFill>
              <a:latin typeface="Calibri"/>
              <a:ea typeface="Calibri"/>
              <a:cs typeface="Calibri"/>
              <a:sym typeface="Calibri"/>
            </a:endParaRPr>
          </a:p>
        </p:txBody>
      </p:sp>
      <p:sp>
        <p:nvSpPr>
          <p:cNvPr id="286" name="Google Shape;286;p32"/>
          <p:cNvSpPr/>
          <p:nvPr/>
        </p:nvSpPr>
        <p:spPr>
          <a:xfrm>
            <a:off x="5852316" y="185166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87" name="Google Shape;287;p32"/>
          <p:cNvSpPr/>
          <p:nvPr/>
        </p:nvSpPr>
        <p:spPr>
          <a:xfrm>
            <a:off x="6126643" y="1851660"/>
            <a:ext cx="2583249"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288" name="Google Shape;288;p32"/>
          <p:cNvSpPr/>
          <p:nvPr/>
        </p:nvSpPr>
        <p:spPr>
          <a:xfrm>
            <a:off x="6160934" y="1851660"/>
            <a:ext cx="251466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Calibri"/>
              <a:buNone/>
            </a:pPr>
            <a:r>
              <a:rPr b="1" i="0" lang="en" sz="1800" u="none" cap="none" strike="noStrike">
                <a:solidFill>
                  <a:srgbClr val="FFFFFF"/>
                </a:solidFill>
                <a:latin typeface="Calibri"/>
                <a:ea typeface="Calibri"/>
                <a:cs typeface="Calibri"/>
                <a:sym typeface="Calibri"/>
              </a:rPr>
              <a:t>Generated Quiz</a:t>
            </a:r>
            <a:endParaRPr b="0" i="0" sz="1800" u="none" cap="none" strike="noStrike">
              <a:solidFill>
                <a:schemeClr val="dk1"/>
              </a:solidFill>
              <a:latin typeface="Calibri"/>
              <a:ea typeface="Calibri"/>
              <a:cs typeface="Calibri"/>
              <a:sym typeface="Calibri"/>
            </a:endParaRPr>
          </a:p>
        </p:txBody>
      </p:sp>
      <p:sp>
        <p:nvSpPr>
          <p:cNvPr id="289" name="Google Shape;289;p32"/>
          <p:cNvSpPr/>
          <p:nvPr/>
        </p:nvSpPr>
        <p:spPr>
          <a:xfrm>
            <a:off x="411491" y="2811780"/>
            <a:ext cx="8298401" cy="582930"/>
          </a:xfrm>
          <a:prstGeom prst="roundRect">
            <a:avLst>
              <a:gd fmla="val 5882"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290" name="Google Shape;290;p32"/>
          <p:cNvSpPr/>
          <p:nvPr/>
        </p:nvSpPr>
        <p:spPr>
          <a:xfrm>
            <a:off x="603520" y="2880360"/>
            <a:ext cx="7914343" cy="44577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WHERE THIS FITS</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A good starting point, but potentially too simple for a final capstone on its own.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33"/>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PATTERN 2 · AI + APPLICATION CONTEXT</a:t>
            </a:r>
            <a:endParaRPr b="0" i="0" sz="800" u="none" cap="none" strike="noStrike">
              <a:solidFill>
                <a:schemeClr val="dk1"/>
              </a:solidFill>
              <a:latin typeface="Calibri"/>
              <a:ea typeface="Calibri"/>
              <a:cs typeface="Calibri"/>
              <a:sym typeface="Calibri"/>
            </a:endParaRPr>
          </a:p>
        </p:txBody>
      </p:sp>
      <p:sp>
        <p:nvSpPr>
          <p:cNvPr id="297" name="Google Shape;297;p33"/>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The Model Only Knows What You Give It</a:t>
            </a:r>
            <a:endParaRPr b="0" i="0" sz="2000" u="none" cap="none" strike="noStrike">
              <a:solidFill>
                <a:schemeClr val="dk1"/>
              </a:solidFill>
              <a:latin typeface="Calibri"/>
              <a:ea typeface="Calibri"/>
              <a:cs typeface="Calibri"/>
              <a:sym typeface="Calibri"/>
            </a:endParaRPr>
          </a:p>
        </p:txBody>
      </p:sp>
      <p:cxnSp>
        <p:nvCxnSpPr>
          <p:cNvPr id="298" name="Google Shape;298;p33"/>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299" name="Google Shape;299;p33"/>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300" name="Google Shape;300;p33"/>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14</a:t>
            </a:r>
            <a:endParaRPr b="0" i="0" sz="700" u="none" cap="none" strike="noStrike">
              <a:solidFill>
                <a:schemeClr val="dk1"/>
              </a:solidFill>
              <a:latin typeface="Calibri"/>
              <a:ea typeface="Calibri"/>
              <a:cs typeface="Calibri"/>
              <a:sym typeface="Calibri"/>
            </a:endParaRPr>
          </a:p>
        </p:txBody>
      </p:sp>
      <p:sp>
        <p:nvSpPr>
          <p:cNvPr id="301" name="Google Shape;301;p33"/>
          <p:cNvSpPr/>
          <p:nvPr/>
        </p:nvSpPr>
        <p:spPr>
          <a:xfrm>
            <a:off x="411491" y="1268730"/>
            <a:ext cx="8298401" cy="411480"/>
          </a:xfrm>
          <a:prstGeom prst="rect">
            <a:avLst/>
          </a:prstGeom>
          <a:noFill/>
          <a:ln>
            <a:noFill/>
          </a:ln>
        </p:spPr>
        <p:txBody>
          <a:bodyPr anchorCtr="0" anchor="t" bIns="34275" lIns="68575" spcFirstLastPara="1" rIns="68575" wrap="square" tIns="34275">
            <a:noAutofit/>
          </a:bodyPr>
          <a:lstStyle/>
          <a:p>
            <a:pPr indent="-177800" lvl="0" marL="177800" marR="0" rtl="0" algn="l">
              <a:spcBef>
                <a:spcPts val="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Example: “Explain this student's academic progress.”</a:t>
            </a:r>
            <a:endParaRPr b="0" i="0" sz="1200" u="none" cap="none" strike="noStrike">
              <a:solidFill>
                <a:schemeClr val="dk1"/>
              </a:solidFill>
              <a:latin typeface="Calibri"/>
              <a:ea typeface="Calibri"/>
              <a:cs typeface="Calibri"/>
              <a:sym typeface="Calibri"/>
            </a:endParaRPr>
          </a:p>
        </p:txBody>
      </p:sp>
      <p:sp>
        <p:nvSpPr>
          <p:cNvPr id="302" name="Google Shape;302;p33"/>
          <p:cNvSpPr/>
          <p:nvPr/>
        </p:nvSpPr>
        <p:spPr>
          <a:xfrm>
            <a:off x="411491" y="185166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03" name="Google Shape;303;p33"/>
          <p:cNvSpPr/>
          <p:nvPr/>
        </p:nvSpPr>
        <p:spPr>
          <a:xfrm>
            <a:off x="445782" y="185166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Database</a:t>
            </a:r>
            <a:endParaRPr b="0" i="0" sz="1800" u="none" cap="none" strike="noStrike">
              <a:solidFill>
                <a:schemeClr val="dk1"/>
              </a:solidFill>
              <a:latin typeface="Calibri"/>
              <a:ea typeface="Calibri"/>
              <a:cs typeface="Calibri"/>
              <a:sym typeface="Calibri"/>
            </a:endParaRPr>
          </a:p>
        </p:txBody>
      </p:sp>
      <p:sp>
        <p:nvSpPr>
          <p:cNvPr id="304" name="Google Shape;304;p33"/>
          <p:cNvSpPr/>
          <p:nvPr/>
        </p:nvSpPr>
        <p:spPr>
          <a:xfrm>
            <a:off x="2280346" y="185166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05" name="Google Shape;305;p33"/>
          <p:cNvSpPr/>
          <p:nvPr/>
        </p:nvSpPr>
        <p:spPr>
          <a:xfrm>
            <a:off x="2554673" y="185166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06" name="Google Shape;306;p33"/>
          <p:cNvSpPr/>
          <p:nvPr/>
        </p:nvSpPr>
        <p:spPr>
          <a:xfrm>
            <a:off x="2588964" y="185166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Backend</a:t>
            </a:r>
            <a:endParaRPr b="0" i="0" sz="1800" u="none" cap="none" strike="noStrike">
              <a:solidFill>
                <a:schemeClr val="dk1"/>
              </a:solidFill>
              <a:latin typeface="Calibri"/>
              <a:ea typeface="Calibri"/>
              <a:cs typeface="Calibri"/>
              <a:sym typeface="Calibri"/>
            </a:endParaRPr>
          </a:p>
        </p:txBody>
      </p:sp>
      <p:sp>
        <p:nvSpPr>
          <p:cNvPr id="307" name="Google Shape;307;p33"/>
          <p:cNvSpPr/>
          <p:nvPr/>
        </p:nvSpPr>
        <p:spPr>
          <a:xfrm>
            <a:off x="4423528" y="185166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08" name="Google Shape;308;p33"/>
          <p:cNvSpPr/>
          <p:nvPr/>
        </p:nvSpPr>
        <p:spPr>
          <a:xfrm>
            <a:off x="4697855" y="185166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09" name="Google Shape;309;p33"/>
          <p:cNvSpPr/>
          <p:nvPr/>
        </p:nvSpPr>
        <p:spPr>
          <a:xfrm>
            <a:off x="4732146" y="185166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Context</a:t>
            </a:r>
            <a:endParaRPr b="0" i="0" sz="1800" u="none" cap="none" strike="noStrike">
              <a:solidFill>
                <a:schemeClr val="dk1"/>
              </a:solidFill>
              <a:latin typeface="Calibri"/>
              <a:ea typeface="Calibri"/>
              <a:cs typeface="Calibri"/>
              <a:sym typeface="Calibri"/>
            </a:endParaRPr>
          </a:p>
        </p:txBody>
      </p:sp>
      <p:sp>
        <p:nvSpPr>
          <p:cNvPr id="310" name="Google Shape;310;p33"/>
          <p:cNvSpPr/>
          <p:nvPr/>
        </p:nvSpPr>
        <p:spPr>
          <a:xfrm>
            <a:off x="6566710" y="185166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11" name="Google Shape;311;p33"/>
          <p:cNvSpPr/>
          <p:nvPr/>
        </p:nvSpPr>
        <p:spPr>
          <a:xfrm>
            <a:off x="6841037" y="185166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12" name="Google Shape;312;p33"/>
          <p:cNvSpPr/>
          <p:nvPr/>
        </p:nvSpPr>
        <p:spPr>
          <a:xfrm>
            <a:off x="6875328" y="185166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LLM</a:t>
            </a:r>
            <a:endParaRPr b="0" i="0" sz="1800" u="none" cap="none" strike="noStrike">
              <a:solidFill>
                <a:schemeClr val="dk1"/>
              </a:solidFill>
              <a:latin typeface="Calibri"/>
              <a:ea typeface="Calibri"/>
              <a:cs typeface="Calibri"/>
              <a:sym typeface="Calibri"/>
            </a:endParaRPr>
          </a:p>
        </p:txBody>
      </p:sp>
      <p:sp>
        <p:nvSpPr>
          <p:cNvPr id="313" name="Google Shape;313;p33"/>
          <p:cNvSpPr/>
          <p:nvPr/>
        </p:nvSpPr>
        <p:spPr>
          <a:xfrm>
            <a:off x="411491" y="2811780"/>
            <a:ext cx="8298401" cy="754380"/>
          </a:xfrm>
          <a:prstGeom prst="roundRect">
            <a:avLst>
              <a:gd fmla="val 4545"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314" name="Google Shape;314;p33"/>
          <p:cNvSpPr/>
          <p:nvPr/>
        </p:nvSpPr>
        <p:spPr>
          <a:xfrm>
            <a:off x="603520" y="2880360"/>
            <a:ext cx="7914343" cy="6172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CONTEXT ENGINEERING (concept only)</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The AI receives selected application data, not everything. We won't implement this yet; today it's just the idea that the model's knowledge is exactly what you hand 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34"/>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PATTERN 3 · AI + KNOWLEDGE</a:t>
            </a:r>
            <a:endParaRPr b="0" i="0" sz="800" u="none" cap="none" strike="noStrike">
              <a:solidFill>
                <a:schemeClr val="dk1"/>
              </a:solidFill>
              <a:latin typeface="Calibri"/>
              <a:ea typeface="Calibri"/>
              <a:cs typeface="Calibri"/>
              <a:sym typeface="Calibri"/>
            </a:endParaRPr>
          </a:p>
        </p:txBody>
      </p:sp>
      <p:sp>
        <p:nvSpPr>
          <p:cNvPr id="321" name="Google Shape;321;p34"/>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Retrieval-Augmented Generation, Conceptually</a:t>
            </a:r>
            <a:endParaRPr b="0" i="0" sz="2000" u="none" cap="none" strike="noStrike">
              <a:solidFill>
                <a:schemeClr val="dk1"/>
              </a:solidFill>
              <a:latin typeface="Calibri"/>
              <a:ea typeface="Calibri"/>
              <a:cs typeface="Calibri"/>
              <a:sym typeface="Calibri"/>
            </a:endParaRPr>
          </a:p>
        </p:txBody>
      </p:sp>
      <p:cxnSp>
        <p:nvCxnSpPr>
          <p:cNvPr id="322" name="Google Shape;322;p34"/>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323" name="Google Shape;323;p34"/>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324" name="Google Shape;324;p34"/>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15</a:t>
            </a:r>
            <a:endParaRPr b="0" i="0" sz="700" u="none" cap="none" strike="noStrike">
              <a:solidFill>
                <a:schemeClr val="dk1"/>
              </a:solidFill>
              <a:latin typeface="Calibri"/>
              <a:ea typeface="Calibri"/>
              <a:cs typeface="Calibri"/>
              <a:sym typeface="Calibri"/>
            </a:endParaRPr>
          </a:p>
        </p:txBody>
      </p:sp>
      <p:sp>
        <p:nvSpPr>
          <p:cNvPr id="325" name="Google Shape;325;p34"/>
          <p:cNvSpPr/>
          <p:nvPr/>
        </p:nvSpPr>
        <p:spPr>
          <a:xfrm>
            <a:off x="411491" y="1268730"/>
            <a:ext cx="8298401" cy="411480"/>
          </a:xfrm>
          <a:prstGeom prst="rect">
            <a:avLst/>
          </a:prstGeom>
          <a:noFill/>
          <a:ln>
            <a:noFill/>
          </a:ln>
        </p:spPr>
        <p:txBody>
          <a:bodyPr anchorCtr="0" anchor="t" bIns="34275" lIns="68575" spcFirstLastPara="1" rIns="68575" wrap="square" tIns="34275">
            <a:noAutofit/>
          </a:bodyPr>
          <a:lstStyle/>
          <a:p>
            <a:pPr indent="-177800" lvl="0" marL="177800" marR="0" rtl="0" algn="l">
              <a:spcBef>
                <a:spcPts val="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Example: “What are the university's internship requirements?”</a:t>
            </a:r>
            <a:endParaRPr b="0" i="0" sz="1200" u="none" cap="none" strike="noStrike">
              <a:solidFill>
                <a:schemeClr val="dk1"/>
              </a:solidFill>
              <a:latin typeface="Calibri"/>
              <a:ea typeface="Calibri"/>
              <a:cs typeface="Calibri"/>
              <a:sym typeface="Calibri"/>
            </a:endParaRPr>
          </a:p>
        </p:txBody>
      </p:sp>
      <p:sp>
        <p:nvSpPr>
          <p:cNvPr id="326" name="Google Shape;326;p34"/>
          <p:cNvSpPr/>
          <p:nvPr/>
        </p:nvSpPr>
        <p:spPr>
          <a:xfrm>
            <a:off x="411491" y="1714500"/>
            <a:ext cx="8298401" cy="274320"/>
          </a:xfrm>
          <a:prstGeom prst="rect">
            <a:avLst/>
          </a:prstGeom>
          <a:noFill/>
          <a:ln>
            <a:noFill/>
          </a:ln>
        </p:spPr>
        <p:txBody>
          <a:bodyPr anchorCtr="0" anchor="t" bIns="34275" lIns="68575" spcFirstLastPara="1" rIns="68575" wrap="square" tIns="34275">
            <a:noAutofit/>
          </a:bodyPr>
          <a:lstStyle/>
          <a:p>
            <a:pPr indent="-196850" lvl="0" marL="177800" marR="0" rtl="0" algn="l">
              <a:spcBef>
                <a:spcPts val="0"/>
              </a:spcBef>
              <a:spcAft>
                <a:spcPts val="0"/>
              </a:spcAft>
              <a:buClr>
                <a:srgbClr val="5C6B7A"/>
              </a:buClr>
              <a:buSzPts val="1300"/>
              <a:buFont typeface="Calibri"/>
              <a:buChar char="•"/>
            </a:pPr>
            <a:r>
              <a:rPr b="0" i="1" lang="en" sz="1300" u="none" cap="none" strike="noStrike">
                <a:solidFill>
                  <a:srgbClr val="5C6B7A"/>
                </a:solidFill>
                <a:latin typeface="Calibri"/>
                <a:ea typeface="Calibri"/>
                <a:cs typeface="Calibri"/>
                <a:sym typeface="Calibri"/>
              </a:rPr>
              <a:t>Instead of stuffing every university document into the prompt:</a:t>
            </a:r>
            <a:endParaRPr b="0" i="0" sz="1300" u="none" cap="none" strike="noStrike">
              <a:solidFill>
                <a:schemeClr val="dk1"/>
              </a:solidFill>
              <a:latin typeface="Calibri"/>
              <a:ea typeface="Calibri"/>
              <a:cs typeface="Calibri"/>
              <a:sym typeface="Calibri"/>
            </a:endParaRPr>
          </a:p>
        </p:txBody>
      </p:sp>
      <p:sp>
        <p:nvSpPr>
          <p:cNvPr id="327" name="Google Shape;327;p34"/>
          <p:cNvSpPr/>
          <p:nvPr/>
        </p:nvSpPr>
        <p:spPr>
          <a:xfrm>
            <a:off x="411491" y="202311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28" name="Google Shape;328;p34"/>
          <p:cNvSpPr/>
          <p:nvPr/>
        </p:nvSpPr>
        <p:spPr>
          <a:xfrm>
            <a:off x="445782" y="202311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Documents</a:t>
            </a:r>
            <a:endParaRPr b="0" i="0" sz="1800" u="none" cap="none" strike="noStrike">
              <a:solidFill>
                <a:schemeClr val="dk1"/>
              </a:solidFill>
              <a:latin typeface="Calibri"/>
              <a:ea typeface="Calibri"/>
              <a:cs typeface="Calibri"/>
              <a:sym typeface="Calibri"/>
            </a:endParaRPr>
          </a:p>
        </p:txBody>
      </p:sp>
      <p:sp>
        <p:nvSpPr>
          <p:cNvPr id="329" name="Google Shape;329;p34"/>
          <p:cNvSpPr/>
          <p:nvPr/>
        </p:nvSpPr>
        <p:spPr>
          <a:xfrm>
            <a:off x="2280346" y="202311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30" name="Google Shape;330;p34"/>
          <p:cNvSpPr/>
          <p:nvPr/>
        </p:nvSpPr>
        <p:spPr>
          <a:xfrm>
            <a:off x="2554673" y="202311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31" name="Google Shape;331;p34"/>
          <p:cNvSpPr/>
          <p:nvPr/>
        </p:nvSpPr>
        <p:spPr>
          <a:xfrm>
            <a:off x="2588964" y="202311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Retrieval</a:t>
            </a:r>
            <a:endParaRPr b="0" i="0" sz="1800" u="none" cap="none" strike="noStrike">
              <a:solidFill>
                <a:schemeClr val="dk1"/>
              </a:solidFill>
              <a:latin typeface="Calibri"/>
              <a:ea typeface="Calibri"/>
              <a:cs typeface="Calibri"/>
              <a:sym typeface="Calibri"/>
            </a:endParaRPr>
          </a:p>
        </p:txBody>
      </p:sp>
      <p:sp>
        <p:nvSpPr>
          <p:cNvPr id="332" name="Google Shape;332;p34"/>
          <p:cNvSpPr/>
          <p:nvPr/>
        </p:nvSpPr>
        <p:spPr>
          <a:xfrm>
            <a:off x="4423528" y="202311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33" name="Google Shape;333;p34"/>
          <p:cNvSpPr/>
          <p:nvPr/>
        </p:nvSpPr>
        <p:spPr>
          <a:xfrm>
            <a:off x="4697855" y="202311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34" name="Google Shape;334;p34"/>
          <p:cNvSpPr/>
          <p:nvPr/>
        </p:nvSpPr>
        <p:spPr>
          <a:xfrm>
            <a:off x="4732146" y="202311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Relevant Info</a:t>
            </a:r>
            <a:endParaRPr b="0" i="0" sz="1800" u="none" cap="none" strike="noStrike">
              <a:solidFill>
                <a:schemeClr val="dk1"/>
              </a:solidFill>
              <a:latin typeface="Calibri"/>
              <a:ea typeface="Calibri"/>
              <a:cs typeface="Calibri"/>
              <a:sym typeface="Calibri"/>
            </a:endParaRPr>
          </a:p>
        </p:txBody>
      </p:sp>
      <p:sp>
        <p:nvSpPr>
          <p:cNvPr id="335" name="Google Shape;335;p34"/>
          <p:cNvSpPr/>
          <p:nvPr/>
        </p:nvSpPr>
        <p:spPr>
          <a:xfrm>
            <a:off x="6566710" y="2023110"/>
            <a:ext cx="274327"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800" u="none" cap="none" strike="noStrike">
                <a:solidFill>
                  <a:srgbClr val="D9822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36" name="Google Shape;336;p34"/>
          <p:cNvSpPr/>
          <p:nvPr/>
        </p:nvSpPr>
        <p:spPr>
          <a:xfrm>
            <a:off x="6841037" y="2023110"/>
            <a:ext cx="1868855" cy="685800"/>
          </a:xfrm>
          <a:prstGeom prst="roundRect">
            <a:avLst>
              <a:gd fmla="val 6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37" name="Google Shape;337;p34"/>
          <p:cNvSpPr/>
          <p:nvPr/>
        </p:nvSpPr>
        <p:spPr>
          <a:xfrm>
            <a:off x="6875328" y="2023110"/>
            <a:ext cx="1800273"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800" u="none" cap="none" strike="noStrike">
                <a:solidFill>
                  <a:srgbClr val="FFFFFF"/>
                </a:solidFill>
                <a:latin typeface="Calibri"/>
                <a:ea typeface="Calibri"/>
                <a:cs typeface="Calibri"/>
                <a:sym typeface="Calibri"/>
              </a:rPr>
              <a:t>LLM</a:t>
            </a:r>
            <a:endParaRPr b="0" i="0" sz="1800" u="none" cap="none" strike="noStrike">
              <a:solidFill>
                <a:schemeClr val="dk1"/>
              </a:solidFill>
              <a:latin typeface="Calibri"/>
              <a:ea typeface="Calibri"/>
              <a:cs typeface="Calibri"/>
              <a:sym typeface="Calibri"/>
            </a:endParaRPr>
          </a:p>
        </p:txBody>
      </p:sp>
      <p:sp>
        <p:nvSpPr>
          <p:cNvPr id="338" name="Google Shape;338;p34"/>
          <p:cNvSpPr/>
          <p:nvPr/>
        </p:nvSpPr>
        <p:spPr>
          <a:xfrm>
            <a:off x="411491" y="2948940"/>
            <a:ext cx="8298401" cy="754380"/>
          </a:xfrm>
          <a:prstGeom prst="roundRect">
            <a:avLst>
              <a:gd fmla="val 4545" name="adj"/>
            </a:avLst>
          </a:prstGeom>
          <a:solidFill>
            <a:srgbClr val="D6E4F0"/>
          </a:solidFill>
          <a:ln cap="flat" cmpd="sng" w="15875">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339" name="Google Shape;339;p34"/>
          <p:cNvSpPr/>
          <p:nvPr/>
        </p:nvSpPr>
        <p:spPr>
          <a:xfrm>
            <a:off x="603520" y="3017520"/>
            <a:ext cx="7914343" cy="6172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34074"/>
              </a:buClr>
              <a:buSzPts val="900"/>
              <a:buFont typeface="Calibri"/>
              <a:buNone/>
            </a:pPr>
            <a:r>
              <a:rPr b="1" i="0" lang="en" sz="1100" u="none" cap="none" strike="noStrike">
                <a:solidFill>
                  <a:srgbClr val="134074"/>
                </a:solidFill>
                <a:latin typeface="Calibri"/>
                <a:ea typeface="Calibri"/>
                <a:cs typeface="Calibri"/>
                <a:sym typeface="Calibri"/>
              </a:rPr>
              <a:t>RAG</a:t>
            </a:r>
            <a:br>
              <a:rPr b="1" i="0" lang="en" sz="1100" u="none" cap="none" strike="noStrike">
                <a:solidFill>
                  <a:srgbClr val="134074"/>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Explain why RAG exists and what problem it solves: giving the model facts it doesn't have memorized, without hand-copying documents into every prompt. Implementation comes later.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35"/>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PATTERN 4 · AI + TOOLS</a:t>
            </a:r>
            <a:endParaRPr b="0" i="0" sz="800" u="none" cap="none" strike="noStrike">
              <a:solidFill>
                <a:schemeClr val="dk1"/>
              </a:solidFill>
              <a:latin typeface="Calibri"/>
              <a:ea typeface="Calibri"/>
              <a:cs typeface="Calibri"/>
              <a:sym typeface="Calibri"/>
            </a:endParaRPr>
          </a:p>
        </p:txBody>
      </p:sp>
      <p:sp>
        <p:nvSpPr>
          <p:cNvPr id="346" name="Google Shape;346;p35"/>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The LLM Shouldn't Invent the Answer</a:t>
            </a:r>
            <a:endParaRPr b="0" i="0" sz="2000" u="none" cap="none" strike="noStrike">
              <a:solidFill>
                <a:schemeClr val="dk1"/>
              </a:solidFill>
              <a:latin typeface="Calibri"/>
              <a:ea typeface="Calibri"/>
              <a:cs typeface="Calibri"/>
              <a:sym typeface="Calibri"/>
            </a:endParaRPr>
          </a:p>
        </p:txBody>
      </p:sp>
      <p:cxnSp>
        <p:nvCxnSpPr>
          <p:cNvPr id="347" name="Google Shape;347;p35"/>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348" name="Google Shape;348;p35"/>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349" name="Google Shape;349;p35"/>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16</a:t>
            </a:r>
            <a:endParaRPr b="0" i="0" sz="700" u="none" cap="none" strike="noStrike">
              <a:solidFill>
                <a:schemeClr val="dk1"/>
              </a:solidFill>
              <a:latin typeface="Calibri"/>
              <a:ea typeface="Calibri"/>
              <a:cs typeface="Calibri"/>
              <a:sym typeface="Calibri"/>
            </a:endParaRPr>
          </a:p>
        </p:txBody>
      </p:sp>
      <p:sp>
        <p:nvSpPr>
          <p:cNvPr id="350" name="Google Shape;350;p35"/>
          <p:cNvSpPr/>
          <p:nvPr/>
        </p:nvSpPr>
        <p:spPr>
          <a:xfrm>
            <a:off x="685818" y="1268730"/>
            <a:ext cx="7749747" cy="685800"/>
          </a:xfrm>
          <a:prstGeom prst="roundRect">
            <a:avLst>
              <a:gd fmla="val 8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351" name="Google Shape;351;p35"/>
          <p:cNvSpPr/>
          <p:nvPr/>
        </p:nvSpPr>
        <p:spPr>
          <a:xfrm>
            <a:off x="960146" y="1268730"/>
            <a:ext cx="7201092"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400"/>
              <a:buFont typeface="Cambria"/>
              <a:buNone/>
            </a:pPr>
            <a:r>
              <a:rPr b="1" i="1" lang="en" sz="1800" u="none" cap="none" strike="noStrike">
                <a:solidFill>
                  <a:srgbClr val="FFFFFF"/>
                </a:solidFill>
                <a:latin typeface="Cambria"/>
                <a:ea typeface="Cambria"/>
                <a:cs typeface="Cambria"/>
                <a:sym typeface="Cambria"/>
              </a:rPr>
              <a:t>“What classes do I have tomorrow?”</a:t>
            </a:r>
            <a:endParaRPr b="0" i="0" sz="1800" u="none" cap="none" strike="noStrike">
              <a:solidFill>
                <a:schemeClr val="dk1"/>
              </a:solidFill>
              <a:latin typeface="Calibri"/>
              <a:ea typeface="Calibri"/>
              <a:cs typeface="Calibri"/>
              <a:sym typeface="Calibri"/>
            </a:endParaRPr>
          </a:p>
        </p:txBody>
      </p:sp>
      <p:sp>
        <p:nvSpPr>
          <p:cNvPr id="352" name="Google Shape;352;p35"/>
          <p:cNvSpPr/>
          <p:nvPr/>
        </p:nvSpPr>
        <p:spPr>
          <a:xfrm>
            <a:off x="411491" y="2091690"/>
            <a:ext cx="8298401" cy="274320"/>
          </a:xfrm>
          <a:prstGeom prst="rect">
            <a:avLst/>
          </a:prstGeom>
          <a:noFill/>
          <a:ln>
            <a:noFill/>
          </a:ln>
        </p:spPr>
        <p:txBody>
          <a:bodyPr anchorCtr="0" anchor="t" bIns="34275" lIns="68575" spcFirstLastPara="1" rIns="68575" wrap="square" tIns="34275">
            <a:noAutofit/>
          </a:bodyPr>
          <a:lstStyle/>
          <a:p>
            <a:pPr indent="-184150" lvl="0" marL="177800" marR="0" rtl="0" algn="l">
              <a:spcBef>
                <a:spcPts val="0"/>
              </a:spcBef>
              <a:spcAft>
                <a:spcPts val="0"/>
              </a:spcAft>
              <a:buClr>
                <a:srgbClr val="5C6B7A"/>
              </a:buClr>
              <a:buSzPts val="1100"/>
              <a:buFont typeface="Calibri"/>
              <a:buChar char="•"/>
            </a:pPr>
            <a:r>
              <a:rPr b="0" i="1" lang="en" sz="1100" u="none" cap="none" strike="noStrike">
                <a:solidFill>
                  <a:srgbClr val="5C6B7A"/>
                </a:solidFill>
                <a:latin typeface="Calibri"/>
                <a:ea typeface="Calibri"/>
                <a:cs typeface="Calibri"/>
                <a:sym typeface="Calibri"/>
              </a:rPr>
              <a:t>It needs access to something like:</a:t>
            </a:r>
            <a:endParaRPr b="0" i="0" sz="1100" u="none" cap="none" strike="noStrike">
              <a:solidFill>
                <a:schemeClr val="dk1"/>
              </a:solidFill>
              <a:latin typeface="Calibri"/>
              <a:ea typeface="Calibri"/>
              <a:cs typeface="Calibri"/>
              <a:sym typeface="Calibri"/>
            </a:endParaRPr>
          </a:p>
        </p:txBody>
      </p:sp>
      <p:sp>
        <p:nvSpPr>
          <p:cNvPr id="353" name="Google Shape;353;p35"/>
          <p:cNvSpPr/>
          <p:nvPr/>
        </p:nvSpPr>
        <p:spPr>
          <a:xfrm>
            <a:off x="411491" y="2366010"/>
            <a:ext cx="8298401" cy="480060"/>
          </a:xfrm>
          <a:prstGeom prst="roundRect">
            <a:avLst>
              <a:gd fmla="val 8571"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4" name="Google Shape;354;p35"/>
          <p:cNvSpPr/>
          <p:nvPr/>
        </p:nvSpPr>
        <p:spPr>
          <a:xfrm>
            <a:off x="582946" y="2366010"/>
            <a:ext cx="7955492" cy="48006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6E4F0"/>
              </a:buClr>
              <a:buSzPts val="1400"/>
              <a:buFont typeface="Consolas"/>
              <a:buNone/>
            </a:pPr>
            <a:r>
              <a:rPr b="0" i="0" lang="en" sz="1400" u="none" cap="none" strike="noStrike">
                <a:solidFill>
                  <a:srgbClr val="D6E4F0"/>
                </a:solidFill>
                <a:latin typeface="Consolas"/>
                <a:ea typeface="Consolas"/>
                <a:cs typeface="Consolas"/>
                <a:sym typeface="Consolas"/>
              </a:rPr>
              <a:t>getStudentSchedule(studentId)</a:t>
            </a:r>
            <a:endParaRPr b="0" i="0" sz="1400" u="none" cap="none" strike="noStrike">
              <a:solidFill>
                <a:schemeClr val="dk1"/>
              </a:solidFill>
              <a:latin typeface="Calibri"/>
              <a:ea typeface="Calibri"/>
              <a:cs typeface="Calibri"/>
              <a:sym typeface="Calibri"/>
            </a:endParaRPr>
          </a:p>
        </p:txBody>
      </p:sp>
      <p:sp>
        <p:nvSpPr>
          <p:cNvPr id="355" name="Google Shape;355;p35"/>
          <p:cNvSpPr/>
          <p:nvPr/>
        </p:nvSpPr>
        <p:spPr>
          <a:xfrm>
            <a:off x="411491" y="3017520"/>
            <a:ext cx="8298401" cy="685800"/>
          </a:xfrm>
          <a:prstGeom prst="roundRect">
            <a:avLst>
              <a:gd fmla="val 500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p35"/>
          <p:cNvSpPr/>
          <p:nvPr/>
        </p:nvSpPr>
        <p:spPr>
          <a:xfrm>
            <a:off x="603520" y="3086100"/>
            <a:ext cx="7914343" cy="54864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900" u="none" cap="none" strike="noStrike">
                <a:solidFill>
                  <a:srgbClr val="D9822B"/>
                </a:solidFill>
                <a:latin typeface="Calibri"/>
                <a:ea typeface="Calibri"/>
                <a:cs typeface="Calibri"/>
                <a:sym typeface="Calibri"/>
              </a:rPr>
              <a:t>FUNCTION / TOOL CALLING (concept only)</a:t>
            </a:r>
            <a:br>
              <a:rPr b="1" i="0" lang="en" sz="900" u="none" cap="none" strike="noStrike">
                <a:solidFill>
                  <a:srgbClr val="D9822B"/>
                </a:solidFill>
                <a:latin typeface="Calibri"/>
                <a:ea typeface="Calibri"/>
                <a:cs typeface="Calibri"/>
                <a:sym typeface="Calibri"/>
              </a:rPr>
            </a:br>
            <a:r>
              <a:rPr b="0" i="0" lang="en" sz="1000" u="none" cap="none" strike="noStrike">
                <a:solidFill>
                  <a:srgbClr val="13293D"/>
                </a:solidFill>
                <a:latin typeface="Calibri"/>
                <a:ea typeface="Calibri"/>
                <a:cs typeface="Calibri"/>
                <a:sym typeface="Calibri"/>
              </a:rPr>
              <a:t>The LLM reasons about which capability it needs; the software performs the actual operation and returns a real result.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36"/>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PATTERN 5 · AI WORKFLOW</a:t>
            </a:r>
            <a:endParaRPr b="0" i="0" sz="800" u="none" cap="none" strike="noStrike">
              <a:solidFill>
                <a:schemeClr val="dk1"/>
              </a:solidFill>
              <a:latin typeface="Calibri"/>
              <a:ea typeface="Calibri"/>
              <a:cs typeface="Calibri"/>
              <a:sym typeface="Calibri"/>
            </a:endParaRPr>
          </a:p>
        </p:txBody>
      </p:sp>
      <p:sp>
        <p:nvSpPr>
          <p:cNvPr id="363" name="Google Shape;363;p36"/>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Multiple Controlled Steps</a:t>
            </a:r>
            <a:endParaRPr b="0" i="0" sz="2000" u="none" cap="none" strike="noStrike">
              <a:solidFill>
                <a:schemeClr val="dk1"/>
              </a:solidFill>
              <a:latin typeface="Calibri"/>
              <a:ea typeface="Calibri"/>
              <a:cs typeface="Calibri"/>
              <a:sym typeface="Calibri"/>
            </a:endParaRPr>
          </a:p>
        </p:txBody>
      </p:sp>
      <p:cxnSp>
        <p:nvCxnSpPr>
          <p:cNvPr id="364" name="Google Shape;364;p36"/>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365" name="Google Shape;365;p36"/>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366" name="Google Shape;366;p36"/>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17</a:t>
            </a:r>
            <a:endParaRPr b="0" i="0" sz="700" u="none" cap="none" strike="noStrike">
              <a:solidFill>
                <a:schemeClr val="dk1"/>
              </a:solidFill>
              <a:latin typeface="Calibri"/>
              <a:ea typeface="Calibri"/>
              <a:cs typeface="Calibri"/>
              <a:sym typeface="Calibri"/>
            </a:endParaRPr>
          </a:p>
        </p:txBody>
      </p:sp>
      <p:sp>
        <p:nvSpPr>
          <p:cNvPr id="367" name="Google Shape;367;p36"/>
          <p:cNvSpPr/>
          <p:nvPr/>
        </p:nvSpPr>
        <p:spPr>
          <a:xfrm>
            <a:off x="411491" y="1268730"/>
            <a:ext cx="8298401" cy="342900"/>
          </a:xfrm>
          <a:prstGeom prst="rect">
            <a:avLst/>
          </a:prstGeom>
          <a:noFill/>
          <a:ln>
            <a:noFill/>
          </a:ln>
        </p:spPr>
        <p:txBody>
          <a:bodyPr anchorCtr="0" anchor="t" bIns="34275" lIns="68575" spcFirstLastPara="1" rIns="68575" wrap="square" tIns="34275">
            <a:noAutofit/>
          </a:bodyPr>
          <a:lstStyle/>
          <a:p>
            <a:pPr indent="-177800" lvl="0" marL="177800" marR="0" rtl="0" algn="l">
              <a:spcBef>
                <a:spcPts val="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Example: an AI recruitment assistant.</a:t>
            </a:r>
            <a:endParaRPr b="0" i="0" sz="1200" u="none" cap="none" strike="noStrike">
              <a:solidFill>
                <a:schemeClr val="dk1"/>
              </a:solidFill>
              <a:latin typeface="Calibri"/>
              <a:ea typeface="Calibri"/>
              <a:cs typeface="Calibri"/>
              <a:sym typeface="Calibri"/>
            </a:endParaRPr>
          </a:p>
        </p:txBody>
      </p:sp>
      <p:sp>
        <p:nvSpPr>
          <p:cNvPr id="368" name="Google Shape;368;p36"/>
          <p:cNvSpPr/>
          <p:nvPr/>
        </p:nvSpPr>
        <p:spPr>
          <a:xfrm>
            <a:off x="411491" y="1783080"/>
            <a:ext cx="1154461" cy="754380"/>
          </a:xfrm>
          <a:prstGeom prst="roundRect">
            <a:avLst>
              <a:gd fmla="val 5455"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9" name="Google Shape;369;p36"/>
          <p:cNvSpPr/>
          <p:nvPr/>
        </p:nvSpPr>
        <p:spPr>
          <a:xfrm>
            <a:off x="445782" y="1783080"/>
            <a:ext cx="1085879"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u="none" cap="none" strike="noStrike">
                <a:solidFill>
                  <a:srgbClr val="FFFFFF"/>
                </a:solidFill>
                <a:latin typeface="Calibri"/>
                <a:ea typeface="Calibri"/>
                <a:cs typeface="Calibri"/>
                <a:sym typeface="Calibri"/>
              </a:rPr>
              <a:t>CV</a:t>
            </a:r>
            <a:endParaRPr b="0" i="0" u="none" cap="none" strike="noStrike">
              <a:solidFill>
                <a:schemeClr val="dk1"/>
              </a:solidFill>
              <a:latin typeface="Calibri"/>
              <a:ea typeface="Calibri"/>
              <a:cs typeface="Calibri"/>
              <a:sym typeface="Calibri"/>
            </a:endParaRPr>
          </a:p>
        </p:txBody>
      </p:sp>
      <p:sp>
        <p:nvSpPr>
          <p:cNvPr id="370" name="Google Shape;370;p36"/>
          <p:cNvSpPr/>
          <p:nvPr/>
        </p:nvSpPr>
        <p:spPr>
          <a:xfrm>
            <a:off x="1565952" y="1783080"/>
            <a:ext cx="274327"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u="none" cap="none" strike="noStrike">
                <a:solidFill>
                  <a:srgbClr val="D9822B"/>
                </a:solidFill>
                <a:latin typeface="Calibri"/>
                <a:ea typeface="Calibri"/>
                <a:cs typeface="Calibri"/>
                <a:sym typeface="Calibri"/>
              </a:rPr>
              <a:t>→</a:t>
            </a:r>
            <a:endParaRPr b="0" i="0" u="none" cap="none" strike="noStrike">
              <a:solidFill>
                <a:schemeClr val="dk1"/>
              </a:solidFill>
              <a:latin typeface="Calibri"/>
              <a:ea typeface="Calibri"/>
              <a:cs typeface="Calibri"/>
              <a:sym typeface="Calibri"/>
            </a:endParaRPr>
          </a:p>
        </p:txBody>
      </p:sp>
      <p:sp>
        <p:nvSpPr>
          <p:cNvPr id="371" name="Google Shape;371;p36"/>
          <p:cNvSpPr/>
          <p:nvPr/>
        </p:nvSpPr>
        <p:spPr>
          <a:xfrm>
            <a:off x="1840279" y="1783080"/>
            <a:ext cx="1154461" cy="754380"/>
          </a:xfrm>
          <a:prstGeom prst="roundRect">
            <a:avLst>
              <a:gd fmla="val 5455"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2" name="Google Shape;372;p36"/>
          <p:cNvSpPr/>
          <p:nvPr/>
        </p:nvSpPr>
        <p:spPr>
          <a:xfrm>
            <a:off x="1874570" y="1783080"/>
            <a:ext cx="1085879"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u="none" cap="none" strike="noStrike">
                <a:solidFill>
                  <a:srgbClr val="FFFFFF"/>
                </a:solidFill>
                <a:latin typeface="Calibri"/>
                <a:ea typeface="Calibri"/>
                <a:cs typeface="Calibri"/>
                <a:sym typeface="Calibri"/>
              </a:rPr>
              <a:t>Extract Info</a:t>
            </a:r>
            <a:endParaRPr b="0" i="0" u="none" cap="none" strike="noStrike">
              <a:solidFill>
                <a:schemeClr val="dk1"/>
              </a:solidFill>
              <a:latin typeface="Calibri"/>
              <a:ea typeface="Calibri"/>
              <a:cs typeface="Calibri"/>
              <a:sym typeface="Calibri"/>
            </a:endParaRPr>
          </a:p>
        </p:txBody>
      </p:sp>
      <p:sp>
        <p:nvSpPr>
          <p:cNvPr id="373" name="Google Shape;373;p36"/>
          <p:cNvSpPr/>
          <p:nvPr/>
        </p:nvSpPr>
        <p:spPr>
          <a:xfrm>
            <a:off x="2994740" y="1783080"/>
            <a:ext cx="274327"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u="none" cap="none" strike="noStrike">
                <a:solidFill>
                  <a:srgbClr val="D9822B"/>
                </a:solidFill>
                <a:latin typeface="Calibri"/>
                <a:ea typeface="Calibri"/>
                <a:cs typeface="Calibri"/>
                <a:sym typeface="Calibri"/>
              </a:rPr>
              <a:t>→</a:t>
            </a:r>
            <a:endParaRPr b="0" i="0" u="none" cap="none" strike="noStrike">
              <a:solidFill>
                <a:schemeClr val="dk1"/>
              </a:solidFill>
              <a:latin typeface="Calibri"/>
              <a:ea typeface="Calibri"/>
              <a:cs typeface="Calibri"/>
              <a:sym typeface="Calibri"/>
            </a:endParaRPr>
          </a:p>
        </p:txBody>
      </p:sp>
      <p:sp>
        <p:nvSpPr>
          <p:cNvPr id="374" name="Google Shape;374;p36"/>
          <p:cNvSpPr/>
          <p:nvPr/>
        </p:nvSpPr>
        <p:spPr>
          <a:xfrm>
            <a:off x="3269067" y="1783080"/>
            <a:ext cx="1154461" cy="754380"/>
          </a:xfrm>
          <a:prstGeom prst="roundRect">
            <a:avLst>
              <a:gd fmla="val 5455"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5" name="Google Shape;375;p36"/>
          <p:cNvSpPr/>
          <p:nvPr/>
        </p:nvSpPr>
        <p:spPr>
          <a:xfrm>
            <a:off x="3303358" y="1783080"/>
            <a:ext cx="1085879"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u="none" cap="none" strike="noStrike">
                <a:solidFill>
                  <a:srgbClr val="FFFFFF"/>
                </a:solidFill>
                <a:latin typeface="Calibri"/>
                <a:ea typeface="Calibri"/>
                <a:cs typeface="Calibri"/>
                <a:sym typeface="Calibri"/>
              </a:rPr>
              <a:t>Compare Reqs</a:t>
            </a:r>
            <a:endParaRPr b="0" i="0" u="none" cap="none" strike="noStrike">
              <a:solidFill>
                <a:schemeClr val="dk1"/>
              </a:solidFill>
              <a:latin typeface="Calibri"/>
              <a:ea typeface="Calibri"/>
              <a:cs typeface="Calibri"/>
              <a:sym typeface="Calibri"/>
            </a:endParaRPr>
          </a:p>
        </p:txBody>
      </p:sp>
      <p:sp>
        <p:nvSpPr>
          <p:cNvPr id="376" name="Google Shape;376;p36"/>
          <p:cNvSpPr/>
          <p:nvPr/>
        </p:nvSpPr>
        <p:spPr>
          <a:xfrm>
            <a:off x="4423528" y="1783080"/>
            <a:ext cx="274327"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u="none" cap="none" strike="noStrike">
                <a:solidFill>
                  <a:srgbClr val="D9822B"/>
                </a:solidFill>
                <a:latin typeface="Calibri"/>
                <a:ea typeface="Calibri"/>
                <a:cs typeface="Calibri"/>
                <a:sym typeface="Calibri"/>
              </a:rPr>
              <a:t>→</a:t>
            </a:r>
            <a:endParaRPr b="0" i="0" u="none" cap="none" strike="noStrike">
              <a:solidFill>
                <a:schemeClr val="dk1"/>
              </a:solidFill>
              <a:latin typeface="Calibri"/>
              <a:ea typeface="Calibri"/>
              <a:cs typeface="Calibri"/>
              <a:sym typeface="Calibri"/>
            </a:endParaRPr>
          </a:p>
        </p:txBody>
      </p:sp>
      <p:sp>
        <p:nvSpPr>
          <p:cNvPr id="377" name="Google Shape;377;p36"/>
          <p:cNvSpPr/>
          <p:nvPr/>
        </p:nvSpPr>
        <p:spPr>
          <a:xfrm>
            <a:off x="4697855" y="1783080"/>
            <a:ext cx="1154461" cy="754380"/>
          </a:xfrm>
          <a:prstGeom prst="roundRect">
            <a:avLst>
              <a:gd fmla="val 5455"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8" name="Google Shape;378;p36"/>
          <p:cNvSpPr/>
          <p:nvPr/>
        </p:nvSpPr>
        <p:spPr>
          <a:xfrm>
            <a:off x="4732146" y="1783080"/>
            <a:ext cx="1085879"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u="none" cap="none" strike="noStrike">
                <a:solidFill>
                  <a:srgbClr val="FFFFFF"/>
                </a:solidFill>
                <a:latin typeface="Calibri"/>
                <a:ea typeface="Calibri"/>
                <a:cs typeface="Calibri"/>
                <a:sym typeface="Calibri"/>
              </a:rPr>
              <a:t>ID Gaps</a:t>
            </a:r>
            <a:endParaRPr b="0" i="0" u="none" cap="none" strike="noStrike">
              <a:solidFill>
                <a:schemeClr val="dk1"/>
              </a:solidFill>
              <a:latin typeface="Calibri"/>
              <a:ea typeface="Calibri"/>
              <a:cs typeface="Calibri"/>
              <a:sym typeface="Calibri"/>
            </a:endParaRPr>
          </a:p>
        </p:txBody>
      </p:sp>
      <p:sp>
        <p:nvSpPr>
          <p:cNvPr id="379" name="Google Shape;379;p36"/>
          <p:cNvSpPr/>
          <p:nvPr/>
        </p:nvSpPr>
        <p:spPr>
          <a:xfrm>
            <a:off x="5852316" y="1783080"/>
            <a:ext cx="274327"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u="none" cap="none" strike="noStrike">
                <a:solidFill>
                  <a:srgbClr val="D9822B"/>
                </a:solidFill>
                <a:latin typeface="Calibri"/>
                <a:ea typeface="Calibri"/>
                <a:cs typeface="Calibri"/>
                <a:sym typeface="Calibri"/>
              </a:rPr>
              <a:t>→</a:t>
            </a:r>
            <a:endParaRPr b="0" i="0" u="none" cap="none" strike="noStrike">
              <a:solidFill>
                <a:schemeClr val="dk1"/>
              </a:solidFill>
              <a:latin typeface="Calibri"/>
              <a:ea typeface="Calibri"/>
              <a:cs typeface="Calibri"/>
              <a:sym typeface="Calibri"/>
            </a:endParaRPr>
          </a:p>
        </p:txBody>
      </p:sp>
      <p:sp>
        <p:nvSpPr>
          <p:cNvPr id="380" name="Google Shape;380;p36"/>
          <p:cNvSpPr/>
          <p:nvPr/>
        </p:nvSpPr>
        <p:spPr>
          <a:xfrm>
            <a:off x="6126643" y="1783080"/>
            <a:ext cx="1154461" cy="754380"/>
          </a:xfrm>
          <a:prstGeom prst="roundRect">
            <a:avLst>
              <a:gd fmla="val 5455"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1" name="Google Shape;381;p36"/>
          <p:cNvSpPr/>
          <p:nvPr/>
        </p:nvSpPr>
        <p:spPr>
          <a:xfrm>
            <a:off x="6160934" y="1783080"/>
            <a:ext cx="1085879"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u="none" cap="none" strike="noStrike">
                <a:solidFill>
                  <a:srgbClr val="FFFFFF"/>
                </a:solidFill>
                <a:latin typeface="Calibri"/>
                <a:ea typeface="Calibri"/>
                <a:cs typeface="Calibri"/>
                <a:sym typeface="Calibri"/>
              </a:rPr>
              <a:t>Summary</a:t>
            </a:r>
            <a:endParaRPr b="0" i="0" u="none" cap="none" strike="noStrike">
              <a:solidFill>
                <a:schemeClr val="dk1"/>
              </a:solidFill>
              <a:latin typeface="Calibri"/>
              <a:ea typeface="Calibri"/>
              <a:cs typeface="Calibri"/>
              <a:sym typeface="Calibri"/>
            </a:endParaRPr>
          </a:p>
        </p:txBody>
      </p:sp>
      <p:sp>
        <p:nvSpPr>
          <p:cNvPr id="382" name="Google Shape;382;p36"/>
          <p:cNvSpPr/>
          <p:nvPr/>
        </p:nvSpPr>
        <p:spPr>
          <a:xfrm>
            <a:off x="7281104" y="1783080"/>
            <a:ext cx="274327"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u="none" cap="none" strike="noStrike">
                <a:solidFill>
                  <a:srgbClr val="D9822B"/>
                </a:solidFill>
                <a:latin typeface="Calibri"/>
                <a:ea typeface="Calibri"/>
                <a:cs typeface="Calibri"/>
                <a:sym typeface="Calibri"/>
              </a:rPr>
              <a:t>→</a:t>
            </a:r>
            <a:endParaRPr b="0" i="0" u="none" cap="none" strike="noStrike">
              <a:solidFill>
                <a:schemeClr val="dk1"/>
              </a:solidFill>
              <a:latin typeface="Calibri"/>
              <a:ea typeface="Calibri"/>
              <a:cs typeface="Calibri"/>
              <a:sym typeface="Calibri"/>
            </a:endParaRPr>
          </a:p>
        </p:txBody>
      </p:sp>
      <p:sp>
        <p:nvSpPr>
          <p:cNvPr id="383" name="Google Shape;383;p36"/>
          <p:cNvSpPr/>
          <p:nvPr/>
        </p:nvSpPr>
        <p:spPr>
          <a:xfrm>
            <a:off x="7555431" y="1783080"/>
            <a:ext cx="1154461" cy="754380"/>
          </a:xfrm>
          <a:prstGeom prst="roundRect">
            <a:avLst>
              <a:gd fmla="val 5455"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4" name="Google Shape;384;p36"/>
          <p:cNvSpPr/>
          <p:nvPr/>
        </p:nvSpPr>
        <p:spPr>
          <a:xfrm>
            <a:off x="7589722" y="1783080"/>
            <a:ext cx="1085879"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u="none" cap="none" strike="noStrike">
                <a:solidFill>
                  <a:srgbClr val="FFFFFF"/>
                </a:solidFill>
                <a:latin typeface="Calibri"/>
                <a:ea typeface="Calibri"/>
                <a:cs typeface="Calibri"/>
                <a:sym typeface="Calibri"/>
              </a:rPr>
              <a:t>Human Review</a:t>
            </a:r>
            <a:endParaRPr b="0" i="0" u="none" cap="none" strike="noStrike">
              <a:solidFill>
                <a:schemeClr val="dk1"/>
              </a:solidFill>
              <a:latin typeface="Calibri"/>
              <a:ea typeface="Calibri"/>
              <a:cs typeface="Calibri"/>
              <a:sym typeface="Calibri"/>
            </a:endParaRPr>
          </a:p>
        </p:txBody>
      </p:sp>
      <p:sp>
        <p:nvSpPr>
          <p:cNvPr id="385" name="Google Shape;385;p36"/>
          <p:cNvSpPr/>
          <p:nvPr/>
        </p:nvSpPr>
        <p:spPr>
          <a:xfrm>
            <a:off x="411491" y="2743200"/>
            <a:ext cx="8298401" cy="685800"/>
          </a:xfrm>
          <a:prstGeom prst="roundRect">
            <a:avLst>
              <a:gd fmla="val 500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386" name="Google Shape;386;p36"/>
          <p:cNvSpPr/>
          <p:nvPr/>
        </p:nvSpPr>
        <p:spPr>
          <a:xfrm>
            <a:off x="603520" y="2811780"/>
            <a:ext cx="7914343" cy="54864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AI WORKFLOW</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A fixed sequence of steps, each one bounded and checkable, ending with a human in the loop. Predictable, auditable, and often all you need.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37"/>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PATTERN 6 · AGENTIC SYSTEM</a:t>
            </a:r>
            <a:endParaRPr b="0" i="0" sz="800" u="none" cap="none" strike="noStrike">
              <a:solidFill>
                <a:schemeClr val="dk1"/>
              </a:solidFill>
              <a:latin typeface="Calibri"/>
              <a:ea typeface="Calibri"/>
              <a:cs typeface="Calibri"/>
              <a:sym typeface="Calibri"/>
            </a:endParaRPr>
          </a:p>
        </p:txBody>
      </p:sp>
      <p:sp>
        <p:nvSpPr>
          <p:cNvPr id="393" name="Google Shape;393;p37"/>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Goals + Tools + State + Decisions</a:t>
            </a:r>
            <a:endParaRPr b="0" i="0" sz="2000" u="none" cap="none" strike="noStrike">
              <a:solidFill>
                <a:schemeClr val="dk1"/>
              </a:solidFill>
              <a:latin typeface="Calibri"/>
              <a:ea typeface="Calibri"/>
              <a:cs typeface="Calibri"/>
              <a:sym typeface="Calibri"/>
            </a:endParaRPr>
          </a:p>
        </p:txBody>
      </p:sp>
      <p:cxnSp>
        <p:nvCxnSpPr>
          <p:cNvPr id="394" name="Google Shape;394;p37"/>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395" name="Google Shape;395;p37"/>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396" name="Google Shape;396;p37"/>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18</a:t>
            </a:r>
            <a:endParaRPr b="0" i="0" sz="700" u="none" cap="none" strike="noStrike">
              <a:solidFill>
                <a:schemeClr val="dk1"/>
              </a:solidFill>
              <a:latin typeface="Calibri"/>
              <a:ea typeface="Calibri"/>
              <a:cs typeface="Calibri"/>
              <a:sym typeface="Calibri"/>
            </a:endParaRPr>
          </a:p>
        </p:txBody>
      </p:sp>
      <p:sp>
        <p:nvSpPr>
          <p:cNvPr id="397" name="Google Shape;397;p37"/>
          <p:cNvSpPr/>
          <p:nvPr/>
        </p:nvSpPr>
        <p:spPr>
          <a:xfrm>
            <a:off x="685818" y="1268730"/>
            <a:ext cx="7749747" cy="685800"/>
          </a:xfrm>
          <a:prstGeom prst="roundRect">
            <a:avLst>
              <a:gd fmla="val 8000"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8" name="Google Shape;398;p37"/>
          <p:cNvSpPr/>
          <p:nvPr/>
        </p:nvSpPr>
        <p:spPr>
          <a:xfrm>
            <a:off x="960146" y="1268730"/>
            <a:ext cx="7201092"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400"/>
              <a:buFont typeface="Cambria"/>
              <a:buNone/>
            </a:pPr>
            <a:r>
              <a:rPr b="1" i="1" lang="en" sz="1400" u="none" cap="none" strike="noStrike">
                <a:solidFill>
                  <a:srgbClr val="FFFFFF"/>
                </a:solidFill>
                <a:latin typeface="Cambria"/>
                <a:ea typeface="Cambria"/>
                <a:cs typeface="Cambria"/>
                <a:sym typeface="Cambria"/>
              </a:rPr>
              <a:t>“Investigate why our application deployment failed.”</a:t>
            </a:r>
            <a:endParaRPr b="0" i="0" sz="1400" u="none" cap="none" strike="noStrike">
              <a:solidFill>
                <a:schemeClr val="dk1"/>
              </a:solidFill>
              <a:latin typeface="Calibri"/>
              <a:ea typeface="Calibri"/>
              <a:cs typeface="Calibri"/>
              <a:sym typeface="Calibri"/>
            </a:endParaRPr>
          </a:p>
        </p:txBody>
      </p:sp>
      <p:sp>
        <p:nvSpPr>
          <p:cNvPr id="399" name="Google Shape;399;p37"/>
          <p:cNvSpPr/>
          <p:nvPr/>
        </p:nvSpPr>
        <p:spPr>
          <a:xfrm>
            <a:off x="411491" y="2057400"/>
            <a:ext cx="1154461" cy="72009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400" name="Google Shape;400;p37"/>
          <p:cNvSpPr/>
          <p:nvPr/>
        </p:nvSpPr>
        <p:spPr>
          <a:xfrm>
            <a:off x="445782" y="2057400"/>
            <a:ext cx="1085879"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200" u="none" cap="none" strike="noStrike">
                <a:solidFill>
                  <a:srgbClr val="FFFFFF"/>
                </a:solidFill>
                <a:latin typeface="Calibri"/>
                <a:ea typeface="Calibri"/>
                <a:cs typeface="Calibri"/>
                <a:sym typeface="Calibri"/>
              </a:rPr>
              <a:t>Inspect Logs</a:t>
            </a:r>
            <a:endParaRPr b="0" i="0" sz="1200" u="none" cap="none" strike="noStrike">
              <a:solidFill>
                <a:schemeClr val="dk1"/>
              </a:solidFill>
              <a:latin typeface="Calibri"/>
              <a:ea typeface="Calibri"/>
              <a:cs typeface="Calibri"/>
              <a:sym typeface="Calibri"/>
            </a:endParaRPr>
          </a:p>
        </p:txBody>
      </p:sp>
      <p:sp>
        <p:nvSpPr>
          <p:cNvPr id="401" name="Google Shape;401;p37"/>
          <p:cNvSpPr/>
          <p:nvPr/>
        </p:nvSpPr>
        <p:spPr>
          <a:xfrm>
            <a:off x="1565952" y="2057400"/>
            <a:ext cx="274327"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900" u="none" cap="none" strike="noStrike">
                <a:solidFill>
                  <a:srgbClr val="D9822B"/>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02" name="Google Shape;402;p37"/>
          <p:cNvSpPr/>
          <p:nvPr/>
        </p:nvSpPr>
        <p:spPr>
          <a:xfrm>
            <a:off x="1840279" y="2057400"/>
            <a:ext cx="1154461" cy="72009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403" name="Google Shape;403;p37"/>
          <p:cNvSpPr/>
          <p:nvPr/>
        </p:nvSpPr>
        <p:spPr>
          <a:xfrm>
            <a:off x="1874570" y="2057400"/>
            <a:ext cx="1085879"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200" u="none" cap="none" strike="noStrike">
                <a:solidFill>
                  <a:srgbClr val="FFFFFF"/>
                </a:solidFill>
                <a:latin typeface="Calibri"/>
                <a:ea typeface="Calibri"/>
                <a:cs typeface="Calibri"/>
                <a:sym typeface="Calibri"/>
              </a:rPr>
              <a:t>Inspect Deploy</a:t>
            </a:r>
            <a:endParaRPr b="0" i="0" sz="1200" u="none" cap="none" strike="noStrike">
              <a:solidFill>
                <a:schemeClr val="dk1"/>
              </a:solidFill>
              <a:latin typeface="Calibri"/>
              <a:ea typeface="Calibri"/>
              <a:cs typeface="Calibri"/>
              <a:sym typeface="Calibri"/>
            </a:endParaRPr>
          </a:p>
        </p:txBody>
      </p:sp>
      <p:sp>
        <p:nvSpPr>
          <p:cNvPr id="404" name="Google Shape;404;p37"/>
          <p:cNvSpPr/>
          <p:nvPr/>
        </p:nvSpPr>
        <p:spPr>
          <a:xfrm>
            <a:off x="2994740" y="2057400"/>
            <a:ext cx="274327"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900" u="none" cap="none" strike="noStrike">
                <a:solidFill>
                  <a:srgbClr val="D9822B"/>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05" name="Google Shape;405;p37"/>
          <p:cNvSpPr/>
          <p:nvPr/>
        </p:nvSpPr>
        <p:spPr>
          <a:xfrm>
            <a:off x="3269067" y="2057400"/>
            <a:ext cx="1154461" cy="72009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406" name="Google Shape;406;p37"/>
          <p:cNvSpPr/>
          <p:nvPr/>
        </p:nvSpPr>
        <p:spPr>
          <a:xfrm>
            <a:off x="3303358" y="2057400"/>
            <a:ext cx="1085879"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200" u="none" cap="none" strike="noStrike">
                <a:solidFill>
                  <a:srgbClr val="FFFFFF"/>
                </a:solidFill>
                <a:latin typeface="Calibri"/>
                <a:ea typeface="Calibri"/>
                <a:cs typeface="Calibri"/>
                <a:sym typeface="Calibri"/>
              </a:rPr>
              <a:t>Check Changes</a:t>
            </a:r>
            <a:endParaRPr b="0" i="0" sz="1200" u="none" cap="none" strike="noStrike">
              <a:solidFill>
                <a:schemeClr val="dk1"/>
              </a:solidFill>
              <a:latin typeface="Calibri"/>
              <a:ea typeface="Calibri"/>
              <a:cs typeface="Calibri"/>
              <a:sym typeface="Calibri"/>
            </a:endParaRPr>
          </a:p>
        </p:txBody>
      </p:sp>
      <p:sp>
        <p:nvSpPr>
          <p:cNvPr id="407" name="Google Shape;407;p37"/>
          <p:cNvSpPr/>
          <p:nvPr/>
        </p:nvSpPr>
        <p:spPr>
          <a:xfrm>
            <a:off x="4423528" y="2057400"/>
            <a:ext cx="274327"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900" u="none" cap="none" strike="noStrike">
                <a:solidFill>
                  <a:srgbClr val="D9822B"/>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08" name="Google Shape;408;p37"/>
          <p:cNvSpPr/>
          <p:nvPr/>
        </p:nvSpPr>
        <p:spPr>
          <a:xfrm>
            <a:off x="4697855" y="2057400"/>
            <a:ext cx="1154461" cy="72009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409" name="Google Shape;409;p37"/>
          <p:cNvSpPr/>
          <p:nvPr/>
        </p:nvSpPr>
        <p:spPr>
          <a:xfrm>
            <a:off x="4732146" y="2057400"/>
            <a:ext cx="1085879"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200" u="none" cap="none" strike="noStrike">
                <a:solidFill>
                  <a:srgbClr val="FFFFFF"/>
                </a:solidFill>
                <a:latin typeface="Calibri"/>
                <a:ea typeface="Calibri"/>
                <a:cs typeface="Calibri"/>
                <a:sym typeface="Calibri"/>
              </a:rPr>
              <a:t>Run Diagnostic</a:t>
            </a:r>
            <a:endParaRPr b="0" i="0" sz="1200" u="none" cap="none" strike="noStrike">
              <a:solidFill>
                <a:schemeClr val="dk1"/>
              </a:solidFill>
              <a:latin typeface="Calibri"/>
              <a:ea typeface="Calibri"/>
              <a:cs typeface="Calibri"/>
              <a:sym typeface="Calibri"/>
            </a:endParaRPr>
          </a:p>
        </p:txBody>
      </p:sp>
      <p:sp>
        <p:nvSpPr>
          <p:cNvPr id="410" name="Google Shape;410;p37"/>
          <p:cNvSpPr/>
          <p:nvPr/>
        </p:nvSpPr>
        <p:spPr>
          <a:xfrm>
            <a:off x="5852316" y="2057400"/>
            <a:ext cx="274327"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900" u="none" cap="none" strike="noStrike">
                <a:solidFill>
                  <a:srgbClr val="D9822B"/>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11" name="Google Shape;411;p37"/>
          <p:cNvSpPr/>
          <p:nvPr/>
        </p:nvSpPr>
        <p:spPr>
          <a:xfrm>
            <a:off x="6126643" y="2057400"/>
            <a:ext cx="1154461" cy="72009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412" name="Google Shape;412;p37"/>
          <p:cNvSpPr/>
          <p:nvPr/>
        </p:nvSpPr>
        <p:spPr>
          <a:xfrm>
            <a:off x="6160934" y="2057400"/>
            <a:ext cx="1085879"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200" u="none" cap="none" strike="noStrike">
                <a:solidFill>
                  <a:srgbClr val="FFFFFF"/>
                </a:solidFill>
                <a:latin typeface="Calibri"/>
                <a:ea typeface="Calibri"/>
                <a:cs typeface="Calibri"/>
                <a:sym typeface="Calibri"/>
              </a:rPr>
              <a:t>Reason</a:t>
            </a:r>
            <a:endParaRPr b="0" i="0" sz="1200" u="none" cap="none" strike="noStrike">
              <a:solidFill>
                <a:schemeClr val="dk1"/>
              </a:solidFill>
              <a:latin typeface="Calibri"/>
              <a:ea typeface="Calibri"/>
              <a:cs typeface="Calibri"/>
              <a:sym typeface="Calibri"/>
            </a:endParaRPr>
          </a:p>
        </p:txBody>
      </p:sp>
      <p:sp>
        <p:nvSpPr>
          <p:cNvPr id="413" name="Google Shape;413;p37"/>
          <p:cNvSpPr/>
          <p:nvPr/>
        </p:nvSpPr>
        <p:spPr>
          <a:xfrm>
            <a:off x="7281104" y="2057400"/>
            <a:ext cx="274327"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900" u="none" cap="none" strike="noStrike">
                <a:solidFill>
                  <a:srgbClr val="D9822B"/>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p:txBody>
      </p:sp>
      <p:sp>
        <p:nvSpPr>
          <p:cNvPr id="414" name="Google Shape;414;p37"/>
          <p:cNvSpPr/>
          <p:nvPr/>
        </p:nvSpPr>
        <p:spPr>
          <a:xfrm>
            <a:off x="7555431" y="2057400"/>
            <a:ext cx="1154461" cy="72009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800"/>
          </a:p>
        </p:txBody>
      </p:sp>
      <p:sp>
        <p:nvSpPr>
          <p:cNvPr id="415" name="Google Shape;415;p37"/>
          <p:cNvSpPr/>
          <p:nvPr/>
        </p:nvSpPr>
        <p:spPr>
          <a:xfrm>
            <a:off x="7589722" y="2057400"/>
            <a:ext cx="1085879" cy="7200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200" u="none" cap="none" strike="noStrike">
                <a:solidFill>
                  <a:srgbClr val="FFFFFF"/>
                </a:solidFill>
                <a:latin typeface="Calibri"/>
                <a:ea typeface="Calibri"/>
                <a:cs typeface="Calibri"/>
                <a:sym typeface="Calibri"/>
              </a:rPr>
              <a:t>Propose Action</a:t>
            </a:r>
            <a:endParaRPr b="0" i="0" sz="1200" u="none" cap="none" strike="noStrike">
              <a:solidFill>
                <a:schemeClr val="dk1"/>
              </a:solidFill>
              <a:latin typeface="Calibri"/>
              <a:ea typeface="Calibri"/>
              <a:cs typeface="Calibri"/>
              <a:sym typeface="Calibri"/>
            </a:endParaRPr>
          </a:p>
        </p:txBody>
      </p:sp>
      <p:sp>
        <p:nvSpPr>
          <p:cNvPr id="416" name="Google Shape;416;p37"/>
          <p:cNvSpPr/>
          <p:nvPr/>
        </p:nvSpPr>
        <p:spPr>
          <a:xfrm>
            <a:off x="411491" y="2948940"/>
            <a:ext cx="8298401" cy="274320"/>
          </a:xfrm>
          <a:prstGeom prst="rect">
            <a:avLst/>
          </a:prstGeom>
          <a:noFill/>
          <a:ln>
            <a:noFill/>
          </a:ln>
        </p:spPr>
        <p:txBody>
          <a:bodyPr anchorCtr="0" anchor="t" bIns="34275" lIns="68575" spcFirstLastPara="1" rIns="68575" wrap="square" tIns="34275">
            <a:noAutofit/>
          </a:bodyPr>
          <a:lstStyle/>
          <a:p>
            <a:pPr indent="-196850" lvl="0" marL="177800" marR="0" rtl="0" algn="l">
              <a:spcBef>
                <a:spcPts val="0"/>
              </a:spcBef>
              <a:spcAft>
                <a:spcPts val="0"/>
              </a:spcAft>
              <a:buClr>
                <a:srgbClr val="13293D"/>
              </a:buClr>
              <a:buSzPts val="1300"/>
              <a:buFont typeface="Calibri"/>
              <a:buChar char="•"/>
            </a:pPr>
            <a:r>
              <a:rPr b="1" i="0" lang="en" sz="1300" u="none" cap="none" strike="noStrike">
                <a:solidFill>
                  <a:srgbClr val="13293D"/>
                </a:solidFill>
                <a:latin typeface="Calibri"/>
                <a:ea typeface="Calibri"/>
                <a:cs typeface="Calibri"/>
                <a:sym typeface="Calibri"/>
              </a:rPr>
              <a:t>An agent isn't simply a chatbot that talks more.</a:t>
            </a:r>
            <a:endParaRPr b="0" i="0" sz="1300" u="none" cap="none" strike="noStrike">
              <a:solidFill>
                <a:schemeClr val="dk1"/>
              </a:solidFill>
              <a:latin typeface="Calibri"/>
              <a:ea typeface="Calibri"/>
              <a:cs typeface="Calibri"/>
              <a:sym typeface="Calibri"/>
            </a:endParaRPr>
          </a:p>
        </p:txBody>
      </p:sp>
      <p:sp>
        <p:nvSpPr>
          <p:cNvPr id="417" name="Google Shape;417;p37"/>
          <p:cNvSpPr/>
          <p:nvPr/>
        </p:nvSpPr>
        <p:spPr>
          <a:xfrm>
            <a:off x="411491" y="3257550"/>
            <a:ext cx="8298401" cy="720090"/>
          </a:xfrm>
          <a:prstGeom prst="roundRect">
            <a:avLst>
              <a:gd fmla="val 4762"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18" name="Google Shape;418;p37"/>
          <p:cNvSpPr/>
          <p:nvPr/>
        </p:nvSpPr>
        <p:spPr>
          <a:xfrm>
            <a:off x="603520" y="3326130"/>
            <a:ext cx="7914343" cy="58293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IMPORTANT PRINCIPLE</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Don't use an agent when a deterministic workflow is enough. That principle will matter later, when it's tempting to reach for an agent by default.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423" name="Shape 423"/>
        <p:cNvGrpSpPr/>
        <p:nvPr/>
      </p:nvGrpSpPr>
      <p:grpSpPr>
        <a:xfrm>
          <a:off x="0" y="0"/>
          <a:ext cx="0" cy="0"/>
          <a:chOff x="0" y="0"/>
          <a:chExt cx="0" cy="0"/>
        </a:xfrm>
      </p:grpSpPr>
      <p:sp>
        <p:nvSpPr>
          <p:cNvPr id="424" name="Google Shape;424;p38"/>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5" name="Google Shape;425;p38"/>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4</a:t>
            </a:r>
            <a:endParaRPr b="0" i="0" sz="4100" u="none" cap="none" strike="noStrike">
              <a:solidFill>
                <a:schemeClr val="dk1"/>
              </a:solidFill>
              <a:latin typeface="Calibri"/>
              <a:ea typeface="Calibri"/>
              <a:cs typeface="Calibri"/>
              <a:sym typeface="Calibri"/>
            </a:endParaRPr>
          </a:p>
        </p:txBody>
      </p:sp>
      <p:sp>
        <p:nvSpPr>
          <p:cNvPr id="426" name="Google Shape;426;p38"/>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4</a:t>
            </a:r>
            <a:endParaRPr b="0" i="0" sz="1100" u="none" cap="none" strike="noStrike">
              <a:solidFill>
                <a:schemeClr val="dk1"/>
              </a:solidFill>
              <a:latin typeface="Calibri"/>
              <a:ea typeface="Calibri"/>
              <a:cs typeface="Calibri"/>
              <a:sym typeface="Calibri"/>
            </a:endParaRPr>
          </a:p>
        </p:txBody>
      </p:sp>
      <p:sp>
        <p:nvSpPr>
          <p:cNvPr id="427" name="Google Shape;427;p38"/>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What Makes AI Software Production-Ready?</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2" name="Shape 432"/>
        <p:cNvGrpSpPr/>
        <p:nvPr/>
      </p:nvGrpSpPr>
      <p:grpSpPr>
        <a:xfrm>
          <a:off x="0" y="0"/>
          <a:ext cx="0" cy="0"/>
          <a:chOff x="0" y="0"/>
          <a:chExt cx="0" cy="0"/>
        </a:xfrm>
      </p:grpSpPr>
      <p:sp>
        <p:nvSpPr>
          <p:cNvPr id="433" name="Google Shape;433;p39"/>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4 · THE BIG PICTURE</a:t>
            </a:r>
            <a:endParaRPr b="0" i="0" sz="800" u="none" cap="none" strike="noStrike">
              <a:solidFill>
                <a:schemeClr val="dk1"/>
              </a:solidFill>
              <a:latin typeface="Calibri"/>
              <a:ea typeface="Calibri"/>
              <a:cs typeface="Calibri"/>
              <a:sym typeface="Calibri"/>
            </a:endParaRPr>
          </a:p>
        </p:txBody>
      </p:sp>
      <p:sp>
        <p:nvSpPr>
          <p:cNvPr id="434" name="Google Shape;434;p39"/>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Prototype vs. Production AI System</a:t>
            </a:r>
            <a:endParaRPr b="0" i="0" sz="2000" u="none" cap="none" strike="noStrike">
              <a:solidFill>
                <a:schemeClr val="dk1"/>
              </a:solidFill>
              <a:latin typeface="Calibri"/>
              <a:ea typeface="Calibri"/>
              <a:cs typeface="Calibri"/>
              <a:sym typeface="Calibri"/>
            </a:endParaRPr>
          </a:p>
        </p:txBody>
      </p:sp>
      <p:cxnSp>
        <p:nvCxnSpPr>
          <p:cNvPr id="435" name="Google Shape;435;p39"/>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436" name="Google Shape;436;p39"/>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437" name="Google Shape;437;p39"/>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19</a:t>
            </a:r>
            <a:endParaRPr b="0" i="0" sz="700" u="none" cap="none" strike="noStrike">
              <a:solidFill>
                <a:schemeClr val="dk1"/>
              </a:solidFill>
              <a:latin typeface="Calibri"/>
              <a:ea typeface="Calibri"/>
              <a:cs typeface="Calibri"/>
              <a:sym typeface="Calibri"/>
            </a:endParaRPr>
          </a:p>
        </p:txBody>
      </p:sp>
      <p:sp>
        <p:nvSpPr>
          <p:cNvPr id="438" name="Google Shape;438;p39"/>
          <p:cNvSpPr/>
          <p:nvPr/>
        </p:nvSpPr>
        <p:spPr>
          <a:xfrm>
            <a:off x="411500" y="1028699"/>
            <a:ext cx="4046400" cy="3394800"/>
          </a:xfrm>
          <a:prstGeom prst="roundRect">
            <a:avLst>
              <a:gd fmla="val 1087" name="adj"/>
            </a:avLst>
          </a:prstGeom>
          <a:solidFill>
            <a:srgbClr val="F7F9FB"/>
          </a:solidFill>
          <a:ln cap="flat" cmpd="sng" w="12700">
            <a:solidFill>
              <a:srgbClr val="D3DD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39"/>
          <p:cNvSpPr/>
          <p:nvPr/>
        </p:nvSpPr>
        <p:spPr>
          <a:xfrm>
            <a:off x="4697855" y="1028699"/>
            <a:ext cx="4046400" cy="3394800"/>
          </a:xfrm>
          <a:prstGeom prst="roundRect">
            <a:avLst>
              <a:gd fmla="val 1087" name="adj"/>
            </a:avLst>
          </a:prstGeom>
          <a:solidFill>
            <a:srgbClr val="D6E4F0"/>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0" name="Google Shape;440;p39"/>
          <p:cNvSpPr/>
          <p:nvPr/>
        </p:nvSpPr>
        <p:spPr>
          <a:xfrm>
            <a:off x="582946" y="1066800"/>
            <a:ext cx="37035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1300"/>
              <a:buFont typeface="Cambria"/>
              <a:buNone/>
            </a:pPr>
            <a:r>
              <a:rPr b="1" i="0" lang="en" sz="1300" u="none" cap="none" strike="noStrike">
                <a:solidFill>
                  <a:srgbClr val="0B2545"/>
                </a:solidFill>
                <a:latin typeface="Cambria"/>
                <a:ea typeface="Cambria"/>
                <a:cs typeface="Cambria"/>
                <a:sym typeface="Cambria"/>
              </a:rPr>
              <a:t>Prototype</a:t>
            </a:r>
            <a:endParaRPr b="0" i="0" sz="1300" u="none" cap="none" strike="noStrike">
              <a:solidFill>
                <a:schemeClr val="dk1"/>
              </a:solidFill>
              <a:latin typeface="Calibri"/>
              <a:ea typeface="Calibri"/>
              <a:cs typeface="Calibri"/>
              <a:sym typeface="Calibri"/>
            </a:endParaRPr>
          </a:p>
        </p:txBody>
      </p:sp>
      <p:sp>
        <p:nvSpPr>
          <p:cNvPr id="441" name="Google Shape;441;p39"/>
          <p:cNvSpPr/>
          <p:nvPr/>
        </p:nvSpPr>
        <p:spPr>
          <a:xfrm>
            <a:off x="4869310" y="1066800"/>
            <a:ext cx="3703500" cy="30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1300"/>
              <a:buFont typeface="Cambria"/>
              <a:buNone/>
            </a:pPr>
            <a:r>
              <a:rPr b="1" i="0" lang="en" sz="1300" u="none" cap="none" strike="noStrike">
                <a:solidFill>
                  <a:srgbClr val="0B2545"/>
                </a:solidFill>
                <a:latin typeface="Cambria"/>
                <a:ea typeface="Cambria"/>
                <a:cs typeface="Cambria"/>
                <a:sym typeface="Cambria"/>
              </a:rPr>
              <a:t>Production AI System</a:t>
            </a:r>
            <a:endParaRPr b="0" i="0" sz="1300" u="none" cap="none" strike="noStrike">
              <a:solidFill>
                <a:schemeClr val="dk1"/>
              </a:solidFill>
              <a:latin typeface="Calibri"/>
              <a:ea typeface="Calibri"/>
              <a:cs typeface="Calibri"/>
              <a:sym typeface="Calibri"/>
            </a:endParaRPr>
          </a:p>
        </p:txBody>
      </p:sp>
      <p:sp>
        <p:nvSpPr>
          <p:cNvPr id="442" name="Google Shape;442;p39"/>
          <p:cNvSpPr/>
          <p:nvPr/>
        </p:nvSpPr>
        <p:spPr>
          <a:xfrm>
            <a:off x="582946" y="1409700"/>
            <a:ext cx="3703500" cy="2571900"/>
          </a:xfrm>
          <a:prstGeom prst="rect">
            <a:avLst/>
          </a:prstGeom>
          <a:noFill/>
          <a:ln>
            <a:noFill/>
          </a:ln>
        </p:spPr>
        <p:txBody>
          <a:bodyPr anchorCtr="0" anchor="t" bIns="34275" lIns="68575" spcFirstLastPara="1" rIns="68575" wrap="square" tIns="34275">
            <a:noAutofit/>
          </a:bodyPr>
          <a:lstStyle/>
          <a:p>
            <a:pPr indent="-203200" lvl="0" marL="177800" marR="0" rtl="0" algn="l">
              <a:spcBef>
                <a:spcPts val="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Prompt</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Model</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UI</a:t>
            </a:r>
            <a:endParaRPr b="0" i="0" u="none" cap="none" strike="noStrike">
              <a:solidFill>
                <a:schemeClr val="dk1"/>
              </a:solidFill>
              <a:latin typeface="Calibri"/>
              <a:ea typeface="Calibri"/>
              <a:cs typeface="Calibri"/>
              <a:sym typeface="Calibri"/>
            </a:endParaRPr>
          </a:p>
        </p:txBody>
      </p:sp>
      <p:sp>
        <p:nvSpPr>
          <p:cNvPr id="443" name="Google Shape;443;p39"/>
          <p:cNvSpPr/>
          <p:nvPr/>
        </p:nvSpPr>
        <p:spPr>
          <a:xfrm>
            <a:off x="4869305" y="1409700"/>
            <a:ext cx="1790100" cy="2571900"/>
          </a:xfrm>
          <a:prstGeom prst="rect">
            <a:avLst/>
          </a:prstGeom>
          <a:noFill/>
          <a:ln>
            <a:noFill/>
          </a:ln>
        </p:spPr>
        <p:txBody>
          <a:bodyPr anchorCtr="0" anchor="t" bIns="34275" lIns="68575" spcFirstLastPara="1" rIns="68575" wrap="square" tIns="34275">
            <a:noAutofit/>
          </a:bodyPr>
          <a:lstStyle/>
          <a:p>
            <a:pPr indent="-203200" lvl="0" marL="177800" marR="0" rtl="0" algn="l">
              <a:spcBef>
                <a:spcPts val="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Application</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AI model</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Context / data</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Retrieval</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Tools</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Evaluation</a:t>
            </a:r>
            <a:endParaRPr>
              <a:solidFill>
                <a:srgbClr val="13293D"/>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lang="en">
                <a:solidFill>
                  <a:srgbClr val="13293D"/>
                </a:solidFill>
                <a:latin typeface="Calibri"/>
                <a:ea typeface="Calibri"/>
                <a:cs typeface="Calibri"/>
                <a:sym typeface="Calibri"/>
              </a:rPr>
              <a:t>Security</a:t>
            </a:r>
            <a:endParaRPr>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lang="en">
                <a:solidFill>
                  <a:srgbClr val="13293D"/>
                </a:solidFill>
                <a:latin typeface="Calibri"/>
                <a:ea typeface="Calibri"/>
                <a:cs typeface="Calibri"/>
                <a:sym typeface="Calibri"/>
              </a:rPr>
              <a:t>Guardrails (input, output, behavioral)</a:t>
            </a:r>
            <a:endParaRPr>
              <a:solidFill>
                <a:srgbClr val="13293D"/>
              </a:solidFill>
              <a:latin typeface="Calibri"/>
              <a:ea typeface="Calibri"/>
              <a:cs typeface="Calibri"/>
              <a:sym typeface="Calibri"/>
            </a:endParaRPr>
          </a:p>
          <a:p>
            <a:pPr indent="0" lvl="0" marL="0" marR="0" rtl="0" algn="l">
              <a:spcBef>
                <a:spcPts val="500"/>
              </a:spcBef>
              <a:spcAft>
                <a:spcPts val="0"/>
              </a:spcAft>
              <a:buNone/>
            </a:pPr>
            <a:r>
              <a:t/>
            </a:r>
            <a:endParaRPr b="0" i="0" u="none" cap="none" strike="noStrike">
              <a:solidFill>
                <a:schemeClr val="dk1"/>
              </a:solidFill>
              <a:latin typeface="Calibri"/>
              <a:ea typeface="Calibri"/>
              <a:cs typeface="Calibri"/>
              <a:sym typeface="Calibri"/>
            </a:endParaRPr>
          </a:p>
        </p:txBody>
      </p:sp>
      <p:sp>
        <p:nvSpPr>
          <p:cNvPr id="444" name="Google Shape;444;p39"/>
          <p:cNvSpPr/>
          <p:nvPr/>
        </p:nvSpPr>
        <p:spPr>
          <a:xfrm>
            <a:off x="6838680" y="1409700"/>
            <a:ext cx="1790100" cy="2571900"/>
          </a:xfrm>
          <a:prstGeom prst="rect">
            <a:avLst/>
          </a:prstGeom>
          <a:noFill/>
          <a:ln>
            <a:noFill/>
          </a:ln>
        </p:spPr>
        <p:txBody>
          <a:bodyPr anchorCtr="0" anchor="t" bIns="34275" lIns="68575" spcFirstLastPara="1" rIns="68575" wrap="square" tIns="34275">
            <a:noAutofit/>
          </a:bodyPr>
          <a:lstStyle/>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Observability</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Cost management</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Deployment</a:t>
            </a:r>
            <a:endParaRPr b="0" i="0" u="none" cap="none" strike="noStrike">
              <a:solidFill>
                <a:schemeClr val="dk1"/>
              </a:solidFill>
              <a:latin typeface="Calibri"/>
              <a:ea typeface="Calibri"/>
              <a:cs typeface="Calibri"/>
              <a:sym typeface="Calibri"/>
            </a:endParaRPr>
          </a:p>
          <a:p>
            <a:pPr indent="-203200" lvl="0" marL="177800" marR="0" rtl="0" algn="l">
              <a:spcBef>
                <a:spcPts val="5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Human oversight</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40"/>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4 · WHY THIS MATTERS NOW</a:t>
            </a:r>
            <a:endParaRPr b="0" i="0" sz="800" u="none" cap="none" strike="noStrike">
              <a:solidFill>
                <a:schemeClr val="dk1"/>
              </a:solidFill>
              <a:latin typeface="Calibri"/>
              <a:ea typeface="Calibri"/>
              <a:cs typeface="Calibri"/>
              <a:sym typeface="Calibri"/>
            </a:endParaRPr>
          </a:p>
        </p:txBody>
      </p:sp>
      <p:sp>
        <p:nvSpPr>
          <p:cNvPr id="451" name="Google Shape;451;p40"/>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This Is the Rest of the Course</a:t>
            </a:r>
            <a:endParaRPr b="0" i="0" sz="2000" u="none" cap="none" strike="noStrike">
              <a:solidFill>
                <a:schemeClr val="dk1"/>
              </a:solidFill>
              <a:latin typeface="Calibri"/>
              <a:ea typeface="Calibri"/>
              <a:cs typeface="Calibri"/>
              <a:sym typeface="Calibri"/>
            </a:endParaRPr>
          </a:p>
        </p:txBody>
      </p:sp>
      <p:cxnSp>
        <p:nvCxnSpPr>
          <p:cNvPr id="452" name="Google Shape;452;p40"/>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453" name="Google Shape;453;p40"/>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454" name="Google Shape;454;p40"/>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20</a:t>
            </a:r>
            <a:endParaRPr b="0" i="0" sz="700" u="none" cap="none" strike="noStrike">
              <a:solidFill>
                <a:schemeClr val="dk1"/>
              </a:solidFill>
              <a:latin typeface="Calibri"/>
              <a:ea typeface="Calibri"/>
              <a:cs typeface="Calibri"/>
              <a:sym typeface="Calibri"/>
            </a:endParaRPr>
          </a:p>
        </p:txBody>
      </p:sp>
      <p:sp>
        <p:nvSpPr>
          <p:cNvPr id="455" name="Google Shape;455;p40"/>
          <p:cNvSpPr/>
          <p:nvPr/>
        </p:nvSpPr>
        <p:spPr>
          <a:xfrm>
            <a:off x="685818" y="1577340"/>
            <a:ext cx="7749747" cy="96012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6" name="Google Shape;456;p40"/>
          <p:cNvSpPr/>
          <p:nvPr/>
        </p:nvSpPr>
        <p:spPr>
          <a:xfrm>
            <a:off x="960146" y="1577340"/>
            <a:ext cx="7201092" cy="9601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600"/>
              <a:buFont typeface="Cambria"/>
              <a:buNone/>
            </a:pPr>
            <a:r>
              <a:rPr b="1" i="1" lang="en" sz="1600" u="none" cap="none" strike="noStrike">
                <a:solidFill>
                  <a:srgbClr val="FFFFFF"/>
                </a:solidFill>
                <a:latin typeface="Cambria"/>
                <a:ea typeface="Cambria"/>
                <a:cs typeface="Cambria"/>
                <a:sym typeface="Cambria"/>
              </a:rPr>
              <a:t>These are the things we're going to learn throughout the rest of the course.</a:t>
            </a:r>
            <a:endParaRPr b="0" i="0" sz="1600" u="none" cap="none" strike="noStrike">
              <a:solidFill>
                <a:schemeClr val="dk1"/>
              </a:solidFill>
              <a:latin typeface="Calibri"/>
              <a:ea typeface="Calibri"/>
              <a:cs typeface="Calibri"/>
              <a:sym typeface="Calibri"/>
            </a:endParaRPr>
          </a:p>
        </p:txBody>
      </p:sp>
      <p:sp>
        <p:nvSpPr>
          <p:cNvPr id="457" name="Google Shape;457;p40"/>
          <p:cNvSpPr/>
          <p:nvPr/>
        </p:nvSpPr>
        <p:spPr>
          <a:xfrm>
            <a:off x="685825" y="2811775"/>
            <a:ext cx="7749900" cy="1097400"/>
          </a:xfrm>
          <a:prstGeom prst="rect">
            <a:avLst/>
          </a:prstGeom>
          <a:noFill/>
          <a:ln>
            <a:noFill/>
          </a:ln>
        </p:spPr>
        <p:txBody>
          <a:bodyPr anchorCtr="0" anchor="t" bIns="34275" lIns="68575" spcFirstLastPara="1" rIns="68575" wrap="square" tIns="34275">
            <a:noAutofit/>
          </a:bodyPr>
          <a:lstStyle/>
          <a:p>
            <a:pPr indent="-190500" lvl="0" marL="177800" marR="0" rtl="0" algn="l">
              <a:spcBef>
                <a:spcPts val="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Every item on the right-hand list from the last slide becomes a later week.</a:t>
            </a:r>
            <a:endParaRPr b="0" i="0" u="none" cap="none" strike="noStrike">
              <a:solidFill>
                <a:schemeClr val="dk1"/>
              </a:solidFill>
              <a:latin typeface="Calibri"/>
              <a:ea typeface="Calibri"/>
              <a:cs typeface="Calibri"/>
              <a:sym typeface="Calibri"/>
            </a:endParaRPr>
          </a:p>
          <a:p>
            <a:pPr indent="-190500" lvl="0" marL="177800" marR="0" rtl="0" algn="l">
              <a:spcBef>
                <a:spcPts val="7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You don't need to master any of them today. You need to recognize them when you see them in your own capstone.</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462" name="Shape 462"/>
        <p:cNvGrpSpPr/>
        <p:nvPr/>
      </p:nvGrpSpPr>
      <p:grpSpPr>
        <a:xfrm>
          <a:off x="0" y="0"/>
          <a:ext cx="0" cy="0"/>
          <a:chOff x="0" y="0"/>
          <a:chExt cx="0" cy="0"/>
        </a:xfrm>
      </p:grpSpPr>
      <p:sp>
        <p:nvSpPr>
          <p:cNvPr id="463" name="Google Shape;463;p41"/>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4" name="Google Shape;464;p41"/>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5</a:t>
            </a:r>
            <a:endParaRPr b="0" i="0" sz="4100" u="none" cap="none" strike="noStrike">
              <a:solidFill>
                <a:schemeClr val="dk1"/>
              </a:solidFill>
              <a:latin typeface="Calibri"/>
              <a:ea typeface="Calibri"/>
              <a:cs typeface="Calibri"/>
              <a:sym typeface="Calibri"/>
            </a:endParaRPr>
          </a:p>
        </p:txBody>
      </p:sp>
      <p:sp>
        <p:nvSpPr>
          <p:cNvPr id="465" name="Google Shape;465;p41"/>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5</a:t>
            </a:r>
            <a:endParaRPr b="0" i="0" sz="1100" u="none" cap="none" strike="noStrike">
              <a:solidFill>
                <a:schemeClr val="dk1"/>
              </a:solidFill>
              <a:latin typeface="Calibri"/>
              <a:ea typeface="Calibri"/>
              <a:cs typeface="Calibri"/>
              <a:sym typeface="Calibri"/>
            </a:endParaRPr>
          </a:p>
        </p:txBody>
      </p:sp>
      <p:sp>
        <p:nvSpPr>
          <p:cNvPr id="466" name="Google Shape;466;p41"/>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AI Across the Software Development Lifecycle</a:t>
            </a:r>
            <a:endParaRPr b="0" i="0" sz="2400" u="none" cap="none" strike="noStrike">
              <a:solidFill>
                <a:schemeClr val="dk1"/>
              </a:solidFill>
              <a:latin typeface="Calibri"/>
              <a:ea typeface="Calibri"/>
              <a:cs typeface="Calibri"/>
              <a:sym typeface="Calibri"/>
            </a:endParaRPr>
          </a:p>
        </p:txBody>
      </p:sp>
      <p:sp>
        <p:nvSpPr>
          <p:cNvPr id="467" name="Google Shape;467;p41"/>
          <p:cNvSpPr/>
          <p:nvPr/>
        </p:nvSpPr>
        <p:spPr>
          <a:xfrm>
            <a:off x="1748837" y="2571750"/>
            <a:ext cx="6858183"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300"/>
              <a:buFont typeface="Cambria"/>
              <a:buNone/>
            </a:pPr>
            <a:r>
              <a:rPr b="0" i="1" lang="en" sz="1300" u="none" cap="none" strike="noStrike">
                <a:solidFill>
                  <a:srgbClr val="8DA9C4"/>
                </a:solidFill>
                <a:latin typeface="Cambria"/>
                <a:ea typeface="Cambria"/>
                <a:cs typeface="Cambria"/>
                <a:sym typeface="Cambria"/>
              </a:rPr>
              <a:t>AI helping engineering itself, not just the product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42"/>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5 · A DIFFERENT ANGLE</a:t>
            </a:r>
            <a:endParaRPr b="0" i="0" sz="800" u="none" cap="none" strike="noStrike">
              <a:solidFill>
                <a:schemeClr val="dk1"/>
              </a:solidFill>
              <a:latin typeface="Calibri"/>
              <a:ea typeface="Calibri"/>
              <a:cs typeface="Calibri"/>
              <a:sym typeface="Calibri"/>
            </a:endParaRPr>
          </a:p>
        </p:txBody>
      </p:sp>
      <p:sp>
        <p:nvSpPr>
          <p:cNvPr id="474" name="Google Shape;474;p42"/>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AI Can Assist Engineering, Not Just the Product</a:t>
            </a:r>
            <a:endParaRPr b="0" i="0" sz="2000" u="none" cap="none" strike="noStrike">
              <a:solidFill>
                <a:schemeClr val="dk1"/>
              </a:solidFill>
              <a:latin typeface="Calibri"/>
              <a:ea typeface="Calibri"/>
              <a:cs typeface="Calibri"/>
              <a:sym typeface="Calibri"/>
            </a:endParaRPr>
          </a:p>
        </p:txBody>
      </p:sp>
      <p:cxnSp>
        <p:nvCxnSpPr>
          <p:cNvPr id="475" name="Google Shape;475;p42"/>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476" name="Google Shape;476;p42"/>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477" name="Google Shape;477;p42"/>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21</a:t>
            </a:r>
            <a:endParaRPr b="0" i="0" sz="700" u="none" cap="none" strike="noStrike">
              <a:solidFill>
                <a:schemeClr val="dk1"/>
              </a:solidFill>
              <a:latin typeface="Calibri"/>
              <a:ea typeface="Calibri"/>
              <a:cs typeface="Calibri"/>
              <a:sym typeface="Calibri"/>
            </a:endParaRPr>
          </a:p>
        </p:txBody>
      </p:sp>
      <p:sp>
        <p:nvSpPr>
          <p:cNvPr id="478" name="Google Shape;478;p42"/>
          <p:cNvSpPr/>
          <p:nvPr/>
        </p:nvSpPr>
        <p:spPr>
          <a:xfrm>
            <a:off x="411491" y="1371600"/>
            <a:ext cx="950348" cy="582930"/>
          </a:xfrm>
          <a:prstGeom prst="roundRect">
            <a:avLst>
              <a:gd fmla="val 7059"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79" name="Google Shape;479;p42"/>
          <p:cNvSpPr/>
          <p:nvPr/>
        </p:nvSpPr>
        <p:spPr>
          <a:xfrm>
            <a:off x="445782" y="1371600"/>
            <a:ext cx="881766"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000" u="none" cap="none" strike="noStrike">
                <a:solidFill>
                  <a:srgbClr val="FFFFFF"/>
                </a:solidFill>
                <a:latin typeface="Calibri"/>
                <a:ea typeface="Calibri"/>
                <a:cs typeface="Calibri"/>
                <a:sym typeface="Calibri"/>
              </a:rPr>
              <a:t>Requirements</a:t>
            </a:r>
            <a:endParaRPr b="0" i="0" sz="1000" u="none" cap="none" strike="noStrike">
              <a:solidFill>
                <a:schemeClr val="dk1"/>
              </a:solidFill>
              <a:latin typeface="Calibri"/>
              <a:ea typeface="Calibri"/>
              <a:cs typeface="Calibri"/>
              <a:sym typeface="Calibri"/>
            </a:endParaRPr>
          </a:p>
        </p:txBody>
      </p:sp>
      <p:sp>
        <p:nvSpPr>
          <p:cNvPr id="480" name="Google Shape;480;p42"/>
          <p:cNvSpPr/>
          <p:nvPr/>
        </p:nvSpPr>
        <p:spPr>
          <a:xfrm>
            <a:off x="1361839" y="1371600"/>
            <a:ext cx="274327"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700" u="none" cap="none" strike="noStrike">
                <a:solidFill>
                  <a:srgbClr val="D9822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81" name="Google Shape;481;p42"/>
          <p:cNvSpPr/>
          <p:nvPr/>
        </p:nvSpPr>
        <p:spPr>
          <a:xfrm>
            <a:off x="1636166" y="1371600"/>
            <a:ext cx="950348" cy="582930"/>
          </a:xfrm>
          <a:prstGeom prst="roundRect">
            <a:avLst>
              <a:gd fmla="val 7059"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82" name="Google Shape;482;p42"/>
          <p:cNvSpPr/>
          <p:nvPr/>
        </p:nvSpPr>
        <p:spPr>
          <a:xfrm>
            <a:off x="1670457" y="1371600"/>
            <a:ext cx="881766"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000" u="none" cap="none" strike="noStrike">
                <a:solidFill>
                  <a:srgbClr val="FFFFFF"/>
                </a:solidFill>
                <a:latin typeface="Calibri"/>
                <a:ea typeface="Calibri"/>
                <a:cs typeface="Calibri"/>
                <a:sym typeface="Calibri"/>
              </a:rPr>
              <a:t>Design</a:t>
            </a:r>
            <a:endParaRPr b="0" i="0" sz="1000" u="none" cap="none" strike="noStrike">
              <a:solidFill>
                <a:schemeClr val="dk1"/>
              </a:solidFill>
              <a:latin typeface="Calibri"/>
              <a:ea typeface="Calibri"/>
              <a:cs typeface="Calibri"/>
              <a:sym typeface="Calibri"/>
            </a:endParaRPr>
          </a:p>
        </p:txBody>
      </p:sp>
      <p:sp>
        <p:nvSpPr>
          <p:cNvPr id="483" name="Google Shape;483;p42"/>
          <p:cNvSpPr/>
          <p:nvPr/>
        </p:nvSpPr>
        <p:spPr>
          <a:xfrm>
            <a:off x="2586514" y="1371600"/>
            <a:ext cx="274327"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700" u="none" cap="none" strike="noStrike">
                <a:solidFill>
                  <a:srgbClr val="D9822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84" name="Google Shape;484;p42"/>
          <p:cNvSpPr/>
          <p:nvPr/>
        </p:nvSpPr>
        <p:spPr>
          <a:xfrm>
            <a:off x="2860842" y="1371600"/>
            <a:ext cx="950348" cy="582930"/>
          </a:xfrm>
          <a:prstGeom prst="roundRect">
            <a:avLst>
              <a:gd fmla="val 7059"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85" name="Google Shape;485;p42"/>
          <p:cNvSpPr/>
          <p:nvPr/>
        </p:nvSpPr>
        <p:spPr>
          <a:xfrm>
            <a:off x="2895133" y="1371600"/>
            <a:ext cx="881766"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000" u="none" cap="none" strike="noStrike">
                <a:solidFill>
                  <a:srgbClr val="FFFFFF"/>
                </a:solidFill>
                <a:latin typeface="Calibri"/>
                <a:ea typeface="Calibri"/>
                <a:cs typeface="Calibri"/>
                <a:sym typeface="Calibri"/>
              </a:rPr>
              <a:t>Development</a:t>
            </a:r>
            <a:endParaRPr b="0" i="0" sz="1000" u="none" cap="none" strike="noStrike">
              <a:solidFill>
                <a:schemeClr val="dk1"/>
              </a:solidFill>
              <a:latin typeface="Calibri"/>
              <a:ea typeface="Calibri"/>
              <a:cs typeface="Calibri"/>
              <a:sym typeface="Calibri"/>
            </a:endParaRPr>
          </a:p>
        </p:txBody>
      </p:sp>
      <p:sp>
        <p:nvSpPr>
          <p:cNvPr id="486" name="Google Shape;486;p42"/>
          <p:cNvSpPr/>
          <p:nvPr/>
        </p:nvSpPr>
        <p:spPr>
          <a:xfrm>
            <a:off x="3811190" y="1371600"/>
            <a:ext cx="274327"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700" u="none" cap="none" strike="noStrike">
                <a:solidFill>
                  <a:srgbClr val="D9822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87" name="Google Shape;487;p42"/>
          <p:cNvSpPr/>
          <p:nvPr/>
        </p:nvSpPr>
        <p:spPr>
          <a:xfrm>
            <a:off x="4085517" y="1371600"/>
            <a:ext cx="950348" cy="582930"/>
          </a:xfrm>
          <a:prstGeom prst="roundRect">
            <a:avLst>
              <a:gd fmla="val 7059"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88" name="Google Shape;488;p42"/>
          <p:cNvSpPr/>
          <p:nvPr/>
        </p:nvSpPr>
        <p:spPr>
          <a:xfrm>
            <a:off x="4119808" y="1371600"/>
            <a:ext cx="881766"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000" u="none" cap="none" strike="noStrike">
                <a:solidFill>
                  <a:srgbClr val="FFFFFF"/>
                </a:solidFill>
                <a:latin typeface="Calibri"/>
                <a:ea typeface="Calibri"/>
                <a:cs typeface="Calibri"/>
                <a:sym typeface="Calibri"/>
              </a:rPr>
              <a:t>Testing</a:t>
            </a:r>
            <a:endParaRPr b="0" i="0" sz="1000" u="none" cap="none" strike="noStrike">
              <a:solidFill>
                <a:schemeClr val="dk1"/>
              </a:solidFill>
              <a:latin typeface="Calibri"/>
              <a:ea typeface="Calibri"/>
              <a:cs typeface="Calibri"/>
              <a:sym typeface="Calibri"/>
            </a:endParaRPr>
          </a:p>
        </p:txBody>
      </p:sp>
      <p:sp>
        <p:nvSpPr>
          <p:cNvPr id="489" name="Google Shape;489;p42"/>
          <p:cNvSpPr/>
          <p:nvPr/>
        </p:nvSpPr>
        <p:spPr>
          <a:xfrm>
            <a:off x="5035866" y="1371600"/>
            <a:ext cx="274327"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700" u="none" cap="none" strike="noStrike">
                <a:solidFill>
                  <a:srgbClr val="D9822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90" name="Google Shape;490;p42"/>
          <p:cNvSpPr/>
          <p:nvPr/>
        </p:nvSpPr>
        <p:spPr>
          <a:xfrm>
            <a:off x="5310193" y="1371600"/>
            <a:ext cx="950348" cy="582930"/>
          </a:xfrm>
          <a:prstGeom prst="roundRect">
            <a:avLst>
              <a:gd fmla="val 7059"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91" name="Google Shape;491;p42"/>
          <p:cNvSpPr/>
          <p:nvPr/>
        </p:nvSpPr>
        <p:spPr>
          <a:xfrm>
            <a:off x="5344484" y="1371600"/>
            <a:ext cx="881766"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000" u="none" cap="none" strike="noStrike">
                <a:solidFill>
                  <a:srgbClr val="FFFFFF"/>
                </a:solidFill>
                <a:latin typeface="Calibri"/>
                <a:ea typeface="Calibri"/>
                <a:cs typeface="Calibri"/>
                <a:sym typeface="Calibri"/>
              </a:rPr>
              <a:t>Review</a:t>
            </a:r>
            <a:endParaRPr b="0" i="0" sz="1000" u="none" cap="none" strike="noStrike">
              <a:solidFill>
                <a:schemeClr val="dk1"/>
              </a:solidFill>
              <a:latin typeface="Calibri"/>
              <a:ea typeface="Calibri"/>
              <a:cs typeface="Calibri"/>
              <a:sym typeface="Calibri"/>
            </a:endParaRPr>
          </a:p>
        </p:txBody>
      </p:sp>
      <p:sp>
        <p:nvSpPr>
          <p:cNvPr id="492" name="Google Shape;492;p42"/>
          <p:cNvSpPr/>
          <p:nvPr/>
        </p:nvSpPr>
        <p:spPr>
          <a:xfrm>
            <a:off x="6260541" y="1371600"/>
            <a:ext cx="274327"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700" u="none" cap="none" strike="noStrike">
                <a:solidFill>
                  <a:srgbClr val="D9822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93" name="Google Shape;493;p42"/>
          <p:cNvSpPr/>
          <p:nvPr/>
        </p:nvSpPr>
        <p:spPr>
          <a:xfrm>
            <a:off x="6534869" y="1371600"/>
            <a:ext cx="950348" cy="582930"/>
          </a:xfrm>
          <a:prstGeom prst="roundRect">
            <a:avLst>
              <a:gd fmla="val 7059"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94" name="Google Shape;494;p42"/>
          <p:cNvSpPr/>
          <p:nvPr/>
        </p:nvSpPr>
        <p:spPr>
          <a:xfrm>
            <a:off x="6569160" y="1371600"/>
            <a:ext cx="881766"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000" u="none" cap="none" strike="noStrike">
                <a:solidFill>
                  <a:srgbClr val="FFFFFF"/>
                </a:solidFill>
                <a:latin typeface="Calibri"/>
                <a:ea typeface="Calibri"/>
                <a:cs typeface="Calibri"/>
                <a:sym typeface="Calibri"/>
              </a:rPr>
              <a:t>Deployment</a:t>
            </a:r>
            <a:endParaRPr b="0" i="0" sz="1000" u="none" cap="none" strike="noStrike">
              <a:solidFill>
                <a:schemeClr val="dk1"/>
              </a:solidFill>
              <a:latin typeface="Calibri"/>
              <a:ea typeface="Calibri"/>
              <a:cs typeface="Calibri"/>
              <a:sym typeface="Calibri"/>
            </a:endParaRPr>
          </a:p>
        </p:txBody>
      </p:sp>
      <p:sp>
        <p:nvSpPr>
          <p:cNvPr id="495" name="Google Shape;495;p42"/>
          <p:cNvSpPr/>
          <p:nvPr/>
        </p:nvSpPr>
        <p:spPr>
          <a:xfrm>
            <a:off x="7485217" y="1371600"/>
            <a:ext cx="274327"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9822B"/>
              </a:buClr>
              <a:buSzPts val="1500"/>
              <a:buFont typeface="Calibri"/>
              <a:buNone/>
            </a:pPr>
            <a:r>
              <a:rPr b="1" i="0" lang="en" sz="1700" u="none" cap="none" strike="noStrike">
                <a:solidFill>
                  <a:srgbClr val="D9822B"/>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496" name="Google Shape;496;p42"/>
          <p:cNvSpPr/>
          <p:nvPr/>
        </p:nvSpPr>
        <p:spPr>
          <a:xfrm>
            <a:off x="7759544" y="1371600"/>
            <a:ext cx="950348" cy="582930"/>
          </a:xfrm>
          <a:prstGeom prst="roundRect">
            <a:avLst>
              <a:gd fmla="val 7059"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497" name="Google Shape;497;p42"/>
          <p:cNvSpPr/>
          <p:nvPr/>
        </p:nvSpPr>
        <p:spPr>
          <a:xfrm>
            <a:off x="7793835" y="1371600"/>
            <a:ext cx="881766"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1000" u="none" cap="none" strike="noStrike">
                <a:solidFill>
                  <a:srgbClr val="FFFFFF"/>
                </a:solidFill>
                <a:latin typeface="Calibri"/>
                <a:ea typeface="Calibri"/>
                <a:cs typeface="Calibri"/>
                <a:sym typeface="Calibri"/>
              </a:rPr>
              <a:t>Operations</a:t>
            </a:r>
            <a:endParaRPr b="0" i="0" sz="1000" u="none" cap="none" strike="noStrike">
              <a:solidFill>
                <a:schemeClr val="dk1"/>
              </a:solidFill>
              <a:latin typeface="Calibri"/>
              <a:ea typeface="Calibri"/>
              <a:cs typeface="Calibri"/>
              <a:sym typeface="Calibri"/>
            </a:endParaRPr>
          </a:p>
        </p:txBody>
      </p:sp>
      <p:graphicFrame>
        <p:nvGraphicFramePr>
          <p:cNvPr id="498" name="Google Shape;498;p42"/>
          <p:cNvGraphicFramePr/>
          <p:nvPr/>
        </p:nvGraphicFramePr>
        <p:xfrm>
          <a:off x="411491" y="2125980"/>
          <a:ext cx="3000000" cy="3000000"/>
        </p:xfrm>
        <a:graphic>
          <a:graphicData uri="http://schemas.openxmlformats.org/drawingml/2006/table">
            <a:tbl>
              <a:tblPr>
                <a:noFill/>
                <a:tableStyleId>{A7E7F7E0-614D-4D13-9398-B1847FD5B946}</a:tableStyleId>
              </a:tblPr>
              <a:tblGrid>
                <a:gridCol w="2057450"/>
                <a:gridCol w="6240950"/>
              </a:tblGrid>
              <a:tr h="288025">
                <a:tc>
                  <a:txBody>
                    <a:bodyPr/>
                    <a:lstStyle/>
                    <a:p>
                      <a:pPr indent="0" lvl="0" marL="0" marR="0" rtl="0" algn="l">
                        <a:spcBef>
                          <a:spcPts val="0"/>
                        </a:spcBef>
                        <a:spcAft>
                          <a:spcPts val="0"/>
                        </a:spcAft>
                        <a:buClr>
                          <a:srgbClr val="FFFFFF"/>
                        </a:buClr>
                        <a:buSzPts val="1000"/>
                        <a:buFont typeface="Calibri"/>
                        <a:buNone/>
                      </a:pPr>
                      <a:r>
                        <a:rPr b="1" lang="en" sz="1000" u="none" cap="none" strike="noStrike">
                          <a:solidFill>
                            <a:srgbClr val="FFFFFF"/>
                          </a:solidFill>
                          <a:latin typeface="Calibri"/>
                          <a:ea typeface="Calibri"/>
                          <a:cs typeface="Calibri"/>
                          <a:sym typeface="Calibri"/>
                        </a:rPr>
                        <a:t>Stage</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1000"/>
                        <a:buFont typeface="Calibri"/>
                        <a:buNone/>
                      </a:pPr>
                      <a:r>
                        <a:rPr b="1" lang="en" sz="1000" u="none" cap="none" strike="noStrike">
                          <a:solidFill>
                            <a:srgbClr val="FFFFFF"/>
                          </a:solidFill>
                          <a:latin typeface="Calibri"/>
                          <a:ea typeface="Calibri"/>
                          <a:cs typeface="Calibri"/>
                          <a:sym typeface="Calibri"/>
                        </a:rPr>
                        <a:t>AI Example</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0B2545"/>
                    </a:solidFill>
                  </a:tcPr>
                </a:tc>
              </a:tr>
              <a:tr h="288025">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Requirements</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AI-assisted requirements analysis</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288025">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Design</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Architecture alternatives</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288025">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Development</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Coding assistants</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288025">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Testing</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Test generation</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288025">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Review</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AI-assisted code review</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288025">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Documentation</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Documentation generation</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288025">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Operations</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1000"/>
                        <a:buFont typeface="Calibri"/>
                        <a:buNone/>
                      </a:pPr>
                      <a:r>
                        <a:rPr lang="en" sz="1000" u="none" cap="none" strike="noStrike">
                          <a:solidFill>
                            <a:srgbClr val="13293D"/>
                          </a:solidFill>
                          <a:latin typeface="Calibri"/>
                          <a:ea typeface="Calibri"/>
                          <a:cs typeface="Calibri"/>
                          <a:sym typeface="Calibri"/>
                        </a:rPr>
                        <a:t>Log analysis / incident investigation</a:t>
                      </a:r>
                      <a:endParaRPr sz="10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43"/>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5 · DISCUSSION</a:t>
            </a:r>
            <a:endParaRPr b="0" i="0" sz="800" u="none" cap="none" strike="noStrike">
              <a:solidFill>
                <a:schemeClr val="dk1"/>
              </a:solidFill>
              <a:latin typeface="Calibri"/>
              <a:ea typeface="Calibri"/>
              <a:cs typeface="Calibri"/>
              <a:sym typeface="Calibri"/>
            </a:endParaRPr>
          </a:p>
        </p:txBody>
      </p:sp>
      <p:sp>
        <p:nvSpPr>
          <p:cNvPr id="505" name="Google Shape;505;p43"/>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Accelerated, Not Absolved</a:t>
            </a:r>
            <a:endParaRPr b="0" i="0" sz="2000" u="none" cap="none" strike="noStrike">
              <a:solidFill>
                <a:schemeClr val="dk1"/>
              </a:solidFill>
              <a:latin typeface="Calibri"/>
              <a:ea typeface="Calibri"/>
              <a:cs typeface="Calibri"/>
              <a:sym typeface="Calibri"/>
            </a:endParaRPr>
          </a:p>
        </p:txBody>
      </p:sp>
      <p:cxnSp>
        <p:nvCxnSpPr>
          <p:cNvPr id="506" name="Google Shape;506;p43"/>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507" name="Google Shape;507;p43"/>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508" name="Google Shape;508;p43"/>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22</a:t>
            </a:r>
            <a:endParaRPr b="0" i="0" sz="700" u="none" cap="none" strike="noStrike">
              <a:solidFill>
                <a:schemeClr val="dk1"/>
              </a:solidFill>
              <a:latin typeface="Calibri"/>
              <a:ea typeface="Calibri"/>
              <a:cs typeface="Calibri"/>
              <a:sym typeface="Calibri"/>
            </a:endParaRPr>
          </a:p>
        </p:txBody>
      </p:sp>
      <p:sp>
        <p:nvSpPr>
          <p:cNvPr id="509" name="Google Shape;509;p43"/>
          <p:cNvSpPr/>
          <p:nvPr/>
        </p:nvSpPr>
        <p:spPr>
          <a:xfrm>
            <a:off x="685818" y="1303020"/>
            <a:ext cx="7749747" cy="891540"/>
          </a:xfrm>
          <a:prstGeom prst="roundRect">
            <a:avLst>
              <a:gd fmla="val 615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0" name="Google Shape;510;p43"/>
          <p:cNvSpPr/>
          <p:nvPr/>
        </p:nvSpPr>
        <p:spPr>
          <a:xfrm>
            <a:off x="960146" y="1303020"/>
            <a:ext cx="7201092" cy="8915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500"/>
              <a:buFont typeface="Cambria"/>
              <a:buNone/>
            </a:pPr>
            <a:r>
              <a:rPr b="1" i="1" lang="en" sz="1500" u="none" cap="none" strike="noStrike">
                <a:solidFill>
                  <a:srgbClr val="FFFFFF"/>
                </a:solidFill>
                <a:latin typeface="Cambria"/>
                <a:ea typeface="Cambria"/>
                <a:cs typeface="Cambria"/>
                <a:sym typeface="Cambria"/>
              </a:rPr>
              <a:t>AI can accelerate engineering work without removing engineering responsibility.</a:t>
            </a:r>
            <a:endParaRPr b="0" i="0" sz="1500" u="none" cap="none" strike="noStrike">
              <a:solidFill>
                <a:schemeClr val="dk1"/>
              </a:solidFill>
              <a:latin typeface="Calibri"/>
              <a:ea typeface="Calibri"/>
              <a:cs typeface="Calibri"/>
              <a:sym typeface="Calibri"/>
            </a:endParaRPr>
          </a:p>
        </p:txBody>
      </p:sp>
      <p:sp>
        <p:nvSpPr>
          <p:cNvPr id="511" name="Google Shape;511;p43"/>
          <p:cNvSpPr/>
          <p:nvPr/>
        </p:nvSpPr>
        <p:spPr>
          <a:xfrm>
            <a:off x="411491" y="2400300"/>
            <a:ext cx="8298401" cy="685800"/>
          </a:xfrm>
          <a:prstGeom prst="roundRect">
            <a:avLst>
              <a:gd fmla="val 500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2" name="Google Shape;512;p43"/>
          <p:cNvSpPr/>
          <p:nvPr/>
        </p:nvSpPr>
        <p:spPr>
          <a:xfrm>
            <a:off x="603520" y="2468880"/>
            <a:ext cx="7914343" cy="54864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DISCUSS</a:t>
            </a:r>
            <a:br>
              <a:rPr b="1" i="0" lang="en" sz="1100" u="none" cap="none" strike="noStrike">
                <a:solidFill>
                  <a:srgbClr val="D9822B"/>
                </a:solidFill>
                <a:latin typeface="Calibri"/>
                <a:ea typeface="Calibri"/>
                <a:cs typeface="Calibri"/>
                <a:sym typeface="Calibri"/>
              </a:rPr>
            </a:br>
            <a:r>
              <a:rPr b="0" i="0" lang="en" sz="1300" u="none" cap="none" strike="noStrike">
                <a:solidFill>
                  <a:srgbClr val="13293D"/>
                </a:solidFill>
                <a:latin typeface="Calibri"/>
                <a:ea typeface="Calibri"/>
                <a:cs typeface="Calibri"/>
                <a:sym typeface="Calibri"/>
              </a:rPr>
              <a:t>“If AI generates 80% of your code, who is responsible when production fails?”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44"/>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BRIDGE TO SESSION 2</a:t>
            </a:r>
            <a:endParaRPr b="0" i="0" sz="800" u="none" cap="none" strike="noStrike">
              <a:solidFill>
                <a:schemeClr val="dk1"/>
              </a:solidFill>
              <a:latin typeface="Calibri"/>
              <a:ea typeface="Calibri"/>
              <a:cs typeface="Calibri"/>
              <a:sym typeface="Calibri"/>
            </a:endParaRPr>
          </a:p>
        </p:txBody>
      </p:sp>
      <p:sp>
        <p:nvSpPr>
          <p:cNvPr id="519" name="Google Shape;519;p44"/>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Next: From Problem to AI Capstone</a:t>
            </a:r>
            <a:endParaRPr b="0" i="0" sz="2000" u="none" cap="none" strike="noStrike">
              <a:solidFill>
                <a:schemeClr val="dk1"/>
              </a:solidFill>
              <a:latin typeface="Calibri"/>
              <a:ea typeface="Calibri"/>
              <a:cs typeface="Calibri"/>
              <a:sym typeface="Calibri"/>
            </a:endParaRPr>
          </a:p>
        </p:txBody>
      </p:sp>
      <p:cxnSp>
        <p:nvCxnSpPr>
          <p:cNvPr id="520" name="Google Shape;520;p44"/>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521" name="Google Shape;521;p44"/>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1</a:t>
            </a:r>
            <a:endParaRPr b="0" i="0" sz="700" u="none" cap="none" strike="noStrike">
              <a:solidFill>
                <a:schemeClr val="dk1"/>
              </a:solidFill>
              <a:latin typeface="Calibri"/>
              <a:ea typeface="Calibri"/>
              <a:cs typeface="Calibri"/>
              <a:sym typeface="Calibri"/>
            </a:endParaRPr>
          </a:p>
        </p:txBody>
      </p:sp>
      <p:sp>
        <p:nvSpPr>
          <p:cNvPr id="522" name="Google Shape;522;p44"/>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23</a:t>
            </a:r>
            <a:endParaRPr b="0" i="0" sz="700" u="none" cap="none" strike="noStrike">
              <a:solidFill>
                <a:schemeClr val="dk1"/>
              </a:solidFill>
              <a:latin typeface="Calibri"/>
              <a:ea typeface="Calibri"/>
              <a:cs typeface="Calibri"/>
              <a:sym typeface="Calibri"/>
            </a:endParaRPr>
          </a:p>
        </p:txBody>
      </p:sp>
      <p:sp>
        <p:nvSpPr>
          <p:cNvPr id="523" name="Google Shape;523;p44"/>
          <p:cNvSpPr/>
          <p:nvPr/>
        </p:nvSpPr>
        <p:spPr>
          <a:xfrm>
            <a:off x="411491" y="1371600"/>
            <a:ext cx="8298401" cy="822960"/>
          </a:xfrm>
          <a:prstGeom prst="rect">
            <a:avLst/>
          </a:prstGeom>
          <a:noFill/>
          <a:ln>
            <a:noFill/>
          </a:ln>
        </p:spPr>
        <p:txBody>
          <a:bodyPr anchorCtr="0" anchor="t" bIns="34275" lIns="68575" spcFirstLastPara="1" rIns="68575" wrap="square" tIns="34275">
            <a:noAutofit/>
          </a:bodyPr>
          <a:lstStyle/>
          <a:p>
            <a:pPr indent="-196850" lvl="0" marL="177800" marR="0" rtl="0" algn="l">
              <a:spcBef>
                <a:spcPts val="0"/>
              </a:spcBef>
              <a:spcAft>
                <a:spcPts val="0"/>
              </a:spcAft>
              <a:buClr>
                <a:srgbClr val="13293D"/>
              </a:buClr>
              <a:buSzPts val="1500"/>
              <a:buFont typeface="Calibri"/>
              <a:buChar char="•"/>
            </a:pPr>
            <a:r>
              <a:rPr b="1" i="0" lang="en" sz="1500" u="none" cap="none" strike="noStrike">
                <a:solidFill>
                  <a:srgbClr val="13293D"/>
                </a:solidFill>
                <a:latin typeface="Calibri"/>
                <a:ea typeface="Calibri"/>
                <a:cs typeface="Calibri"/>
                <a:sym typeface="Calibri"/>
              </a:rPr>
              <a:t>Session 2 shifts entirely to your project.</a:t>
            </a:r>
            <a:endParaRPr b="0" i="0" sz="1500" u="none" cap="none" strike="noStrike">
              <a:solidFill>
                <a:schemeClr val="dk1"/>
              </a:solidFill>
              <a:latin typeface="Calibri"/>
              <a:ea typeface="Calibri"/>
              <a:cs typeface="Calibri"/>
              <a:sym typeface="Calibri"/>
            </a:endParaRPr>
          </a:p>
          <a:p>
            <a:pPr indent="-196850" lvl="0" marL="177800" marR="0" rtl="0" algn="l">
              <a:spcBef>
                <a:spcPts val="700"/>
              </a:spcBef>
              <a:spcAft>
                <a:spcPts val="0"/>
              </a:spcAft>
              <a:buClr>
                <a:srgbClr val="13293D"/>
              </a:buClr>
              <a:buSzPts val="1500"/>
              <a:buFont typeface="Calibri"/>
              <a:buChar char="•"/>
            </a:pPr>
            <a:r>
              <a:rPr b="0" i="0" lang="en" sz="1500" u="none" cap="none" strike="noStrike">
                <a:solidFill>
                  <a:srgbClr val="13293D"/>
                </a:solidFill>
                <a:latin typeface="Calibri"/>
                <a:ea typeface="Calibri"/>
                <a:cs typeface="Calibri"/>
                <a:sym typeface="Calibri"/>
              </a:rPr>
              <a:t>Central question: what are you going to build for the next seven weeks?</a:t>
            </a:r>
            <a:endParaRPr b="0" i="0" sz="1500" u="none" cap="none" strike="noStrike">
              <a:solidFill>
                <a:schemeClr val="dk1"/>
              </a:solidFill>
              <a:latin typeface="Calibri"/>
              <a:ea typeface="Calibri"/>
              <a:cs typeface="Calibri"/>
              <a:sym typeface="Calibri"/>
            </a:endParaRPr>
          </a:p>
        </p:txBody>
      </p:sp>
      <p:sp>
        <p:nvSpPr>
          <p:cNvPr id="524" name="Google Shape;524;p44"/>
          <p:cNvSpPr/>
          <p:nvPr/>
        </p:nvSpPr>
        <p:spPr>
          <a:xfrm>
            <a:off x="411491" y="2400300"/>
            <a:ext cx="8298401" cy="685800"/>
          </a:xfrm>
          <a:prstGeom prst="roundRect">
            <a:avLst>
              <a:gd fmla="val 500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5" name="Google Shape;525;p44"/>
          <p:cNvSpPr/>
          <p:nvPr/>
        </p:nvSpPr>
        <p:spPr>
          <a:xfrm>
            <a:off x="603520" y="2468880"/>
            <a:ext cx="7914343" cy="54864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BRING</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The AI Fit Framework and the six patterns from today. You'll be asked to place your own idea against both.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530" name="Shape 530"/>
        <p:cNvGrpSpPr/>
        <p:nvPr/>
      </p:nvGrpSpPr>
      <p:grpSpPr>
        <a:xfrm>
          <a:off x="0" y="0"/>
          <a:ext cx="0" cy="0"/>
          <a:chOff x="0" y="0"/>
          <a:chExt cx="0" cy="0"/>
        </a:xfrm>
      </p:grpSpPr>
      <p:sp>
        <p:nvSpPr>
          <p:cNvPr id="531" name="Google Shape;531;p45"/>
          <p:cNvSpPr/>
          <p:nvPr/>
        </p:nvSpPr>
        <p:spPr>
          <a:xfrm>
            <a:off x="480073" y="617220"/>
            <a:ext cx="7544001"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PRACTICAL AI FOR SOFTWARE ENGINEERING</a:t>
            </a:r>
            <a:endParaRPr b="0" i="0" sz="1100" u="none" cap="none" strike="noStrike">
              <a:solidFill>
                <a:schemeClr val="dk1"/>
              </a:solidFill>
              <a:latin typeface="Calibri"/>
              <a:ea typeface="Calibri"/>
              <a:cs typeface="Calibri"/>
              <a:sym typeface="Calibri"/>
            </a:endParaRPr>
          </a:p>
        </p:txBody>
      </p:sp>
      <p:sp>
        <p:nvSpPr>
          <p:cNvPr id="532" name="Google Shape;532;p45"/>
          <p:cNvSpPr/>
          <p:nvPr/>
        </p:nvSpPr>
        <p:spPr>
          <a:xfrm>
            <a:off x="452640" y="925830"/>
            <a:ext cx="8229819" cy="7543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3200"/>
              <a:buFont typeface="Cambria"/>
              <a:buNone/>
            </a:pPr>
            <a:r>
              <a:rPr b="1" i="0" lang="en" sz="3200" u="none" cap="none" strike="noStrike">
                <a:solidFill>
                  <a:srgbClr val="FFFFFF"/>
                </a:solidFill>
                <a:latin typeface="Cambria"/>
                <a:ea typeface="Cambria"/>
                <a:cs typeface="Cambria"/>
                <a:sym typeface="Cambria"/>
              </a:rPr>
              <a:t>From Problem to AI Capstone</a:t>
            </a:r>
            <a:endParaRPr b="0" i="0" sz="3200" u="none" cap="none" strike="noStrike">
              <a:solidFill>
                <a:schemeClr val="dk1"/>
              </a:solidFill>
              <a:latin typeface="Calibri"/>
              <a:ea typeface="Calibri"/>
              <a:cs typeface="Calibri"/>
              <a:sym typeface="Calibri"/>
            </a:endParaRPr>
          </a:p>
        </p:txBody>
      </p:sp>
      <p:sp>
        <p:nvSpPr>
          <p:cNvPr id="533" name="Google Shape;533;p45"/>
          <p:cNvSpPr/>
          <p:nvPr/>
        </p:nvSpPr>
        <p:spPr>
          <a:xfrm>
            <a:off x="480073" y="1885950"/>
            <a:ext cx="2057455" cy="377190"/>
          </a:xfrm>
          <a:prstGeom prst="roundRect">
            <a:avLst>
              <a:gd fmla="val 9091" name="adj"/>
            </a:avLst>
          </a:prstGeom>
          <a:solidFill>
            <a:srgbClr val="13407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4" name="Google Shape;534;p45"/>
          <p:cNvSpPr/>
          <p:nvPr/>
        </p:nvSpPr>
        <p:spPr>
          <a:xfrm>
            <a:off x="480073" y="1885950"/>
            <a:ext cx="2057455"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WEEK 3  ·  SESSION 2</a:t>
            </a:r>
            <a:endParaRPr b="0" i="0" sz="1000" u="none" cap="none" strike="noStrike">
              <a:solidFill>
                <a:schemeClr val="dk1"/>
              </a:solidFill>
              <a:latin typeface="Calibri"/>
              <a:ea typeface="Calibri"/>
              <a:cs typeface="Calibri"/>
              <a:sym typeface="Calibri"/>
            </a:endParaRPr>
          </a:p>
        </p:txBody>
      </p:sp>
      <p:sp>
        <p:nvSpPr>
          <p:cNvPr id="535" name="Google Shape;535;p45"/>
          <p:cNvSpPr/>
          <p:nvPr/>
        </p:nvSpPr>
        <p:spPr>
          <a:xfrm>
            <a:off x="2708982" y="1885950"/>
            <a:ext cx="5486546"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400"/>
              <a:buFont typeface="Cambria"/>
              <a:buNone/>
            </a:pPr>
            <a:r>
              <a:rPr b="0" i="1" lang="en" sz="1400" u="none" cap="none" strike="noStrike">
                <a:solidFill>
                  <a:srgbClr val="8DA9C4"/>
                </a:solidFill>
                <a:latin typeface="Cambria"/>
                <a:ea typeface="Cambria"/>
                <a:cs typeface="Cambria"/>
                <a:sym typeface="Cambria"/>
              </a:rPr>
              <a:t>Workshop-Oriented Lecture, 3 hours</a:t>
            </a:r>
            <a:endParaRPr b="0" i="0" sz="1400" u="none" cap="none" strike="noStrike">
              <a:solidFill>
                <a:schemeClr val="dk1"/>
              </a:solidFill>
              <a:latin typeface="Calibri"/>
              <a:ea typeface="Calibri"/>
              <a:cs typeface="Calibri"/>
              <a:sym typeface="Calibri"/>
            </a:endParaRPr>
          </a:p>
        </p:txBody>
      </p:sp>
      <p:sp>
        <p:nvSpPr>
          <p:cNvPr id="536" name="Google Shape;536;p45"/>
          <p:cNvSpPr/>
          <p:nvPr/>
        </p:nvSpPr>
        <p:spPr>
          <a:xfrm>
            <a:off x="493789" y="4354830"/>
            <a:ext cx="7544001"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1000"/>
              <a:buFont typeface="Calibri"/>
              <a:buNone/>
            </a:pPr>
            <a:r>
              <a:rPr b="0" i="0" lang="en" sz="1000" u="none" cap="none" strike="noStrike">
                <a:solidFill>
                  <a:srgbClr val="5C6B7A"/>
                </a:solidFill>
                <a:latin typeface="Calibri"/>
                <a:ea typeface="Calibri"/>
                <a:cs typeface="Calibri"/>
                <a:sym typeface="Calibri"/>
              </a:rPr>
              <a:t>Year 3 Software Engineering  ·  CamTech University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46"/>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WEEK 3 · SESSION 2</a:t>
            </a:r>
            <a:endParaRPr b="0" i="0" sz="800" u="none" cap="none" strike="noStrike">
              <a:solidFill>
                <a:schemeClr val="dk1"/>
              </a:solidFill>
              <a:latin typeface="Calibri"/>
              <a:ea typeface="Calibri"/>
              <a:cs typeface="Calibri"/>
              <a:sym typeface="Calibri"/>
            </a:endParaRPr>
          </a:p>
        </p:txBody>
      </p:sp>
      <p:sp>
        <p:nvSpPr>
          <p:cNvPr id="543" name="Google Shape;543;p46"/>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Now It's About Your Project</a:t>
            </a:r>
            <a:endParaRPr b="0" i="0" sz="2000" u="none" cap="none" strike="noStrike">
              <a:solidFill>
                <a:schemeClr val="dk1"/>
              </a:solidFill>
              <a:latin typeface="Calibri"/>
              <a:ea typeface="Calibri"/>
              <a:cs typeface="Calibri"/>
              <a:sym typeface="Calibri"/>
            </a:endParaRPr>
          </a:p>
        </p:txBody>
      </p:sp>
      <p:cxnSp>
        <p:nvCxnSpPr>
          <p:cNvPr id="544" name="Google Shape;544;p46"/>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545" name="Google Shape;545;p46"/>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546" name="Google Shape;546;p46"/>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a:t>
            </a:r>
            <a:endParaRPr b="0" i="0" sz="700" u="none" cap="none" strike="noStrike">
              <a:solidFill>
                <a:schemeClr val="dk1"/>
              </a:solidFill>
              <a:latin typeface="Calibri"/>
              <a:ea typeface="Calibri"/>
              <a:cs typeface="Calibri"/>
              <a:sym typeface="Calibri"/>
            </a:endParaRPr>
          </a:p>
        </p:txBody>
      </p:sp>
      <p:sp>
        <p:nvSpPr>
          <p:cNvPr id="547" name="Google Shape;547;p46"/>
          <p:cNvSpPr/>
          <p:nvPr/>
        </p:nvSpPr>
        <p:spPr>
          <a:xfrm>
            <a:off x="411491" y="1303020"/>
            <a:ext cx="8298401" cy="548640"/>
          </a:xfrm>
          <a:prstGeom prst="rect">
            <a:avLst/>
          </a:prstGeom>
          <a:noFill/>
          <a:ln>
            <a:noFill/>
          </a:ln>
        </p:spPr>
        <p:txBody>
          <a:bodyPr anchorCtr="0" anchor="t" bIns="34275" lIns="68575" spcFirstLastPara="1" rIns="68575" wrap="square" tIns="34275">
            <a:noAutofit/>
          </a:bodyPr>
          <a:lstStyle/>
          <a:p>
            <a:pPr indent="-190500" lvl="0" marL="177800" marR="0" rtl="0" algn="l">
              <a:spcBef>
                <a:spcPts val="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Session 1 gave you the vocabulary: AI fit, six patterns, prototype vs. production.</a:t>
            </a:r>
            <a:endParaRPr>
              <a:solidFill>
                <a:srgbClr val="13293D"/>
              </a:solidFill>
              <a:latin typeface="Calibri"/>
              <a:ea typeface="Calibri"/>
              <a:cs typeface="Calibri"/>
              <a:sym typeface="Calibri"/>
            </a:endParaRPr>
          </a:p>
          <a:p>
            <a:pPr indent="-190500" lvl="0" marL="177800" marR="0" rtl="0" algn="l">
              <a:spcBef>
                <a:spcPts val="0"/>
              </a:spcBef>
              <a:spcAft>
                <a:spcPts val="0"/>
              </a:spcAft>
              <a:buClr>
                <a:srgbClr val="13293D"/>
              </a:buClr>
              <a:buSzPts val="1400"/>
              <a:buFont typeface="Calibri"/>
              <a:buChar char="•"/>
            </a:pPr>
            <a:r>
              <a:rPr lang="en">
                <a:solidFill>
                  <a:srgbClr val="13293D"/>
                </a:solidFill>
                <a:latin typeface="Calibri"/>
                <a:ea typeface="Calibri"/>
                <a:cs typeface="Calibri"/>
                <a:sym typeface="Calibri"/>
              </a:rPr>
              <a:t>Lab 3 is where you apply it to your own idea.</a:t>
            </a:r>
            <a:endParaRPr>
              <a:solidFill>
                <a:srgbClr val="13293D"/>
              </a:solidFill>
              <a:latin typeface="Calibri"/>
              <a:ea typeface="Calibri"/>
              <a:cs typeface="Calibri"/>
              <a:sym typeface="Calibri"/>
            </a:endParaRPr>
          </a:p>
        </p:txBody>
      </p:sp>
      <p:sp>
        <p:nvSpPr>
          <p:cNvPr id="548" name="Google Shape;548;p46"/>
          <p:cNvSpPr/>
          <p:nvPr/>
        </p:nvSpPr>
        <p:spPr>
          <a:xfrm>
            <a:off x="685818" y="1988820"/>
            <a:ext cx="7749747" cy="960120"/>
          </a:xfrm>
          <a:prstGeom prst="roundRect">
            <a:avLst>
              <a:gd fmla="val 571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9" name="Google Shape;549;p46"/>
          <p:cNvSpPr/>
          <p:nvPr/>
        </p:nvSpPr>
        <p:spPr>
          <a:xfrm>
            <a:off x="960146" y="1988820"/>
            <a:ext cx="7201092" cy="9601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mbria"/>
              <a:buNone/>
            </a:pPr>
            <a:r>
              <a:rPr b="1" i="1" lang="en" sz="1700" u="none" cap="none" strike="noStrike">
                <a:solidFill>
                  <a:srgbClr val="FFFFFF"/>
                </a:solidFill>
                <a:latin typeface="Cambria"/>
                <a:ea typeface="Cambria"/>
                <a:cs typeface="Cambria"/>
                <a:sym typeface="Cambria"/>
              </a:rPr>
              <a:t>What are you going to build for the next seven weeks?</a:t>
            </a:r>
            <a:endParaRPr b="0" i="0" sz="1700" u="none" cap="none" strike="noStrike">
              <a:solidFill>
                <a:schemeClr val="dk1"/>
              </a:solidFill>
              <a:latin typeface="Calibri"/>
              <a:ea typeface="Calibri"/>
              <a:cs typeface="Calibri"/>
              <a:sym typeface="Calibri"/>
            </a:endParaRPr>
          </a:p>
        </p:txBody>
      </p:sp>
      <p:sp>
        <p:nvSpPr>
          <p:cNvPr id="550" name="Google Shape;550;p46"/>
          <p:cNvSpPr/>
          <p:nvPr/>
        </p:nvSpPr>
        <p:spPr>
          <a:xfrm>
            <a:off x="411491" y="3154680"/>
            <a:ext cx="8298401"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555" name="Shape 555"/>
        <p:cNvGrpSpPr/>
        <p:nvPr/>
      </p:nvGrpSpPr>
      <p:grpSpPr>
        <a:xfrm>
          <a:off x="0" y="0"/>
          <a:ext cx="0" cy="0"/>
          <a:chOff x="0" y="0"/>
          <a:chExt cx="0" cy="0"/>
        </a:xfrm>
      </p:grpSpPr>
      <p:sp>
        <p:nvSpPr>
          <p:cNvPr id="556" name="Google Shape;556;p47"/>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7" name="Google Shape;557;p47"/>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1</a:t>
            </a:r>
            <a:endParaRPr b="0" i="0" sz="4100" u="none" cap="none" strike="noStrike">
              <a:solidFill>
                <a:schemeClr val="dk1"/>
              </a:solidFill>
              <a:latin typeface="Calibri"/>
              <a:ea typeface="Calibri"/>
              <a:cs typeface="Calibri"/>
              <a:sym typeface="Calibri"/>
            </a:endParaRPr>
          </a:p>
        </p:txBody>
      </p:sp>
      <p:sp>
        <p:nvSpPr>
          <p:cNvPr id="558" name="Google Shape;558;p47"/>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1</a:t>
            </a:r>
            <a:endParaRPr b="0" i="0" sz="1100" u="none" cap="none" strike="noStrike">
              <a:solidFill>
                <a:schemeClr val="dk1"/>
              </a:solidFill>
              <a:latin typeface="Calibri"/>
              <a:ea typeface="Calibri"/>
              <a:cs typeface="Calibri"/>
              <a:sym typeface="Calibri"/>
            </a:endParaRPr>
          </a:p>
        </p:txBody>
      </p:sp>
      <p:sp>
        <p:nvSpPr>
          <p:cNvPr id="559" name="Google Shape;559;p47"/>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What Counts as a Good Capstone?</a:t>
            </a:r>
            <a:endParaRPr b="0" i="0" sz="2400" u="none" cap="none" strike="noStrike">
              <a:solidFill>
                <a:schemeClr val="dk1"/>
              </a:solidFill>
              <a:latin typeface="Calibri"/>
              <a:ea typeface="Calibri"/>
              <a:cs typeface="Calibri"/>
              <a:sym typeface="Calibri"/>
            </a:endParaRPr>
          </a:p>
        </p:txBody>
      </p:sp>
      <p:sp>
        <p:nvSpPr>
          <p:cNvPr id="560" name="Google Shape;560;p47"/>
          <p:cNvSpPr/>
          <p:nvPr/>
        </p:nvSpPr>
        <p:spPr>
          <a:xfrm>
            <a:off x="1748837" y="2571750"/>
            <a:ext cx="6858183"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300"/>
              <a:buFont typeface="Cambria"/>
              <a:buNone/>
            </a:pPr>
            <a:r>
              <a:rPr b="0" i="1" lang="en" sz="1300" u="none" cap="none" strike="noStrike">
                <a:solidFill>
                  <a:srgbClr val="8DA9C4"/>
                </a:solidFill>
                <a:latin typeface="Cambria"/>
                <a:ea typeface="Cambria"/>
                <a:cs typeface="Cambria"/>
                <a:sym typeface="Cambria"/>
              </a:rPr>
              <a:t>Eight things a strong project needs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48"/>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1 · OVERVIEW</a:t>
            </a:r>
            <a:endParaRPr b="0" i="0" sz="800" u="none" cap="none" strike="noStrike">
              <a:solidFill>
                <a:schemeClr val="dk1"/>
              </a:solidFill>
              <a:latin typeface="Calibri"/>
              <a:ea typeface="Calibri"/>
              <a:cs typeface="Calibri"/>
              <a:sym typeface="Calibri"/>
            </a:endParaRPr>
          </a:p>
        </p:txBody>
      </p:sp>
      <p:sp>
        <p:nvSpPr>
          <p:cNvPr id="567" name="Google Shape;567;p48"/>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A Strong Project Needs All Eight</a:t>
            </a:r>
            <a:endParaRPr b="0" i="0" sz="2000" u="none" cap="none" strike="noStrike">
              <a:solidFill>
                <a:schemeClr val="dk1"/>
              </a:solidFill>
              <a:latin typeface="Calibri"/>
              <a:ea typeface="Calibri"/>
              <a:cs typeface="Calibri"/>
              <a:sym typeface="Calibri"/>
            </a:endParaRPr>
          </a:p>
        </p:txBody>
      </p:sp>
      <p:cxnSp>
        <p:nvCxnSpPr>
          <p:cNvPr id="568" name="Google Shape;568;p48"/>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569" name="Google Shape;569;p48"/>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570" name="Google Shape;570;p48"/>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
        <p:nvSpPr>
          <p:cNvPr id="571" name="Google Shape;571;p48"/>
          <p:cNvSpPr/>
          <p:nvPr/>
        </p:nvSpPr>
        <p:spPr>
          <a:xfrm>
            <a:off x="411491" y="1303020"/>
            <a:ext cx="8298401" cy="336042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en" sz="1600" u="none" cap="none" strike="noStrike">
                <a:solidFill>
                  <a:srgbClr val="13293D"/>
                </a:solidFill>
                <a:latin typeface="Calibri"/>
                <a:ea typeface="Calibri"/>
                <a:cs typeface="Calibri"/>
                <a:sym typeface="Calibri"/>
              </a:rPr>
              <a:t>1. Real problem</a:t>
            </a:r>
            <a:endParaRPr b="0" i="0" sz="1600" u="none" cap="none" strike="noStrike">
              <a:solidFill>
                <a:schemeClr val="dk1"/>
              </a:solidFill>
              <a:latin typeface="Calibri"/>
              <a:ea typeface="Calibri"/>
              <a:cs typeface="Calibri"/>
              <a:sym typeface="Calibri"/>
            </a:endParaRPr>
          </a:p>
          <a:p>
            <a:pPr indent="0" lvl="0" marL="0" marR="0" rtl="0" algn="l">
              <a:spcBef>
                <a:spcPts val="700"/>
              </a:spcBef>
              <a:spcAft>
                <a:spcPts val="0"/>
              </a:spcAft>
              <a:buNone/>
            </a:pPr>
            <a:r>
              <a:rPr b="0" i="0" lang="en" sz="1600" u="none" cap="none" strike="noStrike">
                <a:solidFill>
                  <a:srgbClr val="13293D"/>
                </a:solidFill>
                <a:latin typeface="Calibri"/>
                <a:ea typeface="Calibri"/>
                <a:cs typeface="Calibri"/>
                <a:sym typeface="Calibri"/>
              </a:rPr>
              <a:t>2. Clear user</a:t>
            </a:r>
            <a:endParaRPr b="0" i="0" sz="1600" u="none" cap="none" strike="noStrike">
              <a:solidFill>
                <a:schemeClr val="dk1"/>
              </a:solidFill>
              <a:latin typeface="Calibri"/>
              <a:ea typeface="Calibri"/>
              <a:cs typeface="Calibri"/>
              <a:sym typeface="Calibri"/>
            </a:endParaRPr>
          </a:p>
          <a:p>
            <a:pPr indent="0" lvl="0" marL="0" marR="0" rtl="0" algn="l">
              <a:spcBef>
                <a:spcPts val="700"/>
              </a:spcBef>
              <a:spcAft>
                <a:spcPts val="0"/>
              </a:spcAft>
              <a:buNone/>
            </a:pPr>
            <a:r>
              <a:rPr b="0" i="0" lang="en" sz="1600" u="none" cap="none" strike="noStrike">
                <a:solidFill>
                  <a:srgbClr val="13293D"/>
                </a:solidFill>
                <a:latin typeface="Calibri"/>
                <a:ea typeface="Calibri"/>
                <a:cs typeface="Calibri"/>
                <a:sym typeface="Calibri"/>
              </a:rPr>
              <a:t>3. Justified AI</a:t>
            </a:r>
            <a:endParaRPr b="0" i="0" sz="1600" u="none" cap="none" strike="noStrike">
              <a:solidFill>
                <a:schemeClr val="dk1"/>
              </a:solidFill>
              <a:latin typeface="Calibri"/>
              <a:ea typeface="Calibri"/>
              <a:cs typeface="Calibri"/>
              <a:sym typeface="Calibri"/>
            </a:endParaRPr>
          </a:p>
          <a:p>
            <a:pPr indent="0" lvl="0" marL="0" marR="0" rtl="0" algn="l">
              <a:spcBef>
                <a:spcPts val="700"/>
              </a:spcBef>
              <a:spcAft>
                <a:spcPts val="0"/>
              </a:spcAft>
              <a:buNone/>
            </a:pPr>
            <a:r>
              <a:rPr b="0" i="0" lang="en" sz="1600" u="none" cap="none" strike="noStrike">
                <a:solidFill>
                  <a:srgbClr val="13293D"/>
                </a:solidFill>
                <a:latin typeface="Calibri"/>
                <a:ea typeface="Calibri"/>
                <a:cs typeface="Calibri"/>
                <a:sym typeface="Calibri"/>
              </a:rPr>
              <a:t>4. Meaningful AI capability</a:t>
            </a:r>
            <a:endParaRPr b="0" i="0" sz="1600" u="none" cap="none" strike="noStrike">
              <a:solidFill>
                <a:schemeClr val="dk1"/>
              </a:solidFill>
              <a:latin typeface="Calibri"/>
              <a:ea typeface="Calibri"/>
              <a:cs typeface="Calibri"/>
              <a:sym typeface="Calibri"/>
            </a:endParaRPr>
          </a:p>
          <a:p>
            <a:pPr indent="0" lvl="0" marL="0" marR="0" rtl="0" algn="l">
              <a:spcBef>
                <a:spcPts val="700"/>
              </a:spcBef>
              <a:spcAft>
                <a:spcPts val="0"/>
              </a:spcAft>
              <a:buNone/>
            </a:pPr>
            <a:r>
              <a:rPr b="0" i="0" lang="en" sz="1600" u="none" cap="none" strike="noStrike">
                <a:solidFill>
                  <a:srgbClr val="13293D"/>
                </a:solidFill>
                <a:latin typeface="Calibri"/>
                <a:ea typeface="Calibri"/>
                <a:cs typeface="Calibri"/>
                <a:sym typeface="Calibri"/>
              </a:rPr>
              <a:t>5. Software engineering</a:t>
            </a:r>
            <a:endParaRPr b="0" i="0" sz="1600" u="none" cap="none" strike="noStrike">
              <a:solidFill>
                <a:schemeClr val="dk1"/>
              </a:solidFill>
              <a:latin typeface="Calibri"/>
              <a:ea typeface="Calibri"/>
              <a:cs typeface="Calibri"/>
              <a:sym typeface="Calibri"/>
            </a:endParaRPr>
          </a:p>
          <a:p>
            <a:pPr indent="0" lvl="0" marL="0" marR="0" rtl="0" algn="l">
              <a:spcBef>
                <a:spcPts val="700"/>
              </a:spcBef>
              <a:spcAft>
                <a:spcPts val="0"/>
              </a:spcAft>
              <a:buNone/>
            </a:pPr>
            <a:r>
              <a:rPr b="0" i="0" lang="en" sz="1600" u="none" cap="none" strike="noStrike">
                <a:solidFill>
                  <a:srgbClr val="13293D"/>
                </a:solidFill>
                <a:latin typeface="Calibri"/>
                <a:ea typeface="Calibri"/>
                <a:cs typeface="Calibri"/>
                <a:sym typeface="Calibri"/>
              </a:rPr>
              <a:t>6. Evaluation</a:t>
            </a:r>
            <a:endParaRPr b="0" i="0" sz="1600" u="none" cap="none" strike="noStrike">
              <a:solidFill>
                <a:schemeClr val="dk1"/>
              </a:solidFill>
              <a:latin typeface="Calibri"/>
              <a:ea typeface="Calibri"/>
              <a:cs typeface="Calibri"/>
              <a:sym typeface="Calibri"/>
            </a:endParaRPr>
          </a:p>
          <a:p>
            <a:pPr indent="0" lvl="0" marL="0" marR="0" rtl="0" algn="l">
              <a:spcBef>
                <a:spcPts val="700"/>
              </a:spcBef>
              <a:spcAft>
                <a:spcPts val="0"/>
              </a:spcAft>
              <a:buNone/>
            </a:pPr>
            <a:r>
              <a:rPr b="0" i="0" lang="en" sz="1600" u="none" cap="none" strike="noStrike">
                <a:solidFill>
                  <a:srgbClr val="13293D"/>
                </a:solidFill>
                <a:latin typeface="Calibri"/>
                <a:ea typeface="Calibri"/>
                <a:cs typeface="Calibri"/>
                <a:sym typeface="Calibri"/>
              </a:rPr>
              <a:t>7. Responsible AI</a:t>
            </a:r>
            <a:endParaRPr b="0" i="0" sz="1600" u="none" cap="none" strike="noStrike">
              <a:solidFill>
                <a:schemeClr val="dk1"/>
              </a:solidFill>
              <a:latin typeface="Calibri"/>
              <a:ea typeface="Calibri"/>
              <a:cs typeface="Calibri"/>
              <a:sym typeface="Calibri"/>
            </a:endParaRPr>
          </a:p>
          <a:p>
            <a:pPr indent="0" lvl="0" marL="0" marR="0" rtl="0" algn="l">
              <a:spcBef>
                <a:spcPts val="700"/>
              </a:spcBef>
              <a:spcAft>
                <a:spcPts val="0"/>
              </a:spcAft>
              <a:buNone/>
            </a:pPr>
            <a:r>
              <a:rPr b="0" i="0" lang="en" sz="1600" u="none" cap="none" strike="noStrike">
                <a:solidFill>
                  <a:srgbClr val="13293D"/>
                </a:solidFill>
                <a:latin typeface="Calibri"/>
                <a:ea typeface="Calibri"/>
                <a:cs typeface="Calibri"/>
                <a:sym typeface="Calibri"/>
              </a:rPr>
              <a:t>8. Production orientation</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49"/>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1 · CRITERIA 1–3</a:t>
            </a:r>
            <a:endParaRPr b="0" i="0" sz="800" u="none" cap="none" strike="noStrike">
              <a:solidFill>
                <a:schemeClr val="dk1"/>
              </a:solidFill>
              <a:latin typeface="Calibri"/>
              <a:ea typeface="Calibri"/>
              <a:cs typeface="Calibri"/>
              <a:sym typeface="Calibri"/>
            </a:endParaRPr>
          </a:p>
        </p:txBody>
      </p:sp>
      <p:sp>
        <p:nvSpPr>
          <p:cNvPr id="578" name="Google Shape;578;p49"/>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Real Problem, Clear User, Justified AI</a:t>
            </a:r>
            <a:endParaRPr b="0" i="0" sz="2000" u="none" cap="none" strike="noStrike">
              <a:solidFill>
                <a:schemeClr val="dk1"/>
              </a:solidFill>
              <a:latin typeface="Calibri"/>
              <a:ea typeface="Calibri"/>
              <a:cs typeface="Calibri"/>
              <a:sym typeface="Calibri"/>
            </a:endParaRPr>
          </a:p>
        </p:txBody>
      </p:sp>
      <p:cxnSp>
        <p:nvCxnSpPr>
          <p:cNvPr id="579" name="Google Shape;579;p49"/>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580" name="Google Shape;580;p49"/>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581" name="Google Shape;581;p49"/>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
        <p:nvSpPr>
          <p:cNvPr id="582" name="Google Shape;582;p49"/>
          <p:cNvSpPr/>
          <p:nvPr/>
        </p:nvSpPr>
        <p:spPr>
          <a:xfrm>
            <a:off x="411491" y="1268730"/>
            <a:ext cx="8298401" cy="582930"/>
          </a:xfrm>
          <a:prstGeom prst="roundRect">
            <a:avLst>
              <a:gd fmla="val 5882" name="adj"/>
            </a:avLst>
          </a:prstGeom>
          <a:solidFill>
            <a:srgbClr val="F7E1E1"/>
          </a:solidFill>
          <a:ln cap="flat" cmpd="sng" w="15875">
            <a:solidFill>
              <a:srgbClr val="B33A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583" name="Google Shape;583;p49"/>
          <p:cNvSpPr/>
          <p:nvPr/>
        </p:nvSpPr>
        <p:spPr>
          <a:xfrm>
            <a:off x="603520" y="1337310"/>
            <a:ext cx="7914343" cy="44577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B33A3A"/>
              </a:buClr>
              <a:buSzPts val="900"/>
              <a:buFont typeface="Calibri"/>
              <a:buNone/>
            </a:pPr>
            <a:r>
              <a:rPr b="1" i="0" lang="en" sz="1100" u="none" cap="none" strike="noStrike">
                <a:solidFill>
                  <a:srgbClr val="B33A3A"/>
                </a:solidFill>
                <a:latin typeface="Calibri"/>
                <a:ea typeface="Calibri"/>
                <a:cs typeface="Calibri"/>
                <a:sym typeface="Calibri"/>
              </a:rPr>
              <a:t>1. REAL PROBLEM — NOT</a:t>
            </a:r>
            <a:br>
              <a:rPr b="1" i="0" lang="en" sz="1100" u="none" cap="none" strike="noStrike">
                <a:solidFill>
                  <a:srgbClr val="B33A3A"/>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“We want to build an AI chatbot.”</a:t>
            </a:r>
            <a:endParaRPr b="0" i="0" sz="1100" u="none" cap="none" strike="noStrike">
              <a:solidFill>
                <a:schemeClr val="dk1"/>
              </a:solidFill>
              <a:latin typeface="Calibri"/>
              <a:ea typeface="Calibri"/>
              <a:cs typeface="Calibri"/>
              <a:sym typeface="Calibri"/>
            </a:endParaRPr>
          </a:p>
        </p:txBody>
      </p:sp>
      <p:sp>
        <p:nvSpPr>
          <p:cNvPr id="584" name="Google Shape;584;p49"/>
          <p:cNvSpPr/>
          <p:nvPr/>
        </p:nvSpPr>
        <p:spPr>
          <a:xfrm>
            <a:off x="411491" y="1920240"/>
            <a:ext cx="8298401" cy="651510"/>
          </a:xfrm>
          <a:prstGeom prst="roundRect">
            <a:avLst>
              <a:gd fmla="val 5263" name="adj"/>
            </a:avLst>
          </a:prstGeom>
          <a:solidFill>
            <a:srgbClr val="DFF0E1"/>
          </a:solidFill>
          <a:ln cap="flat" cmpd="sng" w="15875">
            <a:solidFill>
              <a:srgbClr val="3E7C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585" name="Google Shape;585;p49"/>
          <p:cNvSpPr/>
          <p:nvPr/>
        </p:nvSpPr>
        <p:spPr>
          <a:xfrm>
            <a:off x="603520" y="1988820"/>
            <a:ext cx="7914343" cy="51435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3E7C4A"/>
              </a:buClr>
              <a:buSzPts val="900"/>
              <a:buFont typeface="Calibri"/>
              <a:buNone/>
            </a:pPr>
            <a:r>
              <a:rPr b="1" i="0" lang="en" sz="1100" u="none" cap="none" strike="noStrike">
                <a:solidFill>
                  <a:srgbClr val="3E7C4A"/>
                </a:solidFill>
                <a:latin typeface="Calibri"/>
                <a:ea typeface="Calibri"/>
                <a:cs typeface="Calibri"/>
                <a:sym typeface="Calibri"/>
              </a:rPr>
              <a:t>1. REAL PROBLEM — INSTEAD</a:t>
            </a:r>
            <a:br>
              <a:rPr b="1" i="0" lang="en" sz="1100" u="none" cap="none" strike="noStrike">
                <a:solidFill>
                  <a:srgbClr val="3E7C4A"/>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“Students struggle to find accurate answers across fragmented university regulations.”</a:t>
            </a:r>
            <a:endParaRPr b="0" i="0" sz="1100" u="none" cap="none" strike="noStrike">
              <a:solidFill>
                <a:schemeClr val="dk1"/>
              </a:solidFill>
              <a:latin typeface="Calibri"/>
              <a:ea typeface="Calibri"/>
              <a:cs typeface="Calibri"/>
              <a:sym typeface="Calibri"/>
            </a:endParaRPr>
          </a:p>
        </p:txBody>
      </p:sp>
      <p:sp>
        <p:nvSpPr>
          <p:cNvPr id="586" name="Google Shape;586;p49"/>
          <p:cNvSpPr/>
          <p:nvPr/>
        </p:nvSpPr>
        <p:spPr>
          <a:xfrm>
            <a:off x="411491" y="2674620"/>
            <a:ext cx="8298401" cy="548640"/>
          </a:xfrm>
          <a:prstGeom prst="roundRect">
            <a:avLst>
              <a:gd fmla="val 625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587" name="Google Shape;587;p49"/>
          <p:cNvSpPr/>
          <p:nvPr/>
        </p:nvSpPr>
        <p:spPr>
          <a:xfrm>
            <a:off x="603520" y="2743200"/>
            <a:ext cx="7914343"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2. CLEAR USER</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Who, specifically, experiences the problem? Not “everyone.”</a:t>
            </a:r>
            <a:endParaRPr b="0" i="0" sz="1100" u="none" cap="none" strike="noStrike">
              <a:solidFill>
                <a:schemeClr val="dk1"/>
              </a:solidFill>
              <a:latin typeface="Calibri"/>
              <a:ea typeface="Calibri"/>
              <a:cs typeface="Calibri"/>
              <a:sym typeface="Calibri"/>
            </a:endParaRPr>
          </a:p>
        </p:txBody>
      </p:sp>
      <p:sp>
        <p:nvSpPr>
          <p:cNvPr id="588" name="Google Shape;588;p49"/>
          <p:cNvSpPr/>
          <p:nvPr/>
        </p:nvSpPr>
        <p:spPr>
          <a:xfrm>
            <a:off x="411491" y="3326130"/>
            <a:ext cx="8298401" cy="548640"/>
          </a:xfrm>
          <a:prstGeom prst="roundRect">
            <a:avLst>
              <a:gd fmla="val 625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589" name="Google Shape;589;p49"/>
          <p:cNvSpPr/>
          <p:nvPr/>
        </p:nvSpPr>
        <p:spPr>
          <a:xfrm>
            <a:off x="603520" y="3394710"/>
            <a:ext cx="7914343"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3. JUSTIFIED AI</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You must be able to explain: why AI, specifically, for this problem?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sp>
        <p:nvSpPr>
          <p:cNvPr id="595" name="Google Shape;595;p50"/>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1 · CRITERION 4</a:t>
            </a:r>
            <a:endParaRPr b="0" i="0" sz="800" u="none" cap="none" strike="noStrike">
              <a:solidFill>
                <a:schemeClr val="dk1"/>
              </a:solidFill>
              <a:latin typeface="Calibri"/>
              <a:ea typeface="Calibri"/>
              <a:cs typeface="Calibri"/>
              <a:sym typeface="Calibri"/>
            </a:endParaRPr>
          </a:p>
        </p:txBody>
      </p:sp>
      <p:sp>
        <p:nvSpPr>
          <p:cNvPr id="596" name="Google Shape;596;p50"/>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Meaningful AI Capability</a:t>
            </a:r>
            <a:endParaRPr b="0" i="0" sz="2000" u="none" cap="none" strike="noStrike">
              <a:solidFill>
                <a:schemeClr val="dk1"/>
              </a:solidFill>
              <a:latin typeface="Calibri"/>
              <a:ea typeface="Calibri"/>
              <a:cs typeface="Calibri"/>
              <a:sym typeface="Calibri"/>
            </a:endParaRPr>
          </a:p>
        </p:txBody>
      </p:sp>
      <p:cxnSp>
        <p:nvCxnSpPr>
          <p:cNvPr id="597" name="Google Shape;597;p50"/>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598" name="Google Shape;598;p50"/>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599" name="Google Shape;599;p50"/>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sp>
        <p:nvSpPr>
          <p:cNvPr id="600" name="Google Shape;600;p50"/>
          <p:cNvSpPr/>
          <p:nvPr/>
        </p:nvSpPr>
        <p:spPr>
          <a:xfrm>
            <a:off x="411491" y="1268730"/>
            <a:ext cx="8298401" cy="274320"/>
          </a:xfrm>
          <a:prstGeom prst="rect">
            <a:avLst/>
          </a:prstGeom>
          <a:noFill/>
          <a:ln>
            <a:noFill/>
          </a:ln>
        </p:spPr>
        <p:txBody>
          <a:bodyPr anchorCtr="0" anchor="t" bIns="34275" lIns="68575" spcFirstLastPara="1" rIns="68575" wrap="square" tIns="34275">
            <a:noAutofit/>
          </a:bodyPr>
          <a:lstStyle/>
          <a:p>
            <a:pPr indent="-184150" lvl="0" marL="177800" marR="0" rtl="0" algn="l">
              <a:spcBef>
                <a:spcPts val="0"/>
              </a:spcBef>
              <a:spcAft>
                <a:spcPts val="0"/>
              </a:spcAft>
              <a:buClr>
                <a:srgbClr val="5C6B7A"/>
              </a:buClr>
              <a:buSzPts val="1100"/>
              <a:buFont typeface="Calibri"/>
              <a:buChar char="•"/>
            </a:pPr>
            <a:r>
              <a:rPr b="0" i="1" lang="en" sz="1100" u="none" cap="none" strike="noStrike">
                <a:solidFill>
                  <a:srgbClr val="5C6B7A"/>
                </a:solidFill>
                <a:latin typeface="Calibri"/>
                <a:ea typeface="Calibri"/>
                <a:cs typeface="Calibri"/>
                <a:sym typeface="Calibri"/>
              </a:rPr>
              <a:t>Not simply:</a:t>
            </a:r>
            <a:endParaRPr b="0" i="0" sz="1100" u="none" cap="none" strike="noStrike">
              <a:solidFill>
                <a:schemeClr val="dk1"/>
              </a:solidFill>
              <a:latin typeface="Calibri"/>
              <a:ea typeface="Calibri"/>
              <a:cs typeface="Calibri"/>
              <a:sym typeface="Calibri"/>
            </a:endParaRPr>
          </a:p>
        </p:txBody>
      </p:sp>
      <p:sp>
        <p:nvSpPr>
          <p:cNvPr id="601" name="Google Shape;601;p50"/>
          <p:cNvSpPr/>
          <p:nvPr/>
        </p:nvSpPr>
        <p:spPr>
          <a:xfrm>
            <a:off x="411491" y="1543050"/>
            <a:ext cx="8298401" cy="445770"/>
          </a:xfrm>
          <a:prstGeom prst="roundRect">
            <a:avLst>
              <a:gd fmla="val 9231"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2" name="Google Shape;602;p50"/>
          <p:cNvSpPr/>
          <p:nvPr/>
        </p:nvSpPr>
        <p:spPr>
          <a:xfrm>
            <a:off x="582946" y="1543050"/>
            <a:ext cx="7955492" cy="4457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6E4F0"/>
              </a:buClr>
              <a:buSzPts val="1400"/>
              <a:buFont typeface="Consolas"/>
              <a:buNone/>
            </a:pPr>
            <a:r>
              <a:rPr b="0" i="0" lang="en" sz="1400" u="none" cap="none" strike="noStrike">
                <a:solidFill>
                  <a:srgbClr val="D6E4F0"/>
                </a:solidFill>
                <a:latin typeface="Consolas"/>
                <a:ea typeface="Consolas"/>
                <a:cs typeface="Consolas"/>
                <a:sym typeface="Consolas"/>
              </a:rPr>
              <a:t>UI  →  OpenAI API</a:t>
            </a:r>
            <a:endParaRPr b="0" i="0" sz="1400" u="none" cap="none" strike="noStrike">
              <a:solidFill>
                <a:schemeClr val="dk1"/>
              </a:solidFill>
              <a:latin typeface="Calibri"/>
              <a:ea typeface="Calibri"/>
              <a:cs typeface="Calibri"/>
              <a:sym typeface="Calibri"/>
            </a:endParaRPr>
          </a:p>
        </p:txBody>
      </p:sp>
      <p:sp>
        <p:nvSpPr>
          <p:cNvPr id="603" name="Google Shape;603;p50"/>
          <p:cNvSpPr/>
          <p:nvPr/>
        </p:nvSpPr>
        <p:spPr>
          <a:xfrm>
            <a:off x="411491" y="2160270"/>
            <a:ext cx="8298401" cy="342900"/>
          </a:xfrm>
          <a:prstGeom prst="rect">
            <a:avLst/>
          </a:prstGeom>
          <a:noFill/>
          <a:ln>
            <a:noFill/>
          </a:ln>
        </p:spPr>
        <p:txBody>
          <a:bodyPr anchorCtr="0" anchor="t" bIns="34275" lIns="68575" spcFirstLastPara="1" rIns="68575" wrap="square" tIns="34275">
            <a:noAutofit/>
          </a:bodyPr>
          <a:lstStyle/>
          <a:p>
            <a:pPr indent="-184150" lvl="0" marL="177800" marR="0" rtl="0" algn="l">
              <a:spcBef>
                <a:spcPts val="0"/>
              </a:spcBef>
              <a:spcAft>
                <a:spcPts val="0"/>
              </a:spcAft>
              <a:buClr>
                <a:srgbClr val="5C6B7A"/>
              </a:buClr>
              <a:buSzPts val="1100"/>
              <a:buFont typeface="Calibri"/>
              <a:buChar char="•"/>
            </a:pPr>
            <a:r>
              <a:rPr b="0" i="1" lang="en" sz="1100" u="none" cap="none" strike="noStrike">
                <a:solidFill>
                  <a:srgbClr val="5C6B7A"/>
                </a:solidFill>
                <a:latin typeface="Calibri"/>
                <a:ea typeface="Calibri"/>
                <a:cs typeface="Calibri"/>
                <a:sym typeface="Calibri"/>
              </a:rPr>
              <a:t>Your system should demonstrate an appropriate technique, such as:</a:t>
            </a:r>
            <a:endParaRPr b="0" i="0" sz="1100" u="none" cap="none" strike="noStrike">
              <a:solidFill>
                <a:schemeClr val="dk1"/>
              </a:solidFill>
              <a:latin typeface="Calibri"/>
              <a:ea typeface="Calibri"/>
              <a:cs typeface="Calibri"/>
              <a:sym typeface="Calibri"/>
            </a:endParaRPr>
          </a:p>
        </p:txBody>
      </p:sp>
      <p:sp>
        <p:nvSpPr>
          <p:cNvPr id="604" name="Google Shape;604;p50"/>
          <p:cNvSpPr/>
          <p:nvPr/>
        </p:nvSpPr>
        <p:spPr>
          <a:xfrm>
            <a:off x="421778" y="2442670"/>
            <a:ext cx="8298300" cy="1097400"/>
          </a:xfrm>
          <a:prstGeom prst="rect">
            <a:avLst/>
          </a:prstGeom>
          <a:noFill/>
          <a:ln>
            <a:noFill/>
          </a:ln>
        </p:spPr>
        <p:txBody>
          <a:bodyPr anchorCtr="0" anchor="t" bIns="34275" lIns="68575" spcFirstLastPara="1" rIns="68575" wrap="square" tIns="34275">
            <a:noAutofit/>
          </a:bodyPr>
          <a:lstStyle/>
          <a:p>
            <a:pPr indent="-171450" lvl="0" marL="177800" marR="0" rtl="0" algn="l">
              <a:spcBef>
                <a:spcPts val="0"/>
              </a:spcBef>
              <a:spcAft>
                <a:spcPts val="0"/>
              </a:spcAft>
              <a:buClr>
                <a:srgbClr val="13293D"/>
              </a:buClr>
              <a:buSzPts val="1100"/>
              <a:buFont typeface="Calibri"/>
              <a:buChar char="•"/>
            </a:pPr>
            <a:r>
              <a:rPr b="0" i="0" lang="en" sz="1100" u="none" cap="none" strike="noStrike">
                <a:solidFill>
                  <a:srgbClr val="13293D"/>
                </a:solidFill>
                <a:latin typeface="Calibri"/>
                <a:ea typeface="Calibri"/>
                <a:cs typeface="Calibri"/>
                <a:sym typeface="Calibri"/>
              </a:rPr>
              <a:t>RAG</a:t>
            </a:r>
            <a:endParaRPr b="0" i="0" sz="1100" u="none" cap="none" strike="noStrike">
              <a:solidFill>
                <a:schemeClr val="dk1"/>
              </a:solidFill>
              <a:latin typeface="Calibri"/>
              <a:ea typeface="Calibri"/>
              <a:cs typeface="Calibri"/>
              <a:sym typeface="Calibri"/>
            </a:endParaRPr>
          </a:p>
          <a:p>
            <a:pPr indent="-171450" lvl="0" marL="177800" marR="0" rtl="0" algn="l">
              <a:spcBef>
                <a:spcPts val="700"/>
              </a:spcBef>
              <a:spcAft>
                <a:spcPts val="0"/>
              </a:spcAft>
              <a:buClr>
                <a:srgbClr val="13293D"/>
              </a:buClr>
              <a:buSzPts val="1100"/>
              <a:buFont typeface="Calibri"/>
              <a:buChar char="•"/>
            </a:pPr>
            <a:r>
              <a:rPr b="0" i="0" lang="en" sz="1100" u="none" cap="none" strike="noStrike">
                <a:solidFill>
                  <a:srgbClr val="13293D"/>
                </a:solidFill>
                <a:latin typeface="Calibri"/>
                <a:ea typeface="Calibri"/>
                <a:cs typeface="Calibri"/>
                <a:sym typeface="Calibri"/>
              </a:rPr>
              <a:t>Tools / function calling</a:t>
            </a:r>
            <a:endParaRPr b="0" i="0" sz="1100" u="none" cap="none" strike="noStrike">
              <a:solidFill>
                <a:schemeClr val="dk1"/>
              </a:solidFill>
              <a:latin typeface="Calibri"/>
              <a:ea typeface="Calibri"/>
              <a:cs typeface="Calibri"/>
              <a:sym typeface="Calibri"/>
            </a:endParaRPr>
          </a:p>
          <a:p>
            <a:pPr indent="-171450" lvl="0" marL="177800" marR="0" rtl="0" algn="l">
              <a:spcBef>
                <a:spcPts val="700"/>
              </a:spcBef>
              <a:spcAft>
                <a:spcPts val="0"/>
              </a:spcAft>
              <a:buClr>
                <a:srgbClr val="13293D"/>
              </a:buClr>
              <a:buSzPts val="1100"/>
              <a:buFont typeface="Calibri"/>
              <a:buChar char="•"/>
            </a:pPr>
            <a:r>
              <a:rPr b="0" i="0" lang="en" sz="1100" u="none" cap="none" strike="noStrike">
                <a:solidFill>
                  <a:srgbClr val="13293D"/>
                </a:solidFill>
                <a:latin typeface="Calibri"/>
                <a:ea typeface="Calibri"/>
                <a:cs typeface="Calibri"/>
                <a:sym typeface="Calibri"/>
              </a:rPr>
              <a:t>Structured outputs</a:t>
            </a:r>
            <a:endParaRPr b="0" i="0" sz="1100" u="none" cap="none" strike="noStrike">
              <a:solidFill>
                <a:schemeClr val="dk1"/>
              </a:solidFill>
              <a:latin typeface="Calibri"/>
              <a:ea typeface="Calibri"/>
              <a:cs typeface="Calibri"/>
              <a:sym typeface="Calibri"/>
            </a:endParaRPr>
          </a:p>
          <a:p>
            <a:pPr indent="-171450" lvl="0" marL="177800" marR="0" rtl="0" algn="l">
              <a:spcBef>
                <a:spcPts val="700"/>
              </a:spcBef>
              <a:spcAft>
                <a:spcPts val="0"/>
              </a:spcAft>
              <a:buClr>
                <a:srgbClr val="13293D"/>
              </a:buClr>
              <a:buSzPts val="1100"/>
              <a:buFont typeface="Calibri"/>
              <a:buChar char="•"/>
            </a:pPr>
            <a:r>
              <a:rPr b="0" i="0" lang="en" sz="1100" u="none" cap="none" strike="noStrike">
                <a:solidFill>
                  <a:srgbClr val="13293D"/>
                </a:solidFill>
                <a:latin typeface="Calibri"/>
                <a:ea typeface="Calibri"/>
                <a:cs typeface="Calibri"/>
                <a:sym typeface="Calibri"/>
              </a:rPr>
              <a:t>Workflows / agents</a:t>
            </a:r>
            <a:endParaRPr b="0" i="0" sz="1100" u="none" cap="none" strike="noStrike">
              <a:solidFill>
                <a:schemeClr val="dk1"/>
              </a:solidFill>
              <a:latin typeface="Calibri"/>
              <a:ea typeface="Calibri"/>
              <a:cs typeface="Calibri"/>
              <a:sym typeface="Calibri"/>
            </a:endParaRPr>
          </a:p>
          <a:p>
            <a:pPr indent="-171450" lvl="0" marL="177800" marR="0" rtl="0" algn="l">
              <a:spcBef>
                <a:spcPts val="700"/>
              </a:spcBef>
              <a:spcAft>
                <a:spcPts val="0"/>
              </a:spcAft>
              <a:buClr>
                <a:srgbClr val="13293D"/>
              </a:buClr>
              <a:buSzPts val="1100"/>
              <a:buFont typeface="Calibri"/>
              <a:buChar char="•"/>
            </a:pPr>
            <a:r>
              <a:rPr b="0" i="0" lang="en" sz="1100" u="none" cap="none" strike="noStrike">
                <a:solidFill>
                  <a:srgbClr val="13293D"/>
                </a:solidFill>
                <a:latin typeface="Calibri"/>
                <a:ea typeface="Calibri"/>
                <a:cs typeface="Calibri"/>
                <a:sym typeface="Calibri"/>
              </a:rPr>
              <a:t>Or another justified AI capability</a:t>
            </a:r>
            <a:endParaRPr b="0" i="0" sz="1100" u="none" cap="none" strike="noStrike">
              <a:solidFill>
                <a:schemeClr val="dk1"/>
              </a:solidFill>
              <a:latin typeface="Calibri"/>
              <a:ea typeface="Calibri"/>
              <a:cs typeface="Calibri"/>
              <a:sym typeface="Calibri"/>
            </a:endParaRPr>
          </a:p>
        </p:txBody>
      </p:sp>
      <p:sp>
        <p:nvSpPr>
          <p:cNvPr id="605" name="Google Shape;605;p50"/>
          <p:cNvSpPr/>
          <p:nvPr/>
        </p:nvSpPr>
        <p:spPr>
          <a:xfrm>
            <a:off x="411491" y="3807070"/>
            <a:ext cx="8298300" cy="582900"/>
          </a:xfrm>
          <a:prstGeom prst="roundRect">
            <a:avLst>
              <a:gd fmla="val 5882"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6" name="Google Shape;606;p50"/>
          <p:cNvSpPr/>
          <p:nvPr/>
        </p:nvSpPr>
        <p:spPr>
          <a:xfrm>
            <a:off x="603520" y="3875650"/>
            <a:ext cx="7914300" cy="4458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IMPORTANT</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Not every project needs everything. One well-justified capability beats four shallow ones.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p51"/>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1 · CRITERIA 5–8</a:t>
            </a:r>
            <a:endParaRPr b="0" i="0" sz="800" u="none" cap="none" strike="noStrike">
              <a:solidFill>
                <a:schemeClr val="dk1"/>
              </a:solidFill>
              <a:latin typeface="Calibri"/>
              <a:ea typeface="Calibri"/>
              <a:cs typeface="Calibri"/>
              <a:sym typeface="Calibri"/>
            </a:endParaRPr>
          </a:p>
        </p:txBody>
      </p:sp>
      <p:sp>
        <p:nvSpPr>
          <p:cNvPr id="613" name="Google Shape;613;p51"/>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Still Software Engineering</a:t>
            </a:r>
            <a:endParaRPr b="0" i="0" sz="2000" u="none" cap="none" strike="noStrike">
              <a:solidFill>
                <a:schemeClr val="dk1"/>
              </a:solidFill>
              <a:latin typeface="Calibri"/>
              <a:ea typeface="Calibri"/>
              <a:cs typeface="Calibri"/>
              <a:sym typeface="Calibri"/>
            </a:endParaRPr>
          </a:p>
        </p:txBody>
      </p:sp>
      <p:cxnSp>
        <p:nvCxnSpPr>
          <p:cNvPr id="614" name="Google Shape;614;p51"/>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615" name="Google Shape;615;p51"/>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616" name="Google Shape;616;p51"/>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sp>
        <p:nvSpPr>
          <p:cNvPr id="617" name="Google Shape;617;p51"/>
          <p:cNvSpPr/>
          <p:nvPr/>
        </p:nvSpPr>
        <p:spPr>
          <a:xfrm>
            <a:off x="411491" y="1268730"/>
            <a:ext cx="8298401" cy="685800"/>
          </a:xfrm>
          <a:prstGeom prst="roundRect">
            <a:avLst>
              <a:gd fmla="val 500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618" name="Google Shape;618;p51"/>
          <p:cNvSpPr/>
          <p:nvPr/>
        </p:nvSpPr>
        <p:spPr>
          <a:xfrm>
            <a:off x="603520" y="1337310"/>
            <a:ext cx="7914343" cy="54864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5. SOFTWARE ENGINEERING</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Architecture, API design, Git workflow, testing, documentation, security, deployment. The project is still a software engineering project.</a:t>
            </a:r>
            <a:endParaRPr b="0" i="0" sz="1100" u="none" cap="none" strike="noStrike">
              <a:solidFill>
                <a:schemeClr val="dk1"/>
              </a:solidFill>
              <a:latin typeface="Calibri"/>
              <a:ea typeface="Calibri"/>
              <a:cs typeface="Calibri"/>
              <a:sym typeface="Calibri"/>
            </a:endParaRPr>
          </a:p>
        </p:txBody>
      </p:sp>
      <p:sp>
        <p:nvSpPr>
          <p:cNvPr id="619" name="Google Shape;619;p51"/>
          <p:cNvSpPr/>
          <p:nvPr/>
        </p:nvSpPr>
        <p:spPr>
          <a:xfrm>
            <a:off x="411491" y="2023110"/>
            <a:ext cx="8298401" cy="514350"/>
          </a:xfrm>
          <a:prstGeom prst="roundRect">
            <a:avLst>
              <a:gd fmla="val 6667"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620" name="Google Shape;620;p51"/>
          <p:cNvSpPr/>
          <p:nvPr/>
        </p:nvSpPr>
        <p:spPr>
          <a:xfrm>
            <a:off x="603520" y="2091690"/>
            <a:ext cx="7914343" cy="37719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6. EVALUATION</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You must prove the AI component works.</a:t>
            </a:r>
            <a:endParaRPr b="0" i="0" sz="1100" u="none" cap="none" strike="noStrike">
              <a:solidFill>
                <a:schemeClr val="dk1"/>
              </a:solidFill>
              <a:latin typeface="Calibri"/>
              <a:ea typeface="Calibri"/>
              <a:cs typeface="Calibri"/>
              <a:sym typeface="Calibri"/>
            </a:endParaRPr>
          </a:p>
        </p:txBody>
      </p:sp>
      <p:sp>
        <p:nvSpPr>
          <p:cNvPr id="621" name="Google Shape;621;p51"/>
          <p:cNvSpPr/>
          <p:nvPr/>
        </p:nvSpPr>
        <p:spPr>
          <a:xfrm>
            <a:off x="411491" y="2606040"/>
            <a:ext cx="8298401" cy="514350"/>
          </a:xfrm>
          <a:prstGeom prst="roundRect">
            <a:avLst>
              <a:gd fmla="val 6667"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622" name="Google Shape;622;p51"/>
          <p:cNvSpPr/>
          <p:nvPr/>
        </p:nvSpPr>
        <p:spPr>
          <a:xfrm>
            <a:off x="603520" y="2674620"/>
            <a:ext cx="7914343" cy="37719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7. RESPONSIBLE AI</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You must identify risks and mitigations.</a:t>
            </a:r>
            <a:endParaRPr b="0" i="0" sz="1100" u="none" cap="none" strike="noStrike">
              <a:solidFill>
                <a:schemeClr val="dk1"/>
              </a:solidFill>
              <a:latin typeface="Calibri"/>
              <a:ea typeface="Calibri"/>
              <a:cs typeface="Calibri"/>
              <a:sym typeface="Calibri"/>
            </a:endParaRPr>
          </a:p>
        </p:txBody>
      </p:sp>
      <p:sp>
        <p:nvSpPr>
          <p:cNvPr id="623" name="Google Shape;623;p51"/>
          <p:cNvSpPr/>
          <p:nvPr/>
        </p:nvSpPr>
        <p:spPr>
          <a:xfrm>
            <a:off x="411491" y="3188970"/>
            <a:ext cx="8298401" cy="582930"/>
          </a:xfrm>
          <a:prstGeom prst="roundRect">
            <a:avLst>
              <a:gd fmla="val 5882"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1600"/>
          </a:p>
        </p:txBody>
      </p:sp>
      <p:sp>
        <p:nvSpPr>
          <p:cNvPr id="624" name="Google Shape;624;p51"/>
          <p:cNvSpPr/>
          <p:nvPr/>
        </p:nvSpPr>
        <p:spPr>
          <a:xfrm>
            <a:off x="603520" y="3257550"/>
            <a:ext cx="7914343" cy="44577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8. PRODUCTION ORIENTATION</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The final project should be deployable and demonstrable, not a notebook.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629" name="Shape 629"/>
        <p:cNvGrpSpPr/>
        <p:nvPr/>
      </p:nvGrpSpPr>
      <p:grpSpPr>
        <a:xfrm>
          <a:off x="0" y="0"/>
          <a:ext cx="0" cy="0"/>
          <a:chOff x="0" y="0"/>
          <a:chExt cx="0" cy="0"/>
        </a:xfrm>
      </p:grpSpPr>
      <p:sp>
        <p:nvSpPr>
          <p:cNvPr id="630" name="Google Shape;630;p52"/>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1" name="Google Shape;631;p52"/>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2</a:t>
            </a:r>
            <a:endParaRPr b="0" i="0" sz="4100" u="none" cap="none" strike="noStrike">
              <a:solidFill>
                <a:schemeClr val="dk1"/>
              </a:solidFill>
              <a:latin typeface="Calibri"/>
              <a:ea typeface="Calibri"/>
              <a:cs typeface="Calibri"/>
              <a:sym typeface="Calibri"/>
            </a:endParaRPr>
          </a:p>
        </p:txBody>
      </p:sp>
      <p:sp>
        <p:nvSpPr>
          <p:cNvPr id="632" name="Google Shape;632;p52"/>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2</a:t>
            </a:r>
            <a:endParaRPr b="0" i="0" sz="1100" u="none" cap="none" strike="noStrike">
              <a:solidFill>
                <a:schemeClr val="dk1"/>
              </a:solidFill>
              <a:latin typeface="Calibri"/>
              <a:ea typeface="Calibri"/>
              <a:cs typeface="Calibri"/>
              <a:sym typeface="Calibri"/>
            </a:endParaRPr>
          </a:p>
        </p:txBody>
      </p:sp>
      <p:sp>
        <p:nvSpPr>
          <p:cNvPr id="633" name="Google Shape;633;p52"/>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Capstone Examples</a:t>
            </a:r>
            <a:endParaRPr b="0" i="0" sz="2400" u="none" cap="none" strike="noStrike">
              <a:solidFill>
                <a:schemeClr val="dk1"/>
              </a:solidFill>
              <a:latin typeface="Calibri"/>
              <a:ea typeface="Calibri"/>
              <a:cs typeface="Calibri"/>
              <a:sym typeface="Calibri"/>
            </a:endParaRPr>
          </a:p>
        </p:txBody>
      </p:sp>
      <p:sp>
        <p:nvSpPr>
          <p:cNvPr id="634" name="Google Shape;634;p52"/>
          <p:cNvSpPr/>
          <p:nvPr/>
        </p:nvSpPr>
        <p:spPr>
          <a:xfrm>
            <a:off x="1748837" y="2571750"/>
            <a:ext cx="6858183"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300"/>
              <a:buFont typeface="Cambria"/>
              <a:buNone/>
            </a:pPr>
            <a:r>
              <a:rPr b="0" i="1" lang="en" sz="1300" u="none" cap="none" strike="noStrike">
                <a:solidFill>
                  <a:srgbClr val="8DA9C4"/>
                </a:solidFill>
                <a:latin typeface="Cambria"/>
                <a:ea typeface="Cambria"/>
                <a:cs typeface="Cambria"/>
                <a:sym typeface="Cambria"/>
              </a:rPr>
              <a:t>Good and bad, side by side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9" name="Shape 639"/>
        <p:cNvGrpSpPr/>
        <p:nvPr/>
      </p:nvGrpSpPr>
      <p:grpSpPr>
        <a:xfrm>
          <a:off x="0" y="0"/>
          <a:ext cx="0" cy="0"/>
          <a:chOff x="0" y="0"/>
          <a:chExt cx="0" cy="0"/>
        </a:xfrm>
      </p:grpSpPr>
      <p:sp>
        <p:nvSpPr>
          <p:cNvPr id="640" name="Google Shape;640;p53"/>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EXAMPLE</a:t>
            </a:r>
            <a:endParaRPr b="0" i="0" sz="800" u="none" cap="none" strike="noStrike">
              <a:solidFill>
                <a:schemeClr val="dk1"/>
              </a:solidFill>
              <a:latin typeface="Calibri"/>
              <a:ea typeface="Calibri"/>
              <a:cs typeface="Calibri"/>
              <a:sym typeface="Calibri"/>
            </a:endParaRPr>
          </a:p>
        </p:txBody>
      </p:sp>
      <p:sp>
        <p:nvSpPr>
          <p:cNvPr id="641" name="Google Shape;641;p53"/>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“AI Chatbot”</a:t>
            </a:r>
            <a:endParaRPr b="0" i="0" sz="2000" u="none" cap="none" strike="noStrike">
              <a:solidFill>
                <a:schemeClr val="dk1"/>
              </a:solidFill>
              <a:latin typeface="Calibri"/>
              <a:ea typeface="Calibri"/>
              <a:cs typeface="Calibri"/>
              <a:sym typeface="Calibri"/>
            </a:endParaRPr>
          </a:p>
        </p:txBody>
      </p:sp>
      <p:cxnSp>
        <p:nvCxnSpPr>
          <p:cNvPr id="642" name="Google Shape;642;p53"/>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643" name="Google Shape;643;p53"/>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644" name="Google Shape;644;p53"/>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sp>
        <p:nvSpPr>
          <p:cNvPr id="645" name="Google Shape;645;p53"/>
          <p:cNvSpPr/>
          <p:nvPr/>
        </p:nvSpPr>
        <p:spPr>
          <a:xfrm>
            <a:off x="411491" y="1268730"/>
            <a:ext cx="1783128" cy="377190"/>
          </a:xfrm>
          <a:prstGeom prst="roundRect">
            <a:avLst>
              <a:gd fmla="val 50909" name="adj"/>
            </a:avLst>
          </a:prstGeom>
          <a:solidFill>
            <a:srgbClr val="F7E1E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6" name="Google Shape;646;p53"/>
          <p:cNvSpPr/>
          <p:nvPr/>
        </p:nvSpPr>
        <p:spPr>
          <a:xfrm>
            <a:off x="411491" y="1268730"/>
            <a:ext cx="1783128"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B33A3A"/>
              </a:buClr>
              <a:buSzPts val="1100"/>
              <a:buFont typeface="Calibri"/>
              <a:buNone/>
            </a:pPr>
            <a:r>
              <a:rPr b="1" i="0" lang="en" sz="1100" u="none" cap="none" strike="noStrike">
                <a:solidFill>
                  <a:srgbClr val="B33A3A"/>
                </a:solidFill>
                <a:latin typeface="Calibri"/>
                <a:ea typeface="Calibri"/>
                <a:cs typeface="Calibri"/>
                <a:sym typeface="Calibri"/>
              </a:rPr>
              <a:t>❌ WEAK</a:t>
            </a:r>
            <a:endParaRPr b="0" i="0" sz="1100" u="none" cap="none" strike="noStrike">
              <a:solidFill>
                <a:schemeClr val="dk1"/>
              </a:solidFill>
              <a:latin typeface="Calibri"/>
              <a:ea typeface="Calibri"/>
              <a:cs typeface="Calibri"/>
              <a:sym typeface="Calibri"/>
            </a:endParaRPr>
          </a:p>
        </p:txBody>
      </p:sp>
      <p:graphicFrame>
        <p:nvGraphicFramePr>
          <p:cNvPr id="647" name="Google Shape;647;p53"/>
          <p:cNvGraphicFramePr/>
          <p:nvPr/>
        </p:nvGraphicFramePr>
        <p:xfrm>
          <a:off x="411491" y="1783080"/>
          <a:ext cx="3000000" cy="3000000"/>
        </p:xfrm>
        <a:graphic>
          <a:graphicData uri="http://schemas.openxmlformats.org/drawingml/2006/table">
            <a:tbl>
              <a:tblPr>
                <a:noFill/>
                <a:tableStyleId>{A7E7F7E0-614D-4D13-9398-B1847FD5B946}</a:tableStyleId>
              </a:tblPr>
              <a:tblGrid>
                <a:gridCol w="1783125"/>
                <a:gridCol w="6515250"/>
              </a:tblGrid>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Problem</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Unclear.</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User</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Everyone.</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AI justification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Because AI is popular.</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Evaluation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“It works.”</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sp>
        <p:nvSpPr>
          <p:cNvPr id="653" name="Google Shape;653;p54"/>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EXAMPLE</a:t>
            </a:r>
            <a:endParaRPr b="0" i="0" sz="800" u="none" cap="none" strike="noStrike">
              <a:solidFill>
                <a:schemeClr val="dk1"/>
              </a:solidFill>
              <a:latin typeface="Calibri"/>
              <a:ea typeface="Calibri"/>
              <a:cs typeface="Calibri"/>
              <a:sym typeface="Calibri"/>
            </a:endParaRPr>
          </a:p>
        </p:txBody>
      </p:sp>
      <p:sp>
        <p:nvSpPr>
          <p:cNvPr id="654" name="Google Shape;654;p54"/>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“University FAQ Chatbot”</a:t>
            </a:r>
            <a:endParaRPr b="0" i="0" sz="2000" u="none" cap="none" strike="noStrike">
              <a:solidFill>
                <a:schemeClr val="dk1"/>
              </a:solidFill>
              <a:latin typeface="Calibri"/>
              <a:ea typeface="Calibri"/>
              <a:cs typeface="Calibri"/>
              <a:sym typeface="Calibri"/>
            </a:endParaRPr>
          </a:p>
        </p:txBody>
      </p:sp>
      <p:cxnSp>
        <p:nvCxnSpPr>
          <p:cNvPr id="655" name="Google Shape;655;p54"/>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656" name="Google Shape;656;p54"/>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657" name="Google Shape;657;p54"/>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sp>
        <p:nvSpPr>
          <p:cNvPr id="658" name="Google Shape;658;p54"/>
          <p:cNvSpPr/>
          <p:nvPr/>
        </p:nvSpPr>
        <p:spPr>
          <a:xfrm>
            <a:off x="411491" y="1268730"/>
            <a:ext cx="1783128" cy="377190"/>
          </a:xfrm>
          <a:prstGeom prst="roundRect">
            <a:avLst>
              <a:gd fmla="val 50909" name="adj"/>
            </a:avLst>
          </a:prstGeom>
          <a:solidFill>
            <a:srgbClr val="FBF0D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9" name="Google Shape;659;p54"/>
          <p:cNvSpPr/>
          <p:nvPr/>
        </p:nvSpPr>
        <p:spPr>
          <a:xfrm>
            <a:off x="411491" y="1268730"/>
            <a:ext cx="1783128"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B8860B"/>
              </a:buClr>
              <a:buSzPts val="1100"/>
              <a:buFont typeface="Calibri"/>
              <a:buNone/>
            </a:pPr>
            <a:r>
              <a:rPr b="1" i="0" lang="en" sz="1100" u="none" cap="none" strike="noStrike">
                <a:solidFill>
                  <a:srgbClr val="B8860B"/>
                </a:solidFill>
                <a:latin typeface="Calibri"/>
                <a:ea typeface="Calibri"/>
                <a:cs typeface="Calibri"/>
                <a:sym typeface="Calibri"/>
              </a:rPr>
              <a:t>⚠️ BETTER</a:t>
            </a:r>
            <a:endParaRPr b="0" i="0" sz="1100" u="none" cap="none" strike="noStrike">
              <a:solidFill>
                <a:schemeClr val="dk1"/>
              </a:solidFill>
              <a:latin typeface="Calibri"/>
              <a:ea typeface="Calibri"/>
              <a:cs typeface="Calibri"/>
              <a:sym typeface="Calibri"/>
            </a:endParaRPr>
          </a:p>
        </p:txBody>
      </p:sp>
      <p:graphicFrame>
        <p:nvGraphicFramePr>
          <p:cNvPr id="660" name="Google Shape;660;p54"/>
          <p:cNvGraphicFramePr/>
          <p:nvPr/>
        </p:nvGraphicFramePr>
        <p:xfrm>
          <a:off x="411491" y="1783080"/>
          <a:ext cx="3000000" cy="3000000"/>
        </p:xfrm>
        <a:graphic>
          <a:graphicData uri="http://schemas.openxmlformats.org/drawingml/2006/table">
            <a:tbl>
              <a:tblPr>
                <a:noFill/>
                <a:tableStyleId>{A7E7F7E0-614D-4D13-9398-B1847FD5B946}</a:tableStyleId>
              </a:tblPr>
              <a:tblGrid>
                <a:gridCol w="1783125"/>
                <a:gridCol w="6515250"/>
              </a:tblGrid>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Problem</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Clearer, but potentially still simple.</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User</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Students with general questions.</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AI justification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Answers vary in phrasing; a search box alone falls short.</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Evaluation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Not yet specified.</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5" name="Shape 665"/>
        <p:cNvGrpSpPr/>
        <p:nvPr/>
      </p:nvGrpSpPr>
      <p:grpSpPr>
        <a:xfrm>
          <a:off x="0" y="0"/>
          <a:ext cx="0" cy="0"/>
          <a:chOff x="0" y="0"/>
          <a:chExt cx="0" cy="0"/>
        </a:xfrm>
      </p:grpSpPr>
      <p:sp>
        <p:nvSpPr>
          <p:cNvPr id="666" name="Google Shape;666;p55"/>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EXAMPLE</a:t>
            </a:r>
            <a:endParaRPr b="0" i="0" sz="800" u="none" cap="none" strike="noStrike">
              <a:solidFill>
                <a:schemeClr val="dk1"/>
              </a:solidFill>
              <a:latin typeface="Calibri"/>
              <a:ea typeface="Calibri"/>
              <a:cs typeface="Calibri"/>
              <a:sym typeface="Calibri"/>
            </a:endParaRPr>
          </a:p>
        </p:txBody>
      </p:sp>
      <p:sp>
        <p:nvSpPr>
          <p:cNvPr id="667" name="Google Shape;667;p55"/>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“Academic Policy Assistant”</a:t>
            </a:r>
            <a:endParaRPr b="0" i="0" sz="2000" u="none" cap="none" strike="noStrike">
              <a:solidFill>
                <a:schemeClr val="dk1"/>
              </a:solidFill>
              <a:latin typeface="Calibri"/>
              <a:ea typeface="Calibri"/>
              <a:cs typeface="Calibri"/>
              <a:sym typeface="Calibri"/>
            </a:endParaRPr>
          </a:p>
        </p:txBody>
      </p:sp>
      <p:cxnSp>
        <p:nvCxnSpPr>
          <p:cNvPr id="668" name="Google Shape;668;p55"/>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669" name="Google Shape;669;p55"/>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670" name="Google Shape;670;p55"/>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8</a:t>
            </a:r>
            <a:endParaRPr b="0" i="0" sz="700" u="none" cap="none" strike="noStrike">
              <a:solidFill>
                <a:schemeClr val="dk1"/>
              </a:solidFill>
              <a:latin typeface="Calibri"/>
              <a:ea typeface="Calibri"/>
              <a:cs typeface="Calibri"/>
              <a:sym typeface="Calibri"/>
            </a:endParaRPr>
          </a:p>
        </p:txBody>
      </p:sp>
      <p:sp>
        <p:nvSpPr>
          <p:cNvPr id="671" name="Google Shape;671;p55"/>
          <p:cNvSpPr/>
          <p:nvPr/>
        </p:nvSpPr>
        <p:spPr>
          <a:xfrm>
            <a:off x="411491" y="1268730"/>
            <a:ext cx="1783128" cy="377190"/>
          </a:xfrm>
          <a:prstGeom prst="roundRect">
            <a:avLst>
              <a:gd fmla="val 50909" name="adj"/>
            </a:avLst>
          </a:prstGeom>
          <a:solidFill>
            <a:srgbClr val="DFF0E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2" name="Google Shape;672;p55"/>
          <p:cNvSpPr/>
          <p:nvPr/>
        </p:nvSpPr>
        <p:spPr>
          <a:xfrm>
            <a:off x="411491" y="1268730"/>
            <a:ext cx="1783128"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3E7C4A"/>
              </a:buClr>
              <a:buSzPts val="1100"/>
              <a:buFont typeface="Calibri"/>
              <a:buNone/>
            </a:pPr>
            <a:r>
              <a:rPr b="1" i="0" lang="en" sz="1100" u="none" cap="none" strike="noStrike">
                <a:solidFill>
                  <a:srgbClr val="3E7C4A"/>
                </a:solidFill>
                <a:latin typeface="Calibri"/>
                <a:ea typeface="Calibri"/>
                <a:cs typeface="Calibri"/>
                <a:sym typeface="Calibri"/>
              </a:rPr>
              <a:t>✅ STRONG</a:t>
            </a:r>
            <a:endParaRPr b="0" i="0" sz="1100" u="none" cap="none" strike="noStrike">
              <a:solidFill>
                <a:schemeClr val="dk1"/>
              </a:solidFill>
              <a:latin typeface="Calibri"/>
              <a:ea typeface="Calibri"/>
              <a:cs typeface="Calibri"/>
              <a:sym typeface="Calibri"/>
            </a:endParaRPr>
          </a:p>
        </p:txBody>
      </p:sp>
      <p:graphicFrame>
        <p:nvGraphicFramePr>
          <p:cNvPr id="673" name="Google Shape;673;p55"/>
          <p:cNvGraphicFramePr/>
          <p:nvPr/>
        </p:nvGraphicFramePr>
        <p:xfrm>
          <a:off x="411491" y="1783080"/>
          <a:ext cx="3000000" cy="3000000"/>
        </p:xfrm>
        <a:graphic>
          <a:graphicData uri="http://schemas.openxmlformats.org/drawingml/2006/table">
            <a:tbl>
              <a:tblPr>
                <a:noFill/>
                <a:tableStyleId>{A7E7F7E0-614D-4D13-9398-B1847FD5B946}</a:tableStyleId>
              </a:tblPr>
              <a:tblGrid>
                <a:gridCol w="1783125"/>
                <a:gridCol w="6515250"/>
              </a:tblGrid>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Problem</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Students struggle to interpret regulations across multiple documents.</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AI capability</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RAG.</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App integration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Student information + university policies.</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Tool</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Retrieve academic record.</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Safety</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Assistant cannot modify records.</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Evaluation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Benchmark questions against official policy answers.</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425175">
                <a:tc>
                  <a:txBody>
                    <a:bodyPr/>
                    <a:lstStyle/>
                    <a:p>
                      <a:pPr indent="0" lvl="0" marL="0" marR="0" rtl="0" algn="l">
                        <a:spcBef>
                          <a:spcPts val="0"/>
                        </a:spcBef>
                        <a:spcAft>
                          <a:spcPts val="0"/>
                        </a:spcAft>
                        <a:buClr>
                          <a:srgbClr val="0B2545"/>
                        </a:buClr>
                        <a:buSzPts val="1100"/>
                        <a:buFont typeface="Calibri"/>
                        <a:buNone/>
                      </a:pPr>
                      <a:r>
                        <a:rPr b="1" lang="en" sz="1100" u="none" cap="none" strike="noStrike">
                          <a:solidFill>
                            <a:srgbClr val="0B2545"/>
                          </a:solidFill>
                          <a:latin typeface="Calibri"/>
                          <a:ea typeface="Calibri"/>
                          <a:cs typeface="Calibri"/>
                          <a:sym typeface="Calibri"/>
                        </a:rPr>
                        <a:t>Human oversight</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F7F9FB"/>
                    </a:solidFill>
                  </a:tcPr>
                </a:tc>
                <a:tc>
                  <a:txBody>
                    <a:bodyPr/>
                    <a:lstStyle/>
                    <a:p>
                      <a:pPr indent="0" lvl="0" marL="0" marR="0" rtl="0" algn="l">
                        <a:spcBef>
                          <a:spcPts val="0"/>
                        </a:spcBef>
                        <a:spcAft>
                          <a:spcPts val="0"/>
                        </a:spcAft>
                        <a:buClr>
                          <a:srgbClr val="13293D"/>
                        </a:buClr>
                        <a:buSzPts val="1100"/>
                        <a:buFont typeface="Calibri"/>
                        <a:buNone/>
                      </a:pPr>
                      <a:r>
                        <a:rPr lang="en" sz="1100" u="none" cap="none" strike="noStrike">
                          <a:solidFill>
                            <a:srgbClr val="13293D"/>
                          </a:solidFill>
                          <a:latin typeface="Calibri"/>
                          <a:ea typeface="Calibri"/>
                          <a:cs typeface="Calibri"/>
                          <a:sym typeface="Calibri"/>
                        </a:rPr>
                        <a:t>Uncertain cases escalated to academic staff.</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8" name="Shape 678"/>
        <p:cNvGrpSpPr/>
        <p:nvPr/>
      </p:nvGrpSpPr>
      <p:grpSpPr>
        <a:xfrm>
          <a:off x="0" y="0"/>
          <a:ext cx="0" cy="0"/>
          <a:chOff x="0" y="0"/>
          <a:chExt cx="0" cy="0"/>
        </a:xfrm>
      </p:grpSpPr>
      <p:sp>
        <p:nvSpPr>
          <p:cNvPr id="679" name="Google Shape;679;p56"/>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2 · TAKEAWAY</a:t>
            </a:r>
            <a:endParaRPr b="0" i="0" sz="800" u="none" cap="none" strike="noStrike">
              <a:solidFill>
                <a:schemeClr val="dk1"/>
              </a:solidFill>
              <a:latin typeface="Calibri"/>
              <a:ea typeface="Calibri"/>
              <a:cs typeface="Calibri"/>
              <a:sym typeface="Calibri"/>
            </a:endParaRPr>
          </a:p>
        </p:txBody>
      </p:sp>
      <p:sp>
        <p:nvSpPr>
          <p:cNvPr id="680" name="Google Shape;680;p56"/>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What Engineering Depth Looks Like</a:t>
            </a:r>
            <a:endParaRPr b="0" i="0" sz="2000" u="none" cap="none" strike="noStrike">
              <a:solidFill>
                <a:schemeClr val="dk1"/>
              </a:solidFill>
              <a:latin typeface="Calibri"/>
              <a:ea typeface="Calibri"/>
              <a:cs typeface="Calibri"/>
              <a:sym typeface="Calibri"/>
            </a:endParaRPr>
          </a:p>
        </p:txBody>
      </p:sp>
      <p:cxnSp>
        <p:nvCxnSpPr>
          <p:cNvPr id="681" name="Google Shape;681;p56"/>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682" name="Google Shape;682;p56"/>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683" name="Google Shape;683;p56"/>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9</a:t>
            </a:r>
            <a:endParaRPr b="0" i="0" sz="700" u="none" cap="none" strike="noStrike">
              <a:solidFill>
                <a:schemeClr val="dk1"/>
              </a:solidFill>
              <a:latin typeface="Calibri"/>
              <a:ea typeface="Calibri"/>
              <a:cs typeface="Calibri"/>
              <a:sym typeface="Calibri"/>
            </a:endParaRPr>
          </a:p>
        </p:txBody>
      </p:sp>
      <p:sp>
        <p:nvSpPr>
          <p:cNvPr id="684" name="Google Shape;684;p56"/>
          <p:cNvSpPr/>
          <p:nvPr/>
        </p:nvSpPr>
        <p:spPr>
          <a:xfrm>
            <a:off x="411491" y="1337310"/>
            <a:ext cx="8298401" cy="3360420"/>
          </a:xfrm>
          <a:prstGeom prst="rect">
            <a:avLst/>
          </a:prstGeom>
          <a:noFill/>
          <a:ln>
            <a:noFill/>
          </a:ln>
        </p:spPr>
        <p:txBody>
          <a:bodyPr anchorCtr="0" anchor="t" bIns="34275" lIns="68575" spcFirstLastPara="1" rIns="68575" wrap="square" tIns="34275">
            <a:noAutofit/>
          </a:bodyPr>
          <a:lstStyle/>
          <a:p>
            <a:pPr indent="-177800" lvl="0" marL="177800" marR="0" rtl="0" algn="l">
              <a:spcBef>
                <a:spcPts val="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The strong example isn't strong because it uses more technology.</a:t>
            </a:r>
            <a:endParaRPr b="0" i="0" sz="12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rgbClr val="13293D"/>
              </a:buClr>
              <a:buSzPts val="1200"/>
              <a:buFont typeface="Calibri"/>
              <a:buChar char="•"/>
            </a:pPr>
            <a:r>
              <a:rPr b="0" i="0" lang="en" sz="1200" u="none" cap="none" strike="noStrike">
                <a:solidFill>
                  <a:srgbClr val="13293D"/>
                </a:solidFill>
                <a:latin typeface="Calibri"/>
                <a:ea typeface="Calibri"/>
                <a:cs typeface="Calibri"/>
                <a:sym typeface="Calibri"/>
              </a:rPr>
              <a:t>It's strong because every piece, problem, capability, integration, tool, safety, evaluation, oversight, is specific and justified.</a:t>
            </a:r>
            <a:endParaRPr b="0" i="0" sz="12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13293D"/>
              </a:buClr>
              <a:buSzPts val="1200"/>
              <a:buFont typeface="Calibri"/>
              <a:buChar char="•"/>
            </a:pPr>
            <a:r>
              <a:rPr b="1" i="0" lang="en" sz="1200" u="none" cap="none" strike="noStrike">
                <a:solidFill>
                  <a:srgbClr val="13293D"/>
                </a:solidFill>
                <a:latin typeface="Calibri"/>
                <a:ea typeface="Calibri"/>
                <a:cs typeface="Calibri"/>
                <a:sym typeface="Calibri"/>
              </a:rPr>
              <a:t>That specificity is what Lab 3 asks you to produce for your own idea.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689" name="Shape 689"/>
        <p:cNvGrpSpPr/>
        <p:nvPr/>
      </p:nvGrpSpPr>
      <p:grpSpPr>
        <a:xfrm>
          <a:off x="0" y="0"/>
          <a:ext cx="0" cy="0"/>
          <a:chOff x="0" y="0"/>
          <a:chExt cx="0" cy="0"/>
        </a:xfrm>
      </p:grpSpPr>
      <p:sp>
        <p:nvSpPr>
          <p:cNvPr id="690" name="Google Shape;690;p57"/>
          <p:cNvSpPr/>
          <p:nvPr/>
        </p:nvSpPr>
        <p:spPr>
          <a:xfrm>
            <a:off x="480073" y="1748790"/>
            <a:ext cx="1028727" cy="1028700"/>
          </a:xfrm>
          <a:prstGeom prst="roundRect">
            <a:avLst>
              <a:gd fmla="val 5333" name="adj"/>
            </a:avLst>
          </a:prstGeom>
          <a:solidFill>
            <a:srgbClr val="F2A65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1" name="Google Shape;691;p57"/>
          <p:cNvSpPr/>
          <p:nvPr/>
        </p:nvSpPr>
        <p:spPr>
          <a:xfrm>
            <a:off x="480073" y="1748790"/>
            <a:ext cx="1028727" cy="1028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B2545"/>
              </a:buClr>
              <a:buSzPts val="4100"/>
              <a:buFont typeface="Cambria"/>
              <a:buNone/>
            </a:pPr>
            <a:r>
              <a:rPr b="1" i="0" lang="en" sz="4100" u="none" cap="none" strike="noStrike">
                <a:solidFill>
                  <a:srgbClr val="0B2545"/>
                </a:solidFill>
                <a:latin typeface="Cambria"/>
                <a:ea typeface="Cambria"/>
                <a:cs typeface="Cambria"/>
                <a:sym typeface="Cambria"/>
              </a:rPr>
              <a:t>3</a:t>
            </a:r>
            <a:endParaRPr b="0" i="0" sz="4100" u="none" cap="none" strike="noStrike">
              <a:solidFill>
                <a:schemeClr val="dk1"/>
              </a:solidFill>
              <a:latin typeface="Calibri"/>
              <a:ea typeface="Calibri"/>
              <a:cs typeface="Calibri"/>
              <a:sym typeface="Calibri"/>
            </a:endParaRPr>
          </a:p>
        </p:txBody>
      </p:sp>
      <p:sp>
        <p:nvSpPr>
          <p:cNvPr id="692" name="Google Shape;692;p57"/>
          <p:cNvSpPr/>
          <p:nvPr/>
        </p:nvSpPr>
        <p:spPr>
          <a:xfrm>
            <a:off x="1748837" y="1714500"/>
            <a:ext cx="6515274"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1100"/>
              <a:buFont typeface="Calibri"/>
              <a:buNone/>
            </a:pPr>
            <a:r>
              <a:rPr b="1" i="0" lang="en" sz="1100" u="none" cap="none" strike="noStrike">
                <a:solidFill>
                  <a:srgbClr val="D9822B"/>
                </a:solidFill>
                <a:latin typeface="Calibri"/>
                <a:ea typeface="Calibri"/>
                <a:cs typeface="Calibri"/>
                <a:sym typeface="Calibri"/>
              </a:rPr>
              <a:t>PART 3</a:t>
            </a:r>
            <a:endParaRPr b="0" i="0" sz="1100" u="none" cap="none" strike="noStrike">
              <a:solidFill>
                <a:schemeClr val="dk1"/>
              </a:solidFill>
              <a:latin typeface="Calibri"/>
              <a:ea typeface="Calibri"/>
              <a:cs typeface="Calibri"/>
              <a:sym typeface="Calibri"/>
            </a:endParaRPr>
          </a:p>
        </p:txBody>
      </p:sp>
      <p:sp>
        <p:nvSpPr>
          <p:cNvPr id="693" name="Google Shape;693;p57"/>
          <p:cNvSpPr/>
          <p:nvPr/>
        </p:nvSpPr>
        <p:spPr>
          <a:xfrm>
            <a:off x="1714546" y="1954530"/>
            <a:ext cx="6858183"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Capstone Quality Gate</a:t>
            </a:r>
            <a:endParaRPr b="0" i="0" sz="2400" u="none" cap="none" strike="noStrike">
              <a:solidFill>
                <a:schemeClr val="dk1"/>
              </a:solidFill>
              <a:latin typeface="Calibri"/>
              <a:ea typeface="Calibri"/>
              <a:cs typeface="Calibri"/>
              <a:sym typeface="Calibri"/>
            </a:endParaRPr>
          </a:p>
        </p:txBody>
      </p:sp>
      <p:sp>
        <p:nvSpPr>
          <p:cNvPr id="694" name="Google Shape;694;p57"/>
          <p:cNvSpPr/>
          <p:nvPr/>
        </p:nvSpPr>
        <p:spPr>
          <a:xfrm>
            <a:off x="1748837" y="2571750"/>
            <a:ext cx="6858183"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DA9C4"/>
              </a:buClr>
              <a:buSzPts val="1300"/>
              <a:buFont typeface="Cambria"/>
              <a:buNone/>
            </a:pPr>
            <a:r>
              <a:rPr b="0" i="1" lang="en" sz="1300" u="none" cap="none" strike="noStrike">
                <a:solidFill>
                  <a:srgbClr val="8DA9C4"/>
                </a:solidFill>
                <a:latin typeface="Cambria"/>
                <a:ea typeface="Cambria"/>
                <a:cs typeface="Cambria"/>
                <a:sym typeface="Cambria"/>
              </a:rPr>
              <a:t>An approval gate, not a formality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9" name="Shape 699"/>
        <p:cNvGrpSpPr/>
        <p:nvPr/>
      </p:nvGrpSpPr>
      <p:grpSpPr>
        <a:xfrm>
          <a:off x="0" y="0"/>
          <a:ext cx="0" cy="0"/>
          <a:chOff x="0" y="0"/>
          <a:chExt cx="0" cy="0"/>
        </a:xfrm>
      </p:grpSpPr>
      <p:sp>
        <p:nvSpPr>
          <p:cNvPr id="700" name="Google Shape;700;p58"/>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3 · THE GATE</a:t>
            </a:r>
            <a:endParaRPr b="0" i="0" sz="800" u="none" cap="none" strike="noStrike">
              <a:solidFill>
                <a:schemeClr val="dk1"/>
              </a:solidFill>
              <a:latin typeface="Calibri"/>
              <a:ea typeface="Calibri"/>
              <a:cs typeface="Calibri"/>
              <a:sym typeface="Calibri"/>
            </a:endParaRPr>
          </a:p>
        </p:txBody>
      </p:sp>
      <p:sp>
        <p:nvSpPr>
          <p:cNvPr id="701" name="Google Shape;701;p58"/>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Ten Criteria, Scored Before You Proceed</a:t>
            </a:r>
            <a:endParaRPr b="0" i="0" sz="2000" u="none" cap="none" strike="noStrike">
              <a:solidFill>
                <a:schemeClr val="dk1"/>
              </a:solidFill>
              <a:latin typeface="Calibri"/>
              <a:ea typeface="Calibri"/>
              <a:cs typeface="Calibri"/>
              <a:sym typeface="Calibri"/>
            </a:endParaRPr>
          </a:p>
        </p:txBody>
      </p:sp>
      <p:cxnSp>
        <p:nvCxnSpPr>
          <p:cNvPr id="702" name="Google Shape;702;p58"/>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703" name="Google Shape;703;p58"/>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704" name="Google Shape;704;p58"/>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10</a:t>
            </a:r>
            <a:endParaRPr b="0" i="0" sz="700" u="none" cap="none" strike="noStrike">
              <a:solidFill>
                <a:schemeClr val="dk1"/>
              </a:solidFill>
              <a:latin typeface="Calibri"/>
              <a:ea typeface="Calibri"/>
              <a:cs typeface="Calibri"/>
              <a:sym typeface="Calibri"/>
            </a:endParaRPr>
          </a:p>
        </p:txBody>
      </p:sp>
      <p:graphicFrame>
        <p:nvGraphicFramePr>
          <p:cNvPr id="705" name="Google Shape;705;p58"/>
          <p:cNvGraphicFramePr/>
          <p:nvPr/>
        </p:nvGraphicFramePr>
        <p:xfrm>
          <a:off x="411491" y="1268730"/>
          <a:ext cx="3000000" cy="3000000"/>
        </p:xfrm>
        <a:graphic>
          <a:graphicData uri="http://schemas.openxmlformats.org/drawingml/2006/table">
            <a:tbl>
              <a:tblPr>
                <a:noFill/>
                <a:tableStyleId>{A7E7F7E0-614D-4D13-9398-B1847FD5B946}</a:tableStyleId>
              </a:tblPr>
              <a:tblGrid>
                <a:gridCol w="1783125"/>
                <a:gridCol w="6515250"/>
              </a:tblGrid>
              <a:tr h="301725">
                <a:tc>
                  <a:txBody>
                    <a:bodyPr/>
                    <a:lstStyle/>
                    <a:p>
                      <a:pPr indent="0" lvl="0" marL="0" marR="0" rtl="0" algn="l">
                        <a:spcBef>
                          <a:spcPts val="0"/>
                        </a:spcBef>
                        <a:spcAft>
                          <a:spcPts val="0"/>
                        </a:spcAft>
                        <a:buClr>
                          <a:srgbClr val="FFFFFF"/>
                        </a:buClr>
                        <a:buSzPts val="900"/>
                        <a:buFont typeface="Calibri"/>
                        <a:buNone/>
                      </a:pPr>
                      <a:r>
                        <a:rPr b="1" lang="en" sz="1100" u="none" cap="none" strike="noStrike">
                          <a:solidFill>
                            <a:srgbClr val="FFFFFF"/>
                          </a:solidFill>
                          <a:latin typeface="Calibri"/>
                          <a:ea typeface="Calibri"/>
                          <a:cs typeface="Calibri"/>
                          <a:sym typeface="Calibri"/>
                        </a:rPr>
                        <a:t>Criterion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0B2545"/>
                    </a:solidFill>
                  </a:tcPr>
                </a:tc>
                <a:tc>
                  <a:txBody>
                    <a:bodyPr/>
                    <a:lstStyle/>
                    <a:p>
                      <a:pPr indent="0" lvl="0" marL="0" marR="0" rtl="0" algn="l">
                        <a:spcBef>
                          <a:spcPts val="0"/>
                        </a:spcBef>
                        <a:spcAft>
                          <a:spcPts val="0"/>
                        </a:spcAft>
                        <a:buClr>
                          <a:srgbClr val="FFFFFF"/>
                        </a:buClr>
                        <a:buSzPts val="900"/>
                        <a:buFont typeface="Calibri"/>
                        <a:buNone/>
                      </a:pPr>
                      <a:r>
                        <a:rPr b="1" lang="en" sz="1100" u="none" cap="none" strike="noStrike">
                          <a:solidFill>
                            <a:srgbClr val="FFFFFF"/>
                          </a:solidFill>
                          <a:latin typeface="Calibri"/>
                          <a:ea typeface="Calibri"/>
                          <a:cs typeface="Calibri"/>
                          <a:sym typeface="Calibri"/>
                        </a:rPr>
                        <a:t>Question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solidFill>
                      <a:srgbClr val="0B2545"/>
                    </a:solidFill>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Problem</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Is there a meaningful problem?</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User</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Is the target user clear?</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AI Fit</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Is AI actually justified?</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Engineering Depth</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Is this more than an API wrapper?</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Data</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Can the team realistically obtain required data?</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Evaluation</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Can success be measured?</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Risk</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What happens when the AI is wrong?</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Scope</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Can the team finish within the course?</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Technical Growth</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Will later course concepts improve the system?</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r h="301725">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Demo</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c>
                  <a:txBody>
                    <a:bodyPr/>
                    <a:lstStyle/>
                    <a:p>
                      <a:pPr indent="0" lvl="0" marL="0" marR="0" rtl="0" algn="l">
                        <a:spcBef>
                          <a:spcPts val="0"/>
                        </a:spcBef>
                        <a:spcAft>
                          <a:spcPts val="0"/>
                        </a:spcAft>
                        <a:buClr>
                          <a:srgbClr val="13293D"/>
                        </a:buClr>
                        <a:buSzPts val="900"/>
                        <a:buFont typeface="Calibri"/>
                        <a:buNone/>
                      </a:pPr>
                      <a:r>
                        <a:rPr lang="en" sz="1100" u="none" cap="none" strike="noStrike">
                          <a:solidFill>
                            <a:srgbClr val="13293D"/>
                          </a:solidFill>
                          <a:latin typeface="Calibri"/>
                          <a:ea typeface="Calibri"/>
                          <a:cs typeface="Calibri"/>
                          <a:sym typeface="Calibri"/>
                        </a:rPr>
                        <a:t>Can the team demonstrate the final system convincingly?</a:t>
                      </a:r>
                      <a:endParaRPr sz="1100" u="none" cap="none" strike="noStrike">
                        <a:latin typeface="Calibri"/>
                        <a:ea typeface="Calibri"/>
                        <a:cs typeface="Calibri"/>
                        <a:sym typeface="Calibri"/>
                      </a:endParaRPr>
                    </a:p>
                  </a:txBody>
                  <a:tcPr marT="34300" marB="34300" marR="68600" marL="68600" anchor="ctr">
                    <a:lnL cap="flat" cmpd="sng" w="12700">
                      <a:solidFill>
                        <a:srgbClr val="D3DDE6"/>
                      </a:solidFill>
                      <a:prstDash val="solid"/>
                      <a:round/>
                      <a:headEnd len="sm" w="sm" type="none"/>
                      <a:tailEnd len="sm" w="sm" type="none"/>
                    </a:lnL>
                    <a:lnR cap="flat" cmpd="sng" w="12700">
                      <a:solidFill>
                        <a:srgbClr val="D3DDE6"/>
                      </a:solidFill>
                      <a:prstDash val="solid"/>
                      <a:round/>
                      <a:headEnd len="sm" w="sm" type="none"/>
                      <a:tailEnd len="sm" w="sm" type="none"/>
                    </a:lnR>
                    <a:lnT cap="flat" cmpd="sng" w="12700">
                      <a:solidFill>
                        <a:srgbClr val="D3DDE6"/>
                      </a:solidFill>
                      <a:prstDash val="solid"/>
                      <a:round/>
                      <a:headEnd len="sm" w="sm" type="none"/>
                      <a:tailEnd len="sm" w="sm" type="none"/>
                    </a:lnT>
                    <a:lnB cap="flat" cmpd="sng" w="12700">
                      <a:solidFill>
                        <a:srgbClr val="D3DDE6"/>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0" name="Shape 710"/>
        <p:cNvGrpSpPr/>
        <p:nvPr/>
      </p:nvGrpSpPr>
      <p:grpSpPr>
        <a:xfrm>
          <a:off x="0" y="0"/>
          <a:ext cx="0" cy="0"/>
          <a:chOff x="0" y="0"/>
          <a:chExt cx="0" cy="0"/>
        </a:xfrm>
      </p:grpSpPr>
      <p:sp>
        <p:nvSpPr>
          <p:cNvPr id="711" name="Google Shape;711;p59"/>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PART 3 · HOW THIS IS USED</a:t>
            </a:r>
            <a:endParaRPr b="0" i="0" sz="800" u="none" cap="none" strike="noStrike">
              <a:solidFill>
                <a:schemeClr val="dk1"/>
              </a:solidFill>
              <a:latin typeface="Calibri"/>
              <a:ea typeface="Calibri"/>
              <a:cs typeface="Calibri"/>
              <a:sym typeface="Calibri"/>
            </a:endParaRPr>
          </a:p>
        </p:txBody>
      </p:sp>
      <p:sp>
        <p:nvSpPr>
          <p:cNvPr id="712" name="Google Shape;712;p59"/>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This Is an Approval Gate</a:t>
            </a:r>
            <a:endParaRPr b="0" i="0" sz="2000" u="none" cap="none" strike="noStrike">
              <a:solidFill>
                <a:schemeClr val="dk1"/>
              </a:solidFill>
              <a:latin typeface="Calibri"/>
              <a:ea typeface="Calibri"/>
              <a:cs typeface="Calibri"/>
              <a:sym typeface="Calibri"/>
            </a:endParaRPr>
          </a:p>
        </p:txBody>
      </p:sp>
      <p:cxnSp>
        <p:nvCxnSpPr>
          <p:cNvPr id="713" name="Google Shape;713;p59"/>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714" name="Google Shape;714;p59"/>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715" name="Google Shape;715;p59"/>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11</a:t>
            </a:r>
            <a:endParaRPr b="0" i="0" sz="700" u="none" cap="none" strike="noStrike">
              <a:solidFill>
                <a:schemeClr val="dk1"/>
              </a:solidFill>
              <a:latin typeface="Calibri"/>
              <a:ea typeface="Calibri"/>
              <a:cs typeface="Calibri"/>
              <a:sym typeface="Calibri"/>
            </a:endParaRPr>
          </a:p>
        </p:txBody>
      </p:sp>
      <p:sp>
        <p:nvSpPr>
          <p:cNvPr id="716" name="Google Shape;716;p59"/>
          <p:cNvSpPr/>
          <p:nvPr/>
        </p:nvSpPr>
        <p:spPr>
          <a:xfrm>
            <a:off x="685818" y="1440180"/>
            <a:ext cx="7749747" cy="891540"/>
          </a:xfrm>
          <a:prstGeom prst="roundRect">
            <a:avLst>
              <a:gd fmla="val 6154" name="adj"/>
            </a:avLst>
          </a:prstGeom>
          <a:solidFill>
            <a:srgbClr val="0B2545"/>
          </a:solidFill>
          <a:ln cap="flat" cmpd="sng" w="12700">
            <a:solidFill>
              <a:srgbClr val="13407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7" name="Google Shape;717;p59"/>
          <p:cNvSpPr/>
          <p:nvPr/>
        </p:nvSpPr>
        <p:spPr>
          <a:xfrm>
            <a:off x="960146" y="1440180"/>
            <a:ext cx="7201092" cy="8915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700"/>
              <a:buFont typeface="Cambria"/>
              <a:buNone/>
            </a:pPr>
            <a:r>
              <a:rPr b="1" i="1" lang="en" sz="1700" u="none" cap="none" strike="noStrike">
                <a:solidFill>
                  <a:srgbClr val="FFFFFF"/>
                </a:solidFill>
                <a:latin typeface="Cambria"/>
                <a:ea typeface="Cambria"/>
                <a:cs typeface="Cambria"/>
                <a:sym typeface="Cambria"/>
              </a:rPr>
              <a:t>Teams cannot proceed until the capstone passes.</a:t>
            </a:r>
            <a:endParaRPr b="0" i="0" sz="1700" u="none" cap="none" strike="noStrike">
              <a:solidFill>
                <a:schemeClr val="dk1"/>
              </a:solidFill>
              <a:latin typeface="Calibri"/>
              <a:ea typeface="Calibri"/>
              <a:cs typeface="Calibri"/>
              <a:sym typeface="Calibri"/>
            </a:endParaRPr>
          </a:p>
        </p:txBody>
      </p:sp>
      <p:sp>
        <p:nvSpPr>
          <p:cNvPr id="718" name="Google Shape;718;p59"/>
          <p:cNvSpPr/>
          <p:nvPr/>
        </p:nvSpPr>
        <p:spPr>
          <a:xfrm>
            <a:off x="411491" y="2537460"/>
            <a:ext cx="8298401" cy="1371600"/>
          </a:xfrm>
          <a:prstGeom prst="rect">
            <a:avLst/>
          </a:prstGeom>
          <a:noFill/>
          <a:ln>
            <a:noFill/>
          </a:ln>
        </p:spPr>
        <p:txBody>
          <a:bodyPr anchorCtr="0" anchor="t" bIns="34275" lIns="68575" spcFirstLastPara="1" rIns="68575" wrap="square" tIns="34275">
            <a:noAutofit/>
          </a:bodyPr>
          <a:lstStyle/>
          <a:p>
            <a:pPr indent="-190500" lvl="0" marL="177800" marR="0" rtl="0" algn="l">
              <a:spcBef>
                <a:spcPts val="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You'll self-score against these ten criteria at the end of Lab 3.</a:t>
            </a:r>
            <a:endParaRPr b="0" i="0" u="none" cap="none" strike="noStrike">
              <a:solidFill>
                <a:schemeClr val="dk1"/>
              </a:solidFill>
              <a:latin typeface="Calibri"/>
              <a:ea typeface="Calibri"/>
              <a:cs typeface="Calibri"/>
              <a:sym typeface="Calibri"/>
            </a:endParaRPr>
          </a:p>
          <a:p>
            <a:pPr indent="-190500" lvl="0" marL="177800" marR="0" rtl="0" algn="l">
              <a:spcBef>
                <a:spcPts val="7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Your instructor reviews the pitch and the self-score before the idea is approved.</a:t>
            </a:r>
            <a:endParaRPr b="0" i="0" u="none" cap="none" strike="noStrike">
              <a:solidFill>
                <a:schemeClr val="dk1"/>
              </a:solidFill>
              <a:latin typeface="Calibri"/>
              <a:ea typeface="Calibri"/>
              <a:cs typeface="Calibri"/>
              <a:sym typeface="Calibri"/>
            </a:endParaRPr>
          </a:p>
          <a:p>
            <a:pPr indent="-190500" lvl="0" marL="177800" marR="0" rtl="0" algn="l">
              <a:spcBef>
                <a:spcPts val="700"/>
              </a:spcBef>
              <a:spcAft>
                <a:spcPts val="0"/>
              </a:spcAft>
              <a:buClr>
                <a:srgbClr val="13293D"/>
              </a:buClr>
              <a:buSzPts val="1400"/>
              <a:buFont typeface="Calibri"/>
              <a:buChar char="•"/>
            </a:pPr>
            <a:r>
              <a:rPr b="0" i="0" lang="en" u="none" cap="none" strike="noStrike">
                <a:solidFill>
                  <a:srgbClr val="13293D"/>
                </a:solidFill>
                <a:latin typeface="Calibri"/>
                <a:ea typeface="Calibri"/>
                <a:cs typeface="Calibri"/>
                <a:sym typeface="Calibri"/>
              </a:rPr>
              <a:t>A team that fails more than a couple of criteria should rework the idea now, not in Week 6.</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p60"/>
          <p:cNvSpPr/>
          <p:nvPr/>
        </p:nvSpPr>
        <p:spPr>
          <a:xfrm>
            <a:off x="411491" y="288036"/>
            <a:ext cx="8298401"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9822B"/>
              </a:buClr>
              <a:buSzPts val="800"/>
              <a:buFont typeface="Calibri"/>
              <a:buNone/>
            </a:pPr>
            <a:r>
              <a:rPr b="1" i="0" lang="en" sz="800" u="none" cap="none" strike="noStrike">
                <a:solidFill>
                  <a:srgbClr val="D9822B"/>
                </a:solidFill>
                <a:latin typeface="Calibri"/>
                <a:ea typeface="Calibri"/>
                <a:cs typeface="Calibri"/>
                <a:sym typeface="Calibri"/>
              </a:rPr>
              <a:t>BRIDGE TO LAB 3</a:t>
            </a:r>
            <a:endParaRPr b="0" i="0" sz="800" u="none" cap="none" strike="noStrike">
              <a:solidFill>
                <a:schemeClr val="dk1"/>
              </a:solidFill>
              <a:latin typeface="Calibri"/>
              <a:ea typeface="Calibri"/>
              <a:cs typeface="Calibri"/>
              <a:sym typeface="Calibri"/>
            </a:endParaRPr>
          </a:p>
        </p:txBody>
      </p:sp>
      <p:sp>
        <p:nvSpPr>
          <p:cNvPr id="725" name="Google Shape;725;p60"/>
          <p:cNvSpPr/>
          <p:nvPr/>
        </p:nvSpPr>
        <p:spPr>
          <a:xfrm>
            <a:off x="411491" y="493776"/>
            <a:ext cx="8298401"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B2545"/>
              </a:buClr>
              <a:buSzPts val="2000"/>
              <a:buFont typeface="Cambria"/>
              <a:buNone/>
            </a:pPr>
            <a:r>
              <a:rPr b="1" i="0" lang="en" sz="2000" u="none" cap="none" strike="noStrike">
                <a:solidFill>
                  <a:srgbClr val="0B2545"/>
                </a:solidFill>
                <a:latin typeface="Cambria"/>
                <a:ea typeface="Cambria"/>
                <a:cs typeface="Cambria"/>
                <a:sym typeface="Cambria"/>
              </a:rPr>
              <a:t>Next: Capstone Discovery &amp; Planning</a:t>
            </a:r>
            <a:endParaRPr b="0" i="0" sz="2000" u="none" cap="none" strike="noStrike">
              <a:solidFill>
                <a:schemeClr val="dk1"/>
              </a:solidFill>
              <a:latin typeface="Calibri"/>
              <a:ea typeface="Calibri"/>
              <a:cs typeface="Calibri"/>
              <a:sym typeface="Calibri"/>
            </a:endParaRPr>
          </a:p>
        </p:txBody>
      </p:sp>
      <p:cxnSp>
        <p:nvCxnSpPr>
          <p:cNvPr id="726" name="Google Shape;726;p60"/>
          <p:cNvCxnSpPr/>
          <p:nvPr/>
        </p:nvCxnSpPr>
        <p:spPr>
          <a:xfrm>
            <a:off x="411491" y="4766310"/>
            <a:ext cx="8318976" cy="0"/>
          </a:xfrm>
          <a:prstGeom prst="straightConnector1">
            <a:avLst/>
          </a:prstGeom>
          <a:noFill/>
          <a:ln cap="flat" cmpd="sng" w="12700">
            <a:solidFill>
              <a:srgbClr val="D3DDE6"/>
            </a:solidFill>
            <a:prstDash val="solid"/>
            <a:round/>
            <a:headEnd len="sm" w="sm" type="none"/>
            <a:tailEnd len="sm" w="sm" type="none"/>
          </a:ln>
        </p:spPr>
      </p:cxnSp>
      <p:sp>
        <p:nvSpPr>
          <p:cNvPr id="727" name="Google Shape;727;p60"/>
          <p:cNvSpPr/>
          <p:nvPr/>
        </p:nvSpPr>
        <p:spPr>
          <a:xfrm>
            <a:off x="411491" y="4800600"/>
            <a:ext cx="6172365"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Practical AI for SE  ·  Week 3  ·  Session 2</a:t>
            </a:r>
            <a:endParaRPr b="0" i="0" sz="700" u="none" cap="none" strike="noStrike">
              <a:solidFill>
                <a:schemeClr val="dk1"/>
              </a:solidFill>
              <a:latin typeface="Calibri"/>
              <a:ea typeface="Calibri"/>
              <a:cs typeface="Calibri"/>
              <a:sym typeface="Calibri"/>
            </a:endParaRPr>
          </a:p>
        </p:txBody>
      </p:sp>
      <p:sp>
        <p:nvSpPr>
          <p:cNvPr id="728" name="Google Shape;728;p60"/>
          <p:cNvSpPr/>
          <p:nvPr/>
        </p:nvSpPr>
        <p:spPr>
          <a:xfrm>
            <a:off x="8044648" y="4800600"/>
            <a:ext cx="685818" cy="24003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C6B7A"/>
              </a:buClr>
              <a:buSzPts val="700"/>
              <a:buFont typeface="Calibri"/>
              <a:buNone/>
            </a:pPr>
            <a:r>
              <a:rPr b="0" i="0" lang="en" sz="700" u="none" cap="none" strike="noStrike">
                <a:solidFill>
                  <a:srgbClr val="5C6B7A"/>
                </a:solidFill>
                <a:latin typeface="Calibri"/>
                <a:ea typeface="Calibri"/>
                <a:cs typeface="Calibri"/>
                <a:sym typeface="Calibri"/>
              </a:rPr>
              <a:t>12</a:t>
            </a:r>
            <a:endParaRPr b="0" i="0" sz="700" u="none" cap="none" strike="noStrike">
              <a:solidFill>
                <a:schemeClr val="dk1"/>
              </a:solidFill>
              <a:latin typeface="Calibri"/>
              <a:ea typeface="Calibri"/>
              <a:cs typeface="Calibri"/>
              <a:sym typeface="Calibri"/>
            </a:endParaRPr>
          </a:p>
        </p:txBody>
      </p:sp>
      <p:sp>
        <p:nvSpPr>
          <p:cNvPr id="729" name="Google Shape;729;p60"/>
          <p:cNvSpPr/>
          <p:nvPr/>
        </p:nvSpPr>
        <p:spPr>
          <a:xfrm>
            <a:off x="411491" y="1371600"/>
            <a:ext cx="8298401" cy="891540"/>
          </a:xfrm>
          <a:prstGeom prst="rect">
            <a:avLst/>
          </a:prstGeom>
          <a:noFill/>
          <a:ln>
            <a:noFill/>
          </a:ln>
        </p:spPr>
        <p:txBody>
          <a:bodyPr anchorCtr="0" anchor="t" bIns="34275" lIns="68575" spcFirstLastPara="1" rIns="68575" wrap="square" tIns="34275">
            <a:noAutofit/>
          </a:bodyPr>
          <a:lstStyle/>
          <a:p>
            <a:pPr indent="-184150" lvl="0" marL="177800" marR="0" rtl="0" algn="l">
              <a:spcBef>
                <a:spcPts val="0"/>
              </a:spcBef>
              <a:spcAft>
                <a:spcPts val="0"/>
              </a:spcAft>
              <a:buClr>
                <a:srgbClr val="13293D"/>
              </a:buClr>
              <a:buSzPts val="1300"/>
              <a:buFont typeface="Calibri"/>
              <a:buChar char="•"/>
            </a:pPr>
            <a:r>
              <a:rPr b="1" i="0" lang="en" sz="1300" u="none" cap="none" strike="noStrike">
                <a:solidFill>
                  <a:srgbClr val="13293D"/>
                </a:solidFill>
                <a:latin typeface="Calibri"/>
                <a:ea typeface="Calibri"/>
                <a:cs typeface="Calibri"/>
                <a:sym typeface="Calibri"/>
              </a:rPr>
              <a:t>Lab 3 is not a coding lab. No major coding.</a:t>
            </a:r>
            <a:endParaRPr b="0" i="0" sz="1300" u="none" cap="none" strike="noStrike">
              <a:solidFill>
                <a:schemeClr val="dk1"/>
              </a:solidFill>
              <a:latin typeface="Calibri"/>
              <a:ea typeface="Calibri"/>
              <a:cs typeface="Calibri"/>
              <a:sym typeface="Calibri"/>
            </a:endParaRPr>
          </a:p>
          <a:p>
            <a:pPr indent="-184150" lvl="0" marL="177800" marR="0" rtl="0" algn="l">
              <a:spcBef>
                <a:spcPts val="700"/>
              </a:spcBef>
              <a:spcAft>
                <a:spcPts val="0"/>
              </a:spcAft>
              <a:buClr>
                <a:srgbClr val="13293D"/>
              </a:buClr>
              <a:buSzPts val="1300"/>
              <a:buFont typeface="Calibri"/>
              <a:buChar char="•"/>
            </a:pPr>
            <a:r>
              <a:rPr b="0" i="0" lang="en" sz="1300" u="none" cap="none" strike="noStrike">
                <a:solidFill>
                  <a:srgbClr val="13293D"/>
                </a:solidFill>
                <a:latin typeface="Calibri"/>
                <a:ea typeface="Calibri"/>
                <a:cs typeface="Calibri"/>
                <a:sym typeface="Calibri"/>
              </a:rPr>
              <a:t>Six activities, ending in a team pitch.</a:t>
            </a:r>
            <a:endParaRPr b="0" i="0" sz="1300" u="none" cap="none" strike="noStrike">
              <a:solidFill>
                <a:schemeClr val="dk1"/>
              </a:solidFill>
              <a:latin typeface="Calibri"/>
              <a:ea typeface="Calibri"/>
              <a:cs typeface="Calibri"/>
              <a:sym typeface="Calibri"/>
            </a:endParaRPr>
          </a:p>
          <a:p>
            <a:pPr indent="-184150" lvl="0" marL="177800" marR="0" rtl="0" algn="l">
              <a:spcBef>
                <a:spcPts val="700"/>
              </a:spcBef>
              <a:spcAft>
                <a:spcPts val="0"/>
              </a:spcAft>
              <a:buClr>
                <a:srgbClr val="13293D"/>
              </a:buClr>
              <a:buSzPts val="1300"/>
              <a:buFont typeface="Calibri"/>
              <a:buChar char="•"/>
            </a:pPr>
            <a:r>
              <a:rPr b="1" i="0" lang="en" sz="1300" u="none" cap="none" strike="noStrike">
                <a:solidFill>
                  <a:srgbClr val="13293D"/>
                </a:solidFill>
                <a:latin typeface="Calibri"/>
                <a:ea typeface="Calibri"/>
                <a:cs typeface="Calibri"/>
                <a:sym typeface="Calibri"/>
              </a:rPr>
              <a:t>Output: your Capstone Concept v1.</a:t>
            </a:r>
            <a:endParaRPr b="0" i="0" sz="1300" u="none" cap="none" strike="noStrike">
              <a:solidFill>
                <a:schemeClr val="dk1"/>
              </a:solidFill>
              <a:latin typeface="Calibri"/>
              <a:ea typeface="Calibri"/>
              <a:cs typeface="Calibri"/>
              <a:sym typeface="Calibri"/>
            </a:endParaRPr>
          </a:p>
        </p:txBody>
      </p:sp>
      <p:sp>
        <p:nvSpPr>
          <p:cNvPr id="730" name="Google Shape;730;p60"/>
          <p:cNvSpPr/>
          <p:nvPr/>
        </p:nvSpPr>
        <p:spPr>
          <a:xfrm>
            <a:off x="411491" y="2468880"/>
            <a:ext cx="8298401" cy="685800"/>
          </a:xfrm>
          <a:prstGeom prst="roundRect">
            <a:avLst>
              <a:gd fmla="val 5000" name="adj"/>
            </a:avLst>
          </a:prstGeom>
          <a:solidFill>
            <a:srgbClr val="F7F9FB"/>
          </a:solidFill>
          <a:ln cap="flat" cmpd="sng" w="15875">
            <a:solidFill>
              <a:srgbClr val="D9822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1" name="Google Shape;731;p60"/>
          <p:cNvSpPr/>
          <p:nvPr/>
        </p:nvSpPr>
        <p:spPr>
          <a:xfrm>
            <a:off x="603520" y="2537460"/>
            <a:ext cx="7914343" cy="54864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D9822B"/>
              </a:buClr>
              <a:buSzPts val="900"/>
              <a:buFont typeface="Calibri"/>
              <a:buNone/>
            </a:pPr>
            <a:r>
              <a:rPr b="1" i="0" lang="en" sz="1100" u="none" cap="none" strike="noStrike">
                <a:solidFill>
                  <a:srgbClr val="D9822B"/>
                </a:solidFill>
                <a:latin typeface="Calibri"/>
                <a:ea typeface="Calibri"/>
                <a:cs typeface="Calibri"/>
                <a:sym typeface="Calibri"/>
              </a:rPr>
              <a:t>BRING</a:t>
            </a:r>
            <a:br>
              <a:rPr b="1" i="0" lang="en" sz="1100" u="none" cap="none" strike="noStrike">
                <a:solidFill>
                  <a:srgbClr val="D9822B"/>
                </a:solidFill>
                <a:latin typeface="Calibri"/>
                <a:ea typeface="Calibri"/>
                <a:cs typeface="Calibri"/>
                <a:sym typeface="Calibri"/>
              </a:rPr>
            </a:br>
            <a:r>
              <a:rPr b="0" i="0" lang="en" sz="1200" u="none" cap="none" strike="noStrike">
                <a:solidFill>
                  <a:srgbClr val="13293D"/>
                </a:solidFill>
                <a:latin typeface="Calibri"/>
                <a:ea typeface="Calibri"/>
                <a:cs typeface="Calibri"/>
                <a:sym typeface="Calibri"/>
              </a:rPr>
              <a:t>Everything from today: the eight criteria, the good/bad examples, and the quality gate. You'll use all three in the next three hours.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