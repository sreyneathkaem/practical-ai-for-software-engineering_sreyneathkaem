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week: last week we learned to talk to an LLM. This week we learn to build software around one. Emphasise the shift from experimentation to engineering.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1 ends at 'it works'. Week 2 is the whole right column: control, failure, cost, reliability.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objectives across both sessions and the lab. Objectives 1-5 land today; 6-10 in Session 2 and Lab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out: endpoint, request format, response schema, auth, failure modes. Same checklist will apply to the LLM.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framing is the spine of the whole week: treat the model as an external dependency, not magic.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Determinism is the assumption students carry from every other API. Break it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in Session 1 is one of these three inputs. Keep returning to this triple.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every line. Note OpenAI() reads the key from the environment — foreshadow the security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things in every call: where, which model, what conversation, and how it should generate.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it concrete: a message is a role plus content, nothing more.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roles, three jobs. The assistant role is how you replay history back to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constraints ('do not provide complete solutions') — that is behaviour design, not a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assistant message is not generated fresh — it is you replaying what was said, so the model has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surprising fact for beginners. State lives in your app, not the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a show of hands before revealing. Most will guess yes — that instinct is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Seed the idea that memory has a cost and a design — sliding windows, summaries, DBs — covered next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Parameters are the dials between prompt and output. Two matter most today: temperature and max tokens.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Resist a probability-distribution lecture. Behaviour first: low = steady, high = varied.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misconception: crank temperature for 'better' answers. Correct it explicitly.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class for each side before revealing. Tie choices back to the application's requirement.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emits tokens one at a time; the limit stops it. Truncation is a real failure mode to design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Khmer relevance matters for this cohort — tokenisation is not uniform across languages, and cost follows tokens.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consequences, one theme: tokens are the currency of this API. Manage them deliberately.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tree. usage is where token accounting lives — we lean on it in Session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to reliability: assuming a happy path is the root of most integration bugs.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point: system instructions shape but do not guarantee. 'Exactly two sentences' is a request, not a contract.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Shift the identity from 'user of ChatGPT' to 'engineer defining a component's contract'.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the model behind a plain function. This sets up the reusable wrapper in Session 2 / Lab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the vague ask with the constrained instruction. The second is testable and composable.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Downstream code needs a label, not a paragraph. Constrain the shape of the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each group one requirement. Force them to specify constraints and expected output shape.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Environment variables (or a git-ignored .env). Point ahead to the .gitignore in Lab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 on Q4: deleting the commit is NOT enough — history persists; the key must be revoked and rotated.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they remember one slide, make it this. App owns state, sends model+messages+parameters, handles the response.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points map one-to-one onto today's sections. Session 2 makes them robust.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these before Lab 2 — each field maps to a CLI flag or design choice in the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SOFTWARE ENGINEERING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with an LLM API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658368" y="3063240"/>
            <a:ext cx="4480560" cy="640080"/>
          </a:xfrm>
          <a:prstGeom prst="roundRect">
            <a:avLst>
              <a:gd name="adj" fmla="val 11429"/>
            </a:avLst>
          </a:prstGeom>
          <a:solidFill>
            <a:srgbClr val="134074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30632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SESSION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349240" y="3063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8DA9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Completions API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8368" y="4160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asking an AI a question  →  integrating AI into software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8368" y="6080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Software Engineering  ·  CamTech University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FROM WEEK 1 TO WEEK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— using AI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212080" cy="566928"/>
          </a:xfrm>
          <a:prstGeom prst="roundRect">
            <a:avLst>
              <a:gd name="adj" fmla="val 9677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11680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AI?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57860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798064"/>
            <a:ext cx="5212080" cy="566928"/>
          </a:xfrm>
          <a:prstGeom prst="roundRect">
            <a:avLst>
              <a:gd name="adj" fmla="val 9677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798064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LLM?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364992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584448"/>
            <a:ext cx="5212080" cy="566928"/>
          </a:xfrm>
          <a:prstGeom prst="roundRect">
            <a:avLst>
              <a:gd name="adj" fmla="val 9677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584448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 communicate with an LLM?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4151376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370832"/>
            <a:ext cx="5212080" cy="566928"/>
          </a:xfrm>
          <a:prstGeom prst="roundRect">
            <a:avLst>
              <a:gd name="adj" fmla="val 9677"/>
            </a:avLst>
          </a:prstGeom>
          <a:solidFill>
            <a:srgbClr val="F2A65A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370832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tiny chatbot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0" y="1600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— engineering with AI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0" y="2011680"/>
            <a:ext cx="5212080" cy="566928"/>
          </a:xfrm>
          <a:prstGeom prst="roundRect">
            <a:avLst>
              <a:gd name="adj" fmla="val 9677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2011680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software communicate with an LLM?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0" y="257860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0" y="2798064"/>
            <a:ext cx="5212080" cy="566928"/>
          </a:xfrm>
          <a:prstGeom prst="roundRect">
            <a:avLst>
              <a:gd name="adj" fmla="val 9677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2798064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control its behaviour?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0" y="3364992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0800" y="3584448"/>
            <a:ext cx="5212080" cy="566928"/>
          </a:xfrm>
          <a:prstGeom prst="roundRect">
            <a:avLst>
              <a:gd name="adj" fmla="val 9677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3584448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handle failures &amp; manage cost?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00800" y="4151376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00800" y="4370832"/>
            <a:ext cx="5212080" cy="566928"/>
          </a:xfrm>
          <a:prstGeom prst="roundRect">
            <a:avLst>
              <a:gd name="adj" fmla="val 9677"/>
            </a:avLst>
          </a:prstGeom>
          <a:solidFill>
            <a:srgbClr val="0B2545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4370832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build a reliable AI feature?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ORIENTATION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84048" cy="384048"/>
          </a:xfrm>
          <a:prstGeom prst="oval">
            <a:avLst/>
          </a:prstGeom>
          <a:solidFill>
            <a:srgbClr val="0B254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63677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an LLM API fits into an application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532888"/>
            <a:ext cx="384048" cy="384048"/>
          </a:xfrm>
          <a:prstGeom prst="oval">
            <a:avLst/>
          </a:prstGeom>
          <a:solidFill>
            <a:srgbClr val="0B254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32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247802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a Chat Completions request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374136"/>
            <a:ext cx="384048" cy="384048"/>
          </a:xfrm>
          <a:prstGeom prst="oval">
            <a:avLst/>
          </a:prstGeom>
          <a:solidFill>
            <a:srgbClr val="0B254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331927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system / user / assistant messages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215384"/>
            <a:ext cx="384048" cy="384048"/>
          </a:xfrm>
          <a:prstGeom prst="oval">
            <a:avLst/>
          </a:prstGeom>
          <a:solidFill>
            <a:srgbClr val="0B254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41605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temperature and token limits appropriately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056632"/>
            <a:ext cx="384048" cy="384048"/>
          </a:xfrm>
          <a:prstGeom prst="oval">
            <a:avLst/>
          </a:prstGeom>
          <a:solidFill>
            <a:srgbClr val="0B254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056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500176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prompts as application behaviour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309360" y="1691640"/>
            <a:ext cx="384048" cy="384048"/>
          </a:xfrm>
          <a:prstGeom prst="oval">
            <a:avLst/>
          </a:prstGeom>
          <a:solidFill>
            <a:srgbClr val="0B2545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0" y="163677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API error handling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309360" y="2532888"/>
            <a:ext cx="384048" cy="384048"/>
          </a:xfrm>
          <a:prstGeom prst="oval">
            <a:avLst/>
          </a:prstGeom>
          <a:solidFill>
            <a:srgbClr val="0B2545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2532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0" y="247802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rate limits and retry strategies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309360" y="3374136"/>
            <a:ext cx="384048" cy="384048"/>
          </a:xfrm>
          <a:prstGeom prst="oval">
            <a:avLst/>
          </a:prstGeom>
          <a:solidFill>
            <a:srgbClr val="0B2545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0" y="331927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token usage and estimate cost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309360" y="4215384"/>
            <a:ext cx="384048" cy="384048"/>
          </a:xfrm>
          <a:prstGeom prst="oval">
            <a:avLst/>
          </a:prstGeom>
          <a:solidFill>
            <a:srgbClr val="0B2545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0" y="41605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streaming responses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6309360" y="5056632"/>
            <a:ext cx="384048" cy="384048"/>
          </a:xfrm>
          <a:prstGeom prst="oval">
            <a:avLst/>
          </a:prstGeom>
          <a:solidFill>
            <a:srgbClr val="0B2545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5056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58000" y="500176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configurable text assistant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96596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96596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286000" y="21488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API?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331720" y="3108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is a service your software calls — like any other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WARM-UP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AI: Calling a Normal API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application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F2A65A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774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017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API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F2A65A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6576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411480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4297680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297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application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394960" y="1783080"/>
            <a:ext cx="6217920" cy="640080"/>
          </a:xfrm>
          <a:prstGeom prst="roundRect">
            <a:avLst>
              <a:gd name="adj" fmla="val 11429"/>
            </a:avLst>
          </a:prstGeom>
          <a:solidFill>
            <a:srgbClr val="0B2545"/>
          </a:solidFill>
          <a:ln w="12700">
            <a:solidFill>
              <a:srgbClr val="13407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622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96128" y="1929384"/>
            <a:ext cx="5815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/weather?city=Phnom+Penh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394960" y="2697480"/>
            <a:ext cx="6217920" cy="1554480"/>
          </a:xfrm>
          <a:prstGeom prst="roundRect">
            <a:avLst>
              <a:gd name="adj" fmla="val 4706"/>
            </a:avLst>
          </a:prstGeom>
          <a:solidFill>
            <a:srgbClr val="0B2545"/>
          </a:solidFill>
          <a:ln w="12700">
            <a:solidFill>
              <a:srgbClr val="13407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622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96128" y="2843784"/>
            <a:ext cx="58155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"temperature": 31,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"condition": "Cloudy"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394960" y="4526280"/>
            <a:ext cx="6217920" cy="1051560"/>
          </a:xfrm>
          <a:prstGeom prst="roundRect">
            <a:avLst>
              <a:gd name="adj" fmla="val 6957"/>
            </a:avLst>
          </a:prstGeom>
          <a:solidFill>
            <a:srgbClr val="EEF2F6"/>
          </a:solidFill>
          <a:ln w="19050">
            <a:solidFill>
              <a:srgbClr val="F2A6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4526280"/>
            <a:ext cx="5852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Discuss:  </a:t>
            </a:r>
            <a:pPr indent="0" marL="0">
              <a:buNone/>
            </a:pPr>
            <a:r>
              <a:rPr lang="en-US" sz="14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our application actually need to know about the weather service?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REFRAMING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LLM Is Also a Service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977640" y="1691640"/>
            <a:ext cx="4206240" cy="411480"/>
          </a:xfrm>
          <a:prstGeom prst="roundRect">
            <a:avLst>
              <a:gd name="adj" fmla="val 13333"/>
            </a:avLst>
          </a:prstGeom>
          <a:solidFill>
            <a:srgbClr val="0B2545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77640" y="16916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application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977640" y="210312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977640" y="2249424"/>
            <a:ext cx="4206240" cy="411480"/>
          </a:xfrm>
          <a:prstGeom prst="roundRect">
            <a:avLst>
              <a:gd name="adj" fmla="val 13333"/>
            </a:avLst>
          </a:prstGeom>
          <a:solidFill>
            <a:srgbClr val="F2A65A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77640" y="224942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request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77640" y="2660904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977640" y="2807208"/>
            <a:ext cx="4206240" cy="411480"/>
          </a:xfrm>
          <a:prstGeom prst="roundRect">
            <a:avLst>
              <a:gd name="adj" fmla="val 13333"/>
            </a:avLst>
          </a:prstGeom>
          <a:solidFill>
            <a:srgbClr val="0B2545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77640" y="28072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77640" y="3218688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977640" y="3364992"/>
            <a:ext cx="4206240" cy="411480"/>
          </a:xfrm>
          <a:prstGeom prst="roundRect">
            <a:avLst>
              <a:gd name="adj" fmla="val 13333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77640" y="336499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inference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977640" y="3776472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977640" y="3922776"/>
            <a:ext cx="4206240" cy="411480"/>
          </a:xfrm>
          <a:prstGeom prst="roundRect">
            <a:avLst>
              <a:gd name="adj" fmla="val 13333"/>
            </a:avLst>
          </a:prstGeom>
          <a:solidFill>
            <a:srgbClr val="F2A65A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77640" y="392277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response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977640" y="4334256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977640" y="4480560"/>
            <a:ext cx="4206240" cy="411480"/>
          </a:xfrm>
          <a:prstGeom prst="roundRect">
            <a:avLst>
              <a:gd name="adj" fmla="val 13333"/>
            </a:avLst>
          </a:prstGeom>
          <a:solidFill>
            <a:srgbClr val="0B2545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77640" y="44805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application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" y="52578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0B2545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25780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 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API is an external dependency — just like a database, payment service, map API, or email service.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THE CRUCIAL DIFFERENCE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an LLM API Different?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 API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524000" cy="822960"/>
          </a:xfrm>
          <a:prstGeom prst="roundRect">
            <a:avLst>
              <a:gd name="adj" fmla="val 6667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03120"/>
            <a:ext cx="152400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64080" y="2103120"/>
            <a:ext cx="27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438400" y="2103120"/>
            <a:ext cx="1524000" cy="822960"/>
          </a:xfrm>
          <a:prstGeom prst="roundRect">
            <a:avLst>
              <a:gd name="adj" fmla="val 6667"/>
            </a:avLst>
          </a:prstGeom>
          <a:solidFill>
            <a:srgbClr val="0B2545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38400" y="2103120"/>
            <a:ext cx="152400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62400" y="2103120"/>
            <a:ext cx="27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236720" y="2103120"/>
            <a:ext cx="1524000" cy="822960"/>
          </a:xfrm>
          <a:prstGeom prst="roundRect">
            <a:avLst>
              <a:gd name="adj" fmla="val 6667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36720" y="2103120"/>
            <a:ext cx="152400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1645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863840" y="210312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0" y="2103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863840" y="256032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863840" y="2706624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0" y="270662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+ parameters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863840" y="3163824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863840" y="3310128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F2A65A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0" y="33101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generation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863840" y="3767328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863840" y="3913632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0" y="391363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40080" y="521208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19050">
            <a:solidFill>
              <a:srgbClr val="F2A6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2120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request, twice — same response?
</a:t>
            </a:r>
            <a:pPr indent="0" marL="0">
              <a:buNone/>
            </a:pPr>
            <a:r>
              <a:rPr lang="en-US" sz="1450" b="1" dirty="0">
                <a:solidFill>
                  <a:srgbClr val="C05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necessarily. Generation is probabilistic.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96596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96596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286000" y="21488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Chat Completions Model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331720" y="3108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+ model + parameters → an assistant response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MENTAL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Basic Idea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322320" cy="914400"/>
          </a:xfrm>
          <a:prstGeom prst="roundRect">
            <a:avLst>
              <a:gd name="adj" fmla="val 6000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86000"/>
            <a:ext cx="332232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62400" y="228600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419600" y="2286000"/>
            <a:ext cx="3322320" cy="914400"/>
          </a:xfrm>
          <a:prstGeom prst="roundRect">
            <a:avLst>
              <a:gd name="adj" fmla="val 6000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19600" y="2286000"/>
            <a:ext cx="332232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41920" y="228600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199120" y="2286000"/>
            <a:ext cx="3322320" cy="914400"/>
          </a:xfrm>
          <a:prstGeom prst="roundRect">
            <a:avLst>
              <a:gd name="adj" fmla="val 6000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99120" y="2286000"/>
            <a:ext cx="332232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2860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00" dirty="0"/>
          </a:p>
        </p:txBody>
      </p:sp>
      <p:sp>
        <p:nvSpPr>
          <p:cNvPr id="13" name="Shape 11"/>
          <p:cNvSpPr/>
          <p:nvPr/>
        </p:nvSpPr>
        <p:spPr>
          <a:xfrm>
            <a:off x="4709160" y="3657600"/>
            <a:ext cx="2743200" cy="566928"/>
          </a:xfrm>
          <a:prstGeom prst="roundRect">
            <a:avLst>
              <a:gd name="adj" fmla="val 9677"/>
            </a:avLst>
          </a:prstGeom>
          <a:solidFill>
            <a:srgbClr val="0B2545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36576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09160" y="42245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09160" y="4480560"/>
            <a:ext cx="2743200" cy="566928"/>
          </a:xfrm>
          <a:prstGeom prst="roundRect">
            <a:avLst>
              <a:gd name="adj" fmla="val 9677"/>
            </a:avLst>
          </a:prstGeom>
          <a:solidFill>
            <a:srgbClr val="F2A65A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448056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response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HELLO, WORLD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First API Call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680960" cy="4297680"/>
          </a:xfrm>
          <a:prstGeom prst="roundRect">
            <a:avLst>
              <a:gd name="adj" fmla="val 1702"/>
            </a:avLst>
          </a:prstGeom>
          <a:solidFill>
            <a:srgbClr val="0B2545"/>
          </a:solidFill>
          <a:ln w="12700">
            <a:solidFill>
              <a:srgbClr val="13407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622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837944"/>
            <a:ext cx="7278624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openai import OpenAI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OpenAI()   # reads OPENAI_API_KEY from env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client.chat.completions.create(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model="YOUR_MODEL",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messages=[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"role": "user",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"content": "Explain polymorphism simply."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print(response.choices[0].message.content)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49640" y="17830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49640" y="20756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official SDK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549640" y="26243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49640" y="291693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connection, once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549640" y="346557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create()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49640" y="375818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request to the model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549640" y="430682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49640" y="45994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conversation you send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549640" y="51480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choices[0]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49640" y="5440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in for the text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BREAKING IT DOWN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the Request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0B2545"/>
          </a:solidFill>
          <a:ln w="12700">
            <a:solidFill>
              <a:srgbClr val="13407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622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975104"/>
            <a:ext cx="508406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client.chat.completions.create(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model=...,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messages=...,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temperature=...,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0" y="1554480"/>
            <a:ext cx="4206240" cy="54864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0" y="15544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0" y="210312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0" y="2322576"/>
            <a:ext cx="4206240" cy="548640"/>
          </a:xfrm>
          <a:prstGeom prst="roundRect">
            <a:avLst>
              <a:gd name="adj" fmla="val 10000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232257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— which brain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0" y="287121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0" y="3090672"/>
            <a:ext cx="4206240" cy="548640"/>
          </a:xfrm>
          <a:prstGeom prst="roundRect">
            <a:avLst>
              <a:gd name="adj" fmla="val 10000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0" y="309067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— the messages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0" y="363931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0" y="3858768"/>
            <a:ext cx="4206240" cy="548640"/>
          </a:xfrm>
          <a:prstGeom prst="roundRect">
            <a:avLst>
              <a:gd name="adj" fmla="val 10000"/>
            </a:avLst>
          </a:prstGeom>
          <a:solidFill>
            <a:srgbClr val="F2A65A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38587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— how it generates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THE UNIT OF CONVERSATION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Message?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669280" cy="1371600"/>
          </a:xfrm>
          <a:prstGeom prst="roundRect">
            <a:avLst>
              <a:gd name="adj" fmla="val 5333"/>
            </a:avLst>
          </a:prstGeom>
          <a:solidFill>
            <a:srgbClr val="0B2545"/>
          </a:solidFill>
          <a:ln w="12700">
            <a:solidFill>
              <a:srgbClr val="13407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622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2066544"/>
            <a:ext cx="52669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"role": "user",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"content": "Explain recursion."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75120" y="2148840"/>
            <a:ext cx="2240280" cy="91440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0" y="2148840"/>
            <a:ext cx="224028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speaking?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15400" y="214884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281160" y="2148840"/>
            <a:ext cx="2240280" cy="914400"/>
          </a:xfrm>
          <a:prstGeom prst="roundRect">
            <a:avLst>
              <a:gd name="adj" fmla="val 6000"/>
            </a:avLst>
          </a:prstGeom>
          <a:solidFill>
            <a:srgbClr val="F2A65A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2148840"/>
            <a:ext cx="224028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they saying?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931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 is exactly these two fields — a role and its content.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96596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96596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286000" y="21488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331720" y="3108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defines behaviour · user provides input · assistant is prior output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THE THREE ROLES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Important Roles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2743200"/>
          </a:xfrm>
          <a:prstGeom prst="roundRect">
            <a:avLst>
              <a:gd name="adj" fmla="val 3333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  <a:effectLst>
            <a:outerShdw sx="100000" sy="100000" kx="0" ky="0" algn="bl" rotWithShape="0" blurRad="76200" dist="25400" dir="5400000">
              <a:srgbClr val="B8C4CE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84832"/>
            <a:ext cx="1554480" cy="502920"/>
          </a:xfrm>
          <a:prstGeom prst="roundRect">
            <a:avLst>
              <a:gd name="adj" fmla="val 49091"/>
            </a:avLst>
          </a:prstGeom>
          <a:solidFill>
            <a:srgbClr val="0B254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848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96112" y="2834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Defines behaviour &amp; instructions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840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once, up front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429000" cy="2743200"/>
          </a:xfrm>
          <a:prstGeom prst="roundRect">
            <a:avLst>
              <a:gd name="adj" fmla="val 3333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  <a:effectLst>
            <a:outerShdw sx="100000" sy="100000" kx="0" ky="0" algn="bl" rotWithShape="0" blurRad="76200" dist="25400" dir="5400000">
              <a:srgbClr val="B8C4CE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2084832"/>
            <a:ext cx="1554480" cy="502920"/>
          </a:xfrm>
          <a:prstGeom prst="roundRect">
            <a:avLst>
              <a:gd name="adj" fmla="val 49091"/>
            </a:avLst>
          </a:prstGeom>
          <a:solidFill>
            <a:srgbClr val="13407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0848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99432" y="2834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Provides the request / input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99432" y="3840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human asks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429000" cy="2743200"/>
          </a:xfrm>
          <a:prstGeom prst="roundRect">
            <a:avLst>
              <a:gd name="adj" fmla="val 3333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  <a:effectLst>
            <a:outerShdw sx="100000" sy="100000" kx="0" ky="0" algn="bl" rotWithShape="0" blurRad="76200" dist="25400" dir="5400000">
              <a:srgbClr val="B8C4CE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75320" y="2084832"/>
            <a:ext cx="1554480" cy="502920"/>
          </a:xfrm>
          <a:prstGeom prst="roundRect">
            <a:avLst>
              <a:gd name="adj" fmla="val 49091"/>
            </a:avLst>
          </a:prstGeom>
          <a:solidFill>
            <a:srgbClr val="D9822B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20848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02752" y="2834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Represents previous model output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02752" y="3840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reply, remembered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ROLE =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System Message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766560" cy="3291840"/>
          </a:xfrm>
          <a:prstGeom prst="roundRect">
            <a:avLst>
              <a:gd name="adj" fmla="val 2222"/>
            </a:avLst>
          </a:prstGeom>
          <a:solidFill>
            <a:srgbClr val="0B2545"/>
          </a:solidFill>
          <a:ln w="12700">
            <a:solidFill>
              <a:srgbClr val="13407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622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929384"/>
            <a:ext cx="6364224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 programming tutor.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 concepts using: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1. A short definition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2. One example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3. One common mistake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not provide complete homework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0" y="1783080"/>
            <a:ext cx="3794760" cy="3291840"/>
          </a:xfrm>
          <a:prstGeom prst="roundRect">
            <a:avLst>
              <a:gd name="adj" fmla="val 2778"/>
            </a:avLst>
          </a:prstGeom>
          <a:solidFill>
            <a:srgbClr val="EEF2F6"/>
          </a:solidFill>
          <a:ln w="19050">
            <a:solidFill>
              <a:srgbClr val="F2A6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01000" y="2011680"/>
            <a:ext cx="3383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message
</a:t>
            </a:r>
            <a:pPr indent="0" marL="0">
              <a:buNone/>
            </a:pPr>
            <a:r>
              <a:rPr lang="en-US" sz="14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the assistant's behaviour, tone, format, and boundaries — before the user says anything.
</a:t>
            </a:r>
            <a:pPr indent="0" marL="0">
              <a:buNone/>
            </a:pPr>
            <a:r>
              <a:rPr lang="en-US" sz="14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where you encode </a:t>
            </a:r>
            <a:pPr indent="0" marL="0">
              <a:buNone/>
            </a:pPr>
            <a:r>
              <a:rPr lang="en-US" sz="145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decisions</a:t>
            </a:r>
            <a:pPr indent="0" marL="0">
              <a:buNone/>
            </a:pPr>
            <a:r>
              <a:rPr lang="en-US" sz="14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ROLE = USER &amp; ASSISTANT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Input, Assistant Reply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— the task / input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120640" cy="685800"/>
          </a:xfrm>
          <a:prstGeom prst="roundRect">
            <a:avLst>
              <a:gd name="adj" fmla="val 10667"/>
            </a:avLst>
          </a:prstGeom>
          <a:solidFill>
            <a:srgbClr val="0B2545"/>
          </a:solidFill>
          <a:ln w="12700">
            <a:solidFill>
              <a:srgbClr val="13407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622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157984"/>
            <a:ext cx="47183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dependency injection?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— a prior reply becomes context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429000"/>
            <a:ext cx="10881360" cy="2194560"/>
          </a:xfrm>
          <a:prstGeom prst="roundRect">
            <a:avLst>
              <a:gd name="adj" fmla="val 3333"/>
            </a:avLst>
          </a:prstGeom>
          <a:solidFill>
            <a:srgbClr val="0B2545"/>
          </a:solidFill>
          <a:ln w="12700">
            <a:solidFill>
              <a:srgbClr val="13407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622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3575304"/>
            <a:ext cx="1047902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      What is polymorphism?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assistant: Polymorphism allows one interface to...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      Can you give me an example?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8DA9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earlier assistant answer is part of the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8DA9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conversation the next request must include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THE BIG REALISATION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Conversation Is Just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949440" cy="4297680"/>
          </a:xfrm>
          <a:prstGeom prst="roundRect">
            <a:avLst>
              <a:gd name="adj" fmla="val 1702"/>
            </a:avLst>
          </a:prstGeom>
          <a:solidFill>
            <a:srgbClr val="0B2545"/>
          </a:solidFill>
          <a:ln w="12700">
            <a:solidFill>
              <a:srgbClr val="13407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622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837944"/>
            <a:ext cx="6547104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 = [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{"role": "system",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"content": "You are a helpful programming tutor."},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{"role": "user",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"content": "What is inheritance?"},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{"role": "assistant",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"content": "Inheritance allows..."},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{"role": "user",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"content": "Give me a Java example."},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863840" y="2194560"/>
            <a:ext cx="3703320" cy="3291840"/>
          </a:xfrm>
          <a:prstGeom prst="roundRect">
            <a:avLst>
              <a:gd name="adj" fmla="val 2778"/>
            </a:avLst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8092440" y="2423160"/>
            <a:ext cx="3291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does not
remember you.
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request is independent. </a:t>
            </a:r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application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must send the whole conversation every time.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PREDICT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the API Remember?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669280" cy="960120"/>
          </a:xfrm>
          <a:prstGeom prst="roundRect">
            <a:avLst>
              <a:gd name="adj" fmla="val 7619"/>
            </a:avLst>
          </a:prstGeom>
          <a:solidFill>
            <a:srgbClr val="0B2545"/>
          </a:solidFill>
          <a:ln w="12700">
            <a:solidFill>
              <a:srgbClr val="13407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622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975104"/>
            <a:ext cx="526694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 1:  "What is inheritance?"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5669280" cy="960120"/>
          </a:xfrm>
          <a:prstGeom prst="roundRect">
            <a:avLst>
              <a:gd name="adj" fmla="val 7619"/>
            </a:avLst>
          </a:prstGeom>
          <a:solidFill>
            <a:srgbClr val="0B2545"/>
          </a:solidFill>
          <a:ln w="12700">
            <a:solidFill>
              <a:srgbClr val="13407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622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3072384"/>
            <a:ext cx="526694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 2:  "Can you give me an example?"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11480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these are two independent requests, does #2 know about #1?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0" y="1828800"/>
            <a:ext cx="4709160" cy="3017520"/>
          </a:xfrm>
          <a:prstGeom prst="roundRect">
            <a:avLst>
              <a:gd name="adj" fmla="val 3030"/>
            </a:avLst>
          </a:prstGeom>
          <a:solidFill>
            <a:srgbClr val="EEF2F6"/>
          </a:solidFill>
          <a:ln w="25400">
            <a:solidFill>
              <a:srgbClr val="C056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214884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05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NO.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7132320" y="3291840"/>
            <a:ext cx="4160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...unless your application sends the previous conversation along with request #2.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AN SE DISCUSSION POINT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Chat Memory Live?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931920" y="1737360"/>
            <a:ext cx="4297680" cy="1371600"/>
          </a:xfrm>
          <a:prstGeom prst="roundRect">
            <a:avLst>
              <a:gd name="adj" fmla="val 6667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31920" y="173736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
</a:t>
            </a:r>
            <a:pPr algn="ctr" indent="0" marL="0">
              <a:buNone/>
            </a:pPr>
            <a:r>
              <a:rPr lang="en-US" sz="1400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conversation[ ]  ← the state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931920" y="3200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sends full history each call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931920" y="3657600"/>
            <a:ext cx="4297680" cy="868680"/>
          </a:xfrm>
          <a:prstGeom prst="roundRect">
            <a:avLst>
              <a:gd name="adj" fmla="val 10526"/>
            </a:avLst>
          </a:prstGeom>
          <a:solidFill>
            <a:srgbClr val="0B2545"/>
          </a:solidFill>
          <a:ln/>
        </p:spPr>
      </p:sp>
      <p:sp>
        <p:nvSpPr>
          <p:cNvPr id="8" name="Text 6"/>
          <p:cNvSpPr/>
          <p:nvPr/>
        </p:nvSpPr>
        <p:spPr>
          <a:xfrm>
            <a:off x="3931920" y="365760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  (stateless)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502920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Storing, trimming, and paying for that history is an engineering decision — we return to it in Session 2.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96596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96596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286000" y="21488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331720" y="3108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model generates — not what it knows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ADDING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Parameters?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8016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1249680" cy="822960"/>
          </a:xfrm>
          <a:prstGeom prst="roundRect">
            <a:avLst>
              <a:gd name="adj" fmla="val 6667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48840"/>
            <a:ext cx="12496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072640" y="2148840"/>
            <a:ext cx="228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301240" y="2148840"/>
            <a:ext cx="1249680" cy="822960"/>
          </a:xfrm>
          <a:prstGeom prst="roundRect">
            <a:avLst>
              <a:gd name="adj" fmla="val 6667"/>
            </a:avLst>
          </a:prstGeom>
          <a:solidFill>
            <a:srgbClr val="0B2545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01240" y="2148840"/>
            <a:ext cx="12496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50920" y="2148840"/>
            <a:ext cx="228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779520" y="2148840"/>
            <a:ext cx="1249680" cy="822960"/>
          </a:xfrm>
          <a:prstGeom prst="roundRect">
            <a:avLst>
              <a:gd name="adj" fmla="val 6667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79520" y="2148840"/>
            <a:ext cx="12496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772400" y="1874520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0" y="1874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+ Model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0" y="233172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72400" y="2478024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F2A65A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247802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Temperature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0" y="2935224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772400" y="3081528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F2A65A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0" y="30815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Token limit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0" y="3538728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772400" y="3685032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F2A65A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0" y="36850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Other parameters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772400" y="4142232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772400" y="4288536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0" y="428853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THE MAIN DIAL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3291840"/>
          </a:xfrm>
          <a:prstGeom prst="roundRect">
            <a:avLst>
              <a:gd name="adj" fmla="val 2778"/>
            </a:avLst>
          </a:prstGeom>
          <a:solidFill>
            <a:srgbClr val="13407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5740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5257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predictable
</a:t>
            </a:r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focused
</a:t>
            </a:r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variation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309360" y="1828800"/>
            <a:ext cx="5257800" cy="3291840"/>
          </a:xfrm>
          <a:prstGeom prst="roundRect">
            <a:avLst>
              <a:gd name="adj" fmla="val 2778"/>
            </a:avLst>
          </a:prstGeom>
          <a:solidFill>
            <a:srgbClr val="F2A65A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205740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309360" y="2880360"/>
            <a:ext cx="5257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variation
</a:t>
            </a:r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creative
</a:t>
            </a:r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predictable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53035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behaviour first — the maths later.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SAME PROMPT, TWO DIALS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 — Example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 "Give me a name for a programming club."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temperature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0B2545"/>
          </a:solidFill>
          <a:ln w="12700">
            <a:solidFill>
              <a:srgbClr val="13407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622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2706624"/>
            <a:ext cx="471830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Club</a:t>
            </a:r>
            <a:endParaRPr lang="en-US" sz="15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Programming Club</a:t>
            </a:r>
            <a:endParaRPr lang="en-US" sz="15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 Club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0" y="2194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temperature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256032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0B2545"/>
          </a:solidFill>
          <a:ln w="12700">
            <a:solidFill>
              <a:srgbClr val="13407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622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01968" y="2706624"/>
            <a:ext cx="471830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ByteForge</a:t>
            </a:r>
            <a:endParaRPr lang="en-US" sz="15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CodeLab</a:t>
            </a:r>
            <a:endParaRPr lang="en-US" sz="15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 Society</a:t>
            </a:r>
            <a:endParaRPr lang="en-US" sz="15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Pixel Programmers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7091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EF2F6"/>
          </a:solidFill>
          <a:ln w="19050">
            <a:solidFill>
              <a:srgbClr val="C056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7091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5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Warning:  </a:t>
            </a:r>
            <a:pPr indent="0" marL="0">
              <a:buNone/>
            </a:pPr>
            <a:r>
              <a:rPr lang="en-US" sz="15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does NOT mean "intelligence." Higher is more varied, not smarter.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CHOOSING A VALUE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Low vs. Higher Temperature?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3931920"/>
          </a:xfrm>
          <a:prstGeom prst="roundRect">
            <a:avLst>
              <a:gd name="adj" fmla="val 2326"/>
            </a:avLst>
          </a:prstGeom>
          <a:solidFill>
            <a:srgbClr val="F7F9FB"/>
          </a:solidFill>
          <a:ln w="19050">
            <a:solidFill>
              <a:srgbClr val="13407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65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when you want consistency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514600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formatting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assistance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support responses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09360" y="1737360"/>
            <a:ext cx="5257800" cy="3931920"/>
          </a:xfrm>
          <a:prstGeom prst="roundRect">
            <a:avLst>
              <a:gd name="adj" fmla="val 2326"/>
            </a:avLst>
          </a:prstGeom>
          <a:solidFill>
            <a:srgbClr val="F7F9FB"/>
          </a:solidFill>
          <a:ln w="19050">
            <a:solidFill>
              <a:srgbClr val="D982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965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— when you want range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75120" y="251460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writing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alternatives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37960" y="50292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05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...but higher randomness is not automatically better.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THE SECOND DIAL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Length &amp; Tokens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251960" y="1737360"/>
            <a:ext cx="3657600" cy="502920"/>
          </a:xfrm>
          <a:prstGeom prst="roundRect">
            <a:avLst>
              <a:gd name="adj" fmla="val 10909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51960" y="17373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251960" y="22402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51960" y="2441448"/>
            <a:ext cx="3657600" cy="502920"/>
          </a:xfrm>
          <a:prstGeom prst="roundRect">
            <a:avLst>
              <a:gd name="adj" fmla="val 10909"/>
            </a:avLst>
          </a:prstGeom>
          <a:solidFill>
            <a:srgbClr val="0B2545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51960" y="244144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generates tokens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194560" y="3246120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F2A65A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0" y="32461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94760" y="3246120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F2A65A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4760" y="32461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394960" y="3246120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F2A65A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32461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95160" y="3246120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F2A65A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95160" y="32461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595360" y="3246120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F7F9F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0" y="32461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194560" y="4297680"/>
            <a:ext cx="7772400" cy="9144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/>
        </p:spPr>
      </p:sp>
      <p:sp>
        <p:nvSpPr>
          <p:cNvPr id="20" name="Text 18"/>
          <p:cNvSpPr/>
          <p:nvPr/>
        </p:nvSpPr>
        <p:spPr>
          <a:xfrm>
            <a:off x="242316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max_tokens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 how many tokens the model may generate in its reply.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A SUBTLETY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Tokens Are Not Characters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 w="12700">
            <a:solidFill>
              <a:srgbClr val="13407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622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975104"/>
            <a:ext cx="47183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 world"   ≠   11 tokens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97180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0B2545"/>
          </a:solidFill>
          <a:ln w="12700">
            <a:solidFill>
              <a:srgbClr val="13407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622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3118104"/>
            <a:ext cx="47183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internationalization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inter · national · ization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257800" cy="2240280"/>
          </a:xfrm>
          <a:prstGeom prst="roundRect">
            <a:avLst>
              <a:gd name="adj" fmla="val 4082"/>
            </a:avLst>
          </a:prstGeom>
          <a:solidFill>
            <a:srgbClr val="EEF2F6"/>
          </a:solidFill>
          <a:ln w="19050">
            <a:solidFill>
              <a:srgbClr val="F2A6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2011680"/>
            <a:ext cx="4846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are pieces of text — </a:t>
            </a:r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word fragments.
</a:t>
            </a:r>
            <a:pPr indent="0" marL="0">
              <a:buNone/>
            </a:pPr>
            <a:r>
              <a:rPr lang="en-US" sz="15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Khmer and other scripts, tokenisation behaves differently and can use many more tokens per word.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45720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rough rule of thumb for English: ~4 characters ≈ 1 token — but never assume; measure.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WHY CARE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Tokens Matter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1554480"/>
          </a:xfrm>
          <a:prstGeom prst="roundRect">
            <a:avLst>
              <a:gd name="adj" fmla="val 5882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331720"/>
            <a:ext cx="548640" cy="548640"/>
          </a:xfrm>
          <a:prstGeom prst="oval">
            <a:avLst/>
          </a:prstGeom>
          <a:solidFill>
            <a:srgbClr val="F2A65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2103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limits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645920" y="26060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fits in one request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257800" cy="1554480"/>
          </a:xfrm>
          <a:prstGeom prst="roundRect">
            <a:avLst>
              <a:gd name="adj" fmla="val 5882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2331720"/>
            <a:ext cx="548640" cy="548640"/>
          </a:xfrm>
          <a:prstGeom prst="oval">
            <a:avLst/>
          </a:prstGeom>
          <a:solidFill>
            <a:srgbClr val="F2A65A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78040" y="2103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 length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178040" y="26060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the reply can be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611880"/>
            <a:ext cx="5257800" cy="1554480"/>
          </a:xfrm>
          <a:prstGeom prst="roundRect">
            <a:avLst>
              <a:gd name="adj" fmla="val 5882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114800"/>
            <a:ext cx="548640" cy="548640"/>
          </a:xfrm>
          <a:prstGeom prst="oval">
            <a:avLst/>
          </a:prstGeom>
          <a:solidFill>
            <a:srgbClr val="F2A65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38862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645920" y="43891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pay per token, in and out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3611880"/>
            <a:ext cx="5257800" cy="1554480"/>
          </a:xfrm>
          <a:prstGeom prst="roundRect">
            <a:avLst>
              <a:gd name="adj" fmla="val 5882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4114800"/>
            <a:ext cx="548640" cy="548640"/>
          </a:xfrm>
          <a:prstGeom prst="oval">
            <a:avLst/>
          </a:prstGeom>
          <a:solidFill>
            <a:srgbClr val="F2A65A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78040" y="38862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Latency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178040" y="43891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tokens, more waiting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management is an engineering concern.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96596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96596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286000" y="21488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Output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331720" y="3108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response as structured, untrusted data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REACHING INTO THE REPLY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Inspect the Response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0B2545"/>
          </a:solidFill>
          <a:ln w="12700">
            <a:solidFill>
              <a:srgbClr val="13407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622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883664"/>
            <a:ext cx="499262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DA9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not just: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print(response)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DA9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reach in: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print(response.choices[0]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.message.content)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09360" y="173736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0B2545"/>
          </a:solidFill>
          <a:ln w="12700">
            <a:solidFill>
              <a:srgbClr val="13407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622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10528" y="1883664"/>
            <a:ext cx="4855464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├── choices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    └── message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         ├── role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         └── content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└── usage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├── prompt_tokens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├── completion_tokens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└── total_tokens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48056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response is a structured object — know its shape.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THE ENGINEERING ANGLE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Structured Responses Matter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we assume the response always contains exactly what we expect?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3429000" cy="91440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15875">
            <a:solidFill>
              <a:srgbClr val="C056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46888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/ empty values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343400" y="2468880"/>
            <a:ext cx="3429000" cy="91440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15875">
            <a:solidFill>
              <a:srgbClr val="C056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43400" y="246888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output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046720" y="2468880"/>
            <a:ext cx="3429000" cy="91440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15875">
            <a:solidFill>
              <a:srgbClr val="C056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246888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changes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3611880"/>
            <a:ext cx="3429000" cy="91440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15875">
            <a:solidFill>
              <a:srgbClr val="C056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61188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malformed responses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4343400" y="3611880"/>
            <a:ext cx="3429000" cy="91440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15875">
            <a:solidFill>
              <a:srgbClr val="C056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3400" y="361188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failures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4343400" y="4892040"/>
            <a:ext cx="7223760" cy="960120"/>
          </a:xfrm>
          <a:prstGeom prst="roundRect">
            <a:avLst>
              <a:gd name="adj" fmla="val 7619"/>
            </a:avLst>
          </a:prstGeom>
          <a:solidFill>
            <a:srgbClr val="0B2545"/>
          </a:solidFill>
          <a:ln/>
        </p:spPr>
      </p:sp>
      <p:sp>
        <p:nvSpPr>
          <p:cNvPr id="16" name="Text 14"/>
          <p:cNvSpPr/>
          <p:nvPr/>
        </p:nvSpPr>
        <p:spPr>
          <a:xfrm>
            <a:off x="4343400" y="4892040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becomes a real bug in Session 2.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017520" cy="502920"/>
          </a:xfrm>
          <a:prstGeom prst="roundRect">
            <a:avLst>
              <a:gd name="adj" fmla="val 49091"/>
            </a:avLst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the Output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943600" cy="3566160"/>
          </a:xfrm>
          <a:prstGeom prst="roundRect">
            <a:avLst>
              <a:gd name="adj" fmla="val 2051"/>
            </a:avLst>
          </a:prstGeom>
          <a:solidFill>
            <a:srgbClr val="0B2545"/>
          </a:solidFill>
          <a:ln w="12700">
            <a:solidFill>
              <a:srgbClr val="13407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622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975104"/>
            <a:ext cx="55412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 = [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{"role": "system",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"content":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"You are a strict programming tutor.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Answer in exactly two sentences."},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{"role": "user",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"content": "What is recursion?"}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720840" y="1874520"/>
            <a:ext cx="457200" cy="457200"/>
          </a:xfrm>
          <a:prstGeom prst="oval">
            <a:avLst/>
          </a:prstGeom>
          <a:solidFill>
            <a:srgbClr val="F2A65A"/>
          </a:solidFill>
          <a:ln/>
        </p:spPr>
      </p:sp>
      <p:sp>
        <p:nvSpPr>
          <p:cNvPr id="8" name="Text 6"/>
          <p:cNvSpPr/>
          <p:nvPr/>
        </p:nvSpPr>
        <p:spPr>
          <a:xfrm>
            <a:off x="67208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0" y="18288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the assistant probably do?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720840" y="2743200"/>
            <a:ext cx="457200" cy="457200"/>
          </a:xfrm>
          <a:prstGeom prst="oval">
            <a:avLst/>
          </a:prstGeom>
          <a:solidFill>
            <a:srgbClr val="F2A65A"/>
          </a:solidFill>
          <a:ln/>
        </p:spPr>
      </p:sp>
      <p:sp>
        <p:nvSpPr>
          <p:cNvPr id="11" name="Text 9"/>
          <p:cNvSpPr/>
          <p:nvPr/>
        </p:nvSpPr>
        <p:spPr>
          <a:xfrm>
            <a:off x="67208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0" y="269748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the user asks for 10 sentences?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720840" y="3611880"/>
            <a:ext cx="457200" cy="457200"/>
          </a:xfrm>
          <a:prstGeom prst="oval">
            <a:avLst/>
          </a:prstGeom>
          <a:solidFill>
            <a:srgbClr val="F2A65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0" y="356616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instruction should influence behaviour?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720840" y="4480560"/>
            <a:ext cx="457200" cy="457200"/>
          </a:xfrm>
          <a:prstGeom prst="oval">
            <a:avLst/>
          </a:prstGeom>
          <a:solidFill>
            <a:srgbClr val="F2A65A"/>
          </a:solidFill>
          <a:ln/>
        </p:spPr>
      </p:sp>
      <p:sp>
        <p:nvSpPr>
          <p:cNvPr id="17" name="Text 15"/>
          <p:cNvSpPr/>
          <p:nvPr/>
        </p:nvSpPr>
        <p:spPr>
          <a:xfrm>
            <a:off x="672084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0" y="44348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result guaranteed?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groups · 8 minutes · then compare predictions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96596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96596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286000" y="21488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Design as Software Design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331720" y="3108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defines a component's behaviour — not a question you ask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REFRAME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Prompt Is Not Just a Question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19050">
            <a:solidFill>
              <a:srgbClr val="C056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05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framing
</a:t>
            </a:r>
            <a:pPr indent="0" marL="0">
              <a:buNone/>
            </a:pPr>
            <a:r>
              <a:rPr lang="en-US" sz="1550" i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"Prompt the AI."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309360" y="1783080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19050">
            <a:solidFill>
              <a:srgbClr val="2C9C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7830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C9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framing
</a:t>
            </a:r>
            <a:pPr indent="0" marL="0">
              <a:buNone/>
            </a:pPr>
            <a:r>
              <a:rPr lang="en-US" sz="1550" i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behaviour of an AI component.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3383280"/>
            <a:ext cx="1920240" cy="960120"/>
          </a:xfrm>
          <a:prstGeom prst="roundRect">
            <a:avLst>
              <a:gd name="adj" fmla="val 5714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383280"/>
            <a:ext cx="192024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60320" y="3383280"/>
            <a:ext cx="320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880360" y="3383280"/>
            <a:ext cx="1920240" cy="960120"/>
          </a:xfrm>
          <a:prstGeom prst="roundRect">
            <a:avLst>
              <a:gd name="adj" fmla="val 5714"/>
            </a:avLst>
          </a:prstGeom>
          <a:solidFill>
            <a:srgbClr val="0B2545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0360" y="3383280"/>
            <a:ext cx="192024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3383280"/>
            <a:ext cx="320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120640" y="3383280"/>
            <a:ext cx="1920240" cy="960120"/>
          </a:xfrm>
          <a:prstGeom prst="roundRect">
            <a:avLst>
              <a:gd name="adj" fmla="val 5714"/>
            </a:avLst>
          </a:prstGeom>
          <a:solidFill>
            <a:srgbClr val="F2A65A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3383280"/>
            <a:ext cx="192024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040880" y="3383280"/>
            <a:ext cx="320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360920" y="3383280"/>
            <a:ext cx="1920240" cy="960120"/>
          </a:xfrm>
          <a:prstGeom prst="roundRect">
            <a:avLst>
              <a:gd name="adj" fmla="val 5714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60920" y="3383280"/>
            <a:ext cx="192024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281160" y="3383280"/>
            <a:ext cx="320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601200" y="3383280"/>
            <a:ext cx="1920240" cy="960120"/>
          </a:xfrm>
          <a:prstGeom prst="roundRect">
            <a:avLst>
              <a:gd name="adj" fmla="val 5714"/>
            </a:avLst>
          </a:prstGeom>
          <a:solidFill>
            <a:srgbClr val="0B2545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0" y="3383280"/>
            <a:ext cx="192024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4892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is source code for behaviour — versioned, tested, owned.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ENCAPSULATION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as an Interface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0B2545"/>
          </a:solidFill>
          <a:ln w="12700">
            <a:solidFill>
              <a:srgbClr val="13407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622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2066544"/>
            <a:ext cx="453542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summarize(text) -&gt; str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interface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132320" y="173736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0B2545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7373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summarize( 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32320" y="224028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32320" y="2404872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0" y="240487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prompt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32320" y="290779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132320" y="3072384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F2A65A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0" y="307238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LLM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132320" y="357530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132320" y="3739896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0" y="373989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output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132320" y="424281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132320" y="4407408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0B2545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0" y="440740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result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132320" y="5532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implementation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365760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Callers see a function. The LLM call is an implementation detail behind it.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A Text Classifier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Requirement:  classify customer feedback as positive / neutral / negative.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of...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5120640" cy="1005840"/>
          </a:xfrm>
          <a:prstGeom prst="roundRect">
            <a:avLst>
              <a:gd name="adj" fmla="val 7273"/>
            </a:avLst>
          </a:prstGeom>
          <a:solidFill>
            <a:srgbClr val="0B2545"/>
          </a:solidFill>
          <a:ln w="12700">
            <a:solidFill>
              <a:srgbClr val="13407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622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2660904"/>
            <a:ext cx="4718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do you think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about this?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0" y="21488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9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...design the behaviour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2514600"/>
            <a:ext cx="5166360" cy="3108960"/>
          </a:xfrm>
          <a:prstGeom prst="roundRect">
            <a:avLst>
              <a:gd name="adj" fmla="val 2353"/>
            </a:avLst>
          </a:prstGeom>
          <a:solidFill>
            <a:srgbClr val="0B2545"/>
          </a:solidFill>
          <a:ln w="12700">
            <a:solidFill>
              <a:srgbClr val="13407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622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01968" y="2660904"/>
            <a:ext cx="476402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Classify the following customer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feedback. Return exactly one label: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positive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neutral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negative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Feedback: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{feedback}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84048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 — a designed prompt turns it into a reliable component.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CONSTRAIN THE OUTPUT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Output Constraints Matter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3566160"/>
          </a:xfrm>
          <a:prstGeom prst="roundRect">
            <a:avLst>
              <a:gd name="adj" fmla="val 2564"/>
            </a:avLst>
          </a:prstGeom>
          <a:solidFill>
            <a:srgbClr val="F7F9FB"/>
          </a:solidFill>
          <a:ln w="19050">
            <a:solidFill>
              <a:srgbClr val="C056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65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"Is this feedback positive?"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output: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05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"Yes, I think the customer appears to be happy because they mention..."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0" y="1783080"/>
            <a:ext cx="5257800" cy="3566160"/>
          </a:xfrm>
          <a:prstGeom prst="roundRect">
            <a:avLst>
              <a:gd name="adj" fmla="val 2564"/>
            </a:avLst>
          </a:prstGeom>
          <a:solidFill>
            <a:srgbClr val="F7F9FB"/>
          </a:solidFill>
          <a:ln w="19050">
            <a:solidFill>
              <a:srgbClr val="2C9C7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96596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exactly: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positive / neutral / negative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37960" y="27432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output: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37960" y="31546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9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positive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Machine-parseable output → leads into structured outputs later in the course.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017520" cy="502920"/>
          </a:xfrm>
          <a:prstGeom prst="roundRect">
            <a:avLst>
              <a:gd name="adj" fmla="val 49091"/>
            </a:avLst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the Prompt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13407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8483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a student's programming error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72200" y="192024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13407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208483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25146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three test cases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134074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50215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39319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an error message to a beginner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72200" y="333756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13407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350215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39319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 requirement into user stories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group presents:  Input  ·  Instructions  ·  Expected output  ·  Constraints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minutes to design · 2 minutes each to present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96596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96596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286000" y="21488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Keys &amp; Security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331720" y="3108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key is a credential — treat it like a password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· HANDLING SECRETS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Keys — Never in Source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7F9FB"/>
          </a:solidFill>
          <a:ln w="19050">
            <a:solidFill>
              <a:srgbClr val="C056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api_key = "sk-..."   # committed to Git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0" y="1554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9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635240" y="192024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F2A65A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35240" y="1920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635240" y="24231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35240" y="260604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35240" y="2606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35240" y="31089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35240" y="329184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0B2545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5240" y="3291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client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38328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0B2545"/>
          </a:solidFill>
          <a:ln w="12700">
            <a:solidFill>
              <a:srgbClr val="13407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622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248" y="3529584"/>
            <a:ext cx="4855464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8DA9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shell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OPENAI_API_KEY="..."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8DA9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python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openai import OpenAI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OpenAI()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0080" y="548640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never touches your source tree.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· DISCUSSION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Scenario: The Leaked Key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393192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commits code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295144"/>
            <a:ext cx="3931920" cy="45720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29514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Pushed to GitHub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75234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2898648"/>
            <a:ext cx="3931920" cy="457200"/>
          </a:xfrm>
          <a:prstGeom prst="roundRect">
            <a:avLst>
              <a:gd name="adj" fmla="val 12000"/>
            </a:avLst>
          </a:prstGeom>
          <a:solidFill>
            <a:srgbClr val="F2A65A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8986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exposed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3355848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3502152"/>
            <a:ext cx="393192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5021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uses the key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395935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4105656"/>
            <a:ext cx="3931920" cy="45720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10565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API bill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394960" y="1691640"/>
            <a:ext cx="6172200" cy="3657600"/>
          </a:xfrm>
          <a:prstGeom prst="roundRect">
            <a:avLst>
              <a:gd name="adj" fmla="val 2500"/>
            </a:avLst>
          </a:prstGeom>
          <a:solidFill>
            <a:srgbClr val="EEF2F6"/>
          </a:solidFill>
          <a:ln w="19050">
            <a:solidFill>
              <a:srgbClr val="F2A6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23560" y="1965960"/>
            <a:ext cx="438912" cy="438912"/>
          </a:xfrm>
          <a:prstGeom prst="oval">
            <a:avLst/>
          </a:prstGeom>
          <a:solidFill>
            <a:srgbClr val="0B2545"/>
          </a:solidFill>
          <a:ln/>
        </p:spPr>
      </p:sp>
      <p:sp>
        <p:nvSpPr>
          <p:cNvPr id="20" name="Text 18"/>
          <p:cNvSpPr/>
          <p:nvPr/>
        </p:nvSpPr>
        <p:spPr>
          <a:xfrm>
            <a:off x="5623560" y="1965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72200" y="19202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wrong?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5623560" y="2743200"/>
            <a:ext cx="438912" cy="438912"/>
          </a:xfrm>
          <a:prstGeom prst="oval">
            <a:avLst/>
          </a:prstGeom>
          <a:solidFill>
            <a:srgbClr val="0B2545"/>
          </a:solidFill>
          <a:ln/>
        </p:spPr>
      </p:sp>
      <p:sp>
        <p:nvSpPr>
          <p:cNvPr id="23" name="Text 21"/>
          <p:cNvSpPr/>
          <p:nvPr/>
        </p:nvSpPr>
        <p:spPr>
          <a:xfrm>
            <a:off x="562356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72200" y="26974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could this have been prevented?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5623560" y="3520440"/>
            <a:ext cx="438912" cy="438912"/>
          </a:xfrm>
          <a:prstGeom prst="oval">
            <a:avLst/>
          </a:prstGeom>
          <a:solidFill>
            <a:srgbClr val="0B2545"/>
          </a:solidFill>
          <a:ln/>
        </p:spPr>
      </p:sp>
      <p:sp>
        <p:nvSpPr>
          <p:cNvPr id="26" name="Text 24"/>
          <p:cNvSpPr/>
          <p:nvPr/>
        </p:nvSpPr>
        <p:spPr>
          <a:xfrm>
            <a:off x="5623560" y="3520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72200" y="34747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happen after the key is exposed?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5623560" y="4297680"/>
            <a:ext cx="438912" cy="438912"/>
          </a:xfrm>
          <a:prstGeom prst="oval">
            <a:avLst/>
          </a:prstGeom>
          <a:solidFill>
            <a:srgbClr val="0B2545"/>
          </a:solidFill>
          <a:ln/>
        </p:spPr>
      </p:sp>
      <p:sp>
        <p:nvSpPr>
          <p:cNvPr id="29" name="Text 27"/>
          <p:cNvSpPr/>
          <p:nvPr/>
        </p:nvSpPr>
        <p:spPr>
          <a:xfrm>
            <a:off x="5623560" y="4297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172200" y="425196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deleting the commit enough?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 API key a password?  →  Treat it as a secret credential: rotate immediately once exposed.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· THE MENTAL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Picture to Remember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251960" y="1554480"/>
            <a:ext cx="3657600" cy="548640"/>
          </a:xfrm>
          <a:prstGeom prst="roundRect">
            <a:avLst>
              <a:gd name="adj" fmla="val 13333"/>
            </a:avLst>
          </a:prstGeom>
          <a:solidFill>
            <a:srgbClr val="F2A65A"/>
          </a:solidFill>
          <a:ln/>
        </p:spPr>
      </p:sp>
      <p:sp>
        <p:nvSpPr>
          <p:cNvPr id="5" name="Text 3"/>
          <p:cNvSpPr/>
          <p:nvPr/>
        </p:nvSpPr>
        <p:spPr>
          <a:xfrm>
            <a:off x="4251960" y="1554480"/>
            <a:ext cx="36576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Application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51960" y="2148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conversation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51960" y="2514600"/>
            <a:ext cx="3657600" cy="548640"/>
          </a:xfrm>
          <a:prstGeom prst="roundRect">
            <a:avLst>
              <a:gd name="adj" fmla="val 13333"/>
            </a:avLst>
          </a:prstGeom>
          <a:solidFill>
            <a:srgbClr val="134074"/>
          </a:solidFill>
          <a:ln/>
        </p:spPr>
      </p:sp>
      <p:sp>
        <p:nvSpPr>
          <p:cNvPr id="8" name="Text 6"/>
          <p:cNvSpPr/>
          <p:nvPr/>
        </p:nvSpPr>
        <p:spPr>
          <a:xfrm>
            <a:off x="4251960" y="2514600"/>
            <a:ext cx="36576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 Request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554480" y="338328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F7F9FB"/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3383280"/>
            <a:ext cx="27432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09160" y="338328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F7F9FB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3383280"/>
            <a:ext cx="27432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863840" y="338328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F7F9FB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0" y="3383280"/>
            <a:ext cx="27432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5196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09160" y="429768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F2A65A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4297680"/>
            <a:ext cx="27432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09160" y="4892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09160" y="521208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134074"/>
          </a:solidFill>
          <a:ln/>
        </p:spPr>
      </p:sp>
      <p:sp>
        <p:nvSpPr>
          <p:cNvPr id="20" name="Text 18"/>
          <p:cNvSpPr/>
          <p:nvPr/>
        </p:nvSpPr>
        <p:spPr>
          <a:xfrm>
            <a:off x="4709160" y="5212080"/>
            <a:ext cx="27432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251960" y="594360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F7F9FB"/>
          </a:solidFill>
          <a:ln/>
        </p:spPr>
      </p:sp>
      <p:sp>
        <p:nvSpPr>
          <p:cNvPr id="22" name="Text 20"/>
          <p:cNvSpPr/>
          <p:nvPr/>
        </p:nvSpPr>
        <p:spPr>
          <a:xfrm>
            <a:off x="4251960" y="5943600"/>
            <a:ext cx="36576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logic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· SESSION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896112"/>
          </a:xfrm>
          <a:prstGeom prst="roundRect">
            <a:avLst>
              <a:gd name="adj" fmla="val 8163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911096"/>
            <a:ext cx="457200" cy="457200"/>
          </a:xfrm>
          <a:prstGeom prst="oval">
            <a:avLst/>
          </a:prstGeom>
          <a:solidFill>
            <a:srgbClr val="F2A65A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691640"/>
            <a:ext cx="4297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API is an external software service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257800" cy="896112"/>
          </a:xfrm>
          <a:prstGeom prst="roundRect">
            <a:avLst>
              <a:gd name="adj" fmla="val 8163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73368" y="1911096"/>
            <a:ext cx="457200" cy="457200"/>
          </a:xfrm>
          <a:prstGeom prst="oval">
            <a:avLst/>
          </a:prstGeom>
          <a:solidFill>
            <a:srgbClr val="F2A65A"/>
          </a:solidFill>
          <a:ln/>
        </p:spPr>
      </p:sp>
      <p:sp>
        <p:nvSpPr>
          <p:cNvPr id="10" name="Text 8"/>
          <p:cNvSpPr/>
          <p:nvPr/>
        </p:nvSpPr>
        <p:spPr>
          <a:xfrm>
            <a:off x="6373368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995160" y="1691640"/>
            <a:ext cx="4297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 are represented as messages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770632"/>
            <a:ext cx="5257800" cy="896112"/>
          </a:xfrm>
          <a:prstGeom prst="roundRect">
            <a:avLst>
              <a:gd name="adj" fmla="val 8163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2990088"/>
            <a:ext cx="457200" cy="457200"/>
          </a:xfrm>
          <a:prstGeom prst="oval">
            <a:avLst/>
          </a:prstGeom>
          <a:solidFill>
            <a:srgbClr val="F2A65A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2770632"/>
            <a:ext cx="4297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/ user / assistant play different roles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2200" y="2770632"/>
            <a:ext cx="5257800" cy="896112"/>
          </a:xfrm>
          <a:prstGeom prst="roundRect">
            <a:avLst>
              <a:gd name="adj" fmla="val 8163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73368" y="2990088"/>
            <a:ext cx="457200" cy="457200"/>
          </a:xfrm>
          <a:prstGeom prst="oval">
            <a:avLst/>
          </a:prstGeom>
          <a:solidFill>
            <a:srgbClr val="F2A65A"/>
          </a:solidFill>
          <a:ln/>
        </p:spPr>
      </p:sp>
      <p:sp>
        <p:nvSpPr>
          <p:cNvPr id="18" name="Text 16"/>
          <p:cNvSpPr/>
          <p:nvPr/>
        </p:nvSpPr>
        <p:spPr>
          <a:xfrm>
            <a:off x="6373368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95160" y="2770632"/>
            <a:ext cx="4297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application manages conversation history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3849624"/>
            <a:ext cx="5257800" cy="896112"/>
          </a:xfrm>
          <a:prstGeom prst="roundRect">
            <a:avLst>
              <a:gd name="adj" fmla="val 8163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" y="4069080"/>
            <a:ext cx="457200" cy="457200"/>
          </a:xfrm>
          <a:prstGeom prst="oval">
            <a:avLst/>
          </a:prstGeom>
          <a:solidFill>
            <a:srgbClr val="F2A65A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63040" y="3849624"/>
            <a:ext cx="4297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influence generation behaviour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72200" y="3849624"/>
            <a:ext cx="5257800" cy="896112"/>
          </a:xfrm>
          <a:prstGeom prst="roundRect">
            <a:avLst>
              <a:gd name="adj" fmla="val 8163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73368" y="4069080"/>
            <a:ext cx="457200" cy="457200"/>
          </a:xfrm>
          <a:prstGeom prst="oval">
            <a:avLst/>
          </a:prstGeom>
          <a:solidFill>
            <a:srgbClr val="F2A65A"/>
          </a:solidFill>
          <a:ln/>
        </p:spPr>
      </p:sp>
      <p:sp>
        <p:nvSpPr>
          <p:cNvPr id="26" name="Text 24"/>
          <p:cNvSpPr/>
          <p:nvPr/>
        </p:nvSpPr>
        <p:spPr>
          <a:xfrm>
            <a:off x="6373368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95160" y="3849624"/>
            <a:ext cx="4297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affect cost, context, and output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" y="4928616"/>
            <a:ext cx="5257800" cy="896112"/>
          </a:xfrm>
          <a:prstGeom prst="roundRect">
            <a:avLst>
              <a:gd name="adj" fmla="val 8163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1248" y="5148072"/>
            <a:ext cx="457200" cy="457200"/>
          </a:xfrm>
          <a:prstGeom prst="oval">
            <a:avLst/>
          </a:prstGeom>
          <a:solidFill>
            <a:srgbClr val="F2A65A"/>
          </a:solidFill>
          <a:ln/>
        </p:spPr>
      </p:sp>
      <p:sp>
        <p:nvSpPr>
          <p:cNvPr id="30" name="Text 28"/>
          <p:cNvSpPr/>
          <p:nvPr/>
        </p:nvSpPr>
        <p:spPr>
          <a:xfrm>
            <a:off x="841248" y="5148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463040" y="4928616"/>
            <a:ext cx="4297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are part of application design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172200" y="4928616"/>
            <a:ext cx="5257800" cy="896112"/>
          </a:xfrm>
          <a:prstGeom prst="roundRect">
            <a:avLst>
              <a:gd name="adj" fmla="val 8163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73368" y="5148072"/>
            <a:ext cx="457200" cy="457200"/>
          </a:xfrm>
          <a:prstGeom prst="oval">
            <a:avLst/>
          </a:prstGeom>
          <a:solidFill>
            <a:srgbClr val="F2A65A"/>
          </a:solidFill>
          <a:ln/>
        </p:spPr>
      </p:sp>
      <p:sp>
        <p:nvSpPr>
          <p:cNvPr id="34" name="Text 32"/>
          <p:cNvSpPr/>
          <p:nvPr/>
        </p:nvSpPr>
        <p:spPr>
          <a:xfrm>
            <a:off x="6373368" y="5148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995160" y="4928616"/>
            <a:ext cx="4297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credentials must be protected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206240" cy="502920"/>
          </a:xfrm>
          <a:prstGeom prst="roundRect">
            <a:avLst>
              <a:gd name="adj" fmla="val 49091"/>
            </a:avLst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ASSIGNMENT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an AI Feature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each of the following for one AI feature in a software application: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6583680" cy="3657600"/>
          </a:xfrm>
          <a:prstGeom prst="roundRect">
            <a:avLst>
              <a:gd name="adj" fmla="val 2000"/>
            </a:avLst>
          </a:prstGeom>
          <a:solidFill>
            <a:srgbClr val="0B2545"/>
          </a:solidFill>
          <a:ln w="12700">
            <a:solidFill>
              <a:srgbClr val="13407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622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" y="2432304"/>
            <a:ext cx="6181344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Feature:</a:t>
            </a:r>
            <a:endParaRPr lang="en-US" sz="15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</a:t>
            </a:r>
            <a:endParaRPr lang="en-US" sz="15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instruction:</a:t>
            </a:r>
            <a:endParaRPr lang="en-US" sz="15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input:</a:t>
            </a:r>
            <a:endParaRPr lang="en-US" sz="15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Expected output:</a:t>
            </a:r>
            <a:endParaRPr lang="en-US" sz="15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 strategy:</a:t>
            </a:r>
            <a:endParaRPr lang="en-US" sz="15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Maximum output length:</a:t>
            </a:r>
            <a:endParaRPr lang="en-US" sz="15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Potential failure: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452360" y="2286000"/>
            <a:ext cx="4114800" cy="3657600"/>
          </a:xfrm>
          <a:prstGeom prst="roundRect">
            <a:avLst>
              <a:gd name="adj" fmla="val 2500"/>
            </a:avLst>
          </a:prstGeom>
          <a:solidFill>
            <a:srgbClr val="134074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51460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
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your preparation for </a:t>
            </a:r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where you build a configurable text assistant from exactly these decisions.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Session 1 — Chat Completions API</dc:subject>
  <dc:creator>CamTech — Practical AI for Software Engineering</dc:creator>
  <cp:lastModifiedBy>CamTech — Practical AI for Software Engineering</cp:lastModifiedBy>
  <cp:revision>1</cp:revision>
  <dcterms:created xsi:type="dcterms:W3CDTF">2026-08-04T15:47:19Z</dcterms:created>
  <dcterms:modified xsi:type="dcterms:W3CDTF">2026-08-04T15:47:19Z</dcterms:modified>
</cp:coreProperties>
</file>