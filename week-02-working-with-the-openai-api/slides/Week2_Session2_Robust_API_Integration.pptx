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Deliberate mindset change today: the model is an unreliable external service, and our software has to survive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session lives in the NO branch: detect, classify, retry or fail gracefully.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Sorting failures into 'our bug' vs 'their outage' decides whether we fix code or add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two-line happy path is where most integration bugs hide. Make failure a first-class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Bare except is a smell — it silences programming errors alongside genuine service failures.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mapping IS the reliability logic. Retryable vs terminal is the first question for every error.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Rate limits are normal, expected, and per-account. A 429 is not a crash — it is a 'slow down'.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Firing again instantly makes it worse. The response to a limit is to wait, not to hammer.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key=no, rate limit=yes(backoff), server=yes, empty input=no(fix), context too large=no(trim), timeout=maybe.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tight retry loop is a stampede. It also blindly retries terminal errors. Two faults in six lines.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Double the wait each attempt; add randomness so clients don't synchronise. This is the industry-standard pattern.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Terminal errors need a fix or a graceful failure, never a retry. Retrying a bad key just delays the inevitable.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directions cost. Long prompts are as expensive as long answers — often more, since history repeats.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usage is your meter. Log it per request; you cannot manage what you don't measure.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memorise prices — they move. Understand that input and output are metered separately.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fraction of a cent times millions of calls is a budget. Cost control is a design requirement, not an afterthought.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Naive chat resends the whole transcript each turn — cost grows with the square of the conversation.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Trimming and summarising are the entry point to RAG. Foreshadow it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total time, different experience. Streaming shows progress; the user isn't staring at a blank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Benefits are all UX. Be explicit that the model isn't faster — perceived latency drops, not real latency.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Streaming isn't a flag you flip — it changes how you read the response, from one object to a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Partial output complicates retries — you can't just re-run and duplicate half an answer. Make them wrestle with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 the whole path once. This flow is exactly what the Lab 2 wrapper implements.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wrapper is the single most valuable SE lesson of the week: centralise the messy parts behind one function.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 a retry bug once, not four times. This is why we refactor Lab 1 into a service in Lab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discussion IS the Lab 2 design doc. Capture their answers — they'll implement them in the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identity shift. Eight non-functional concerns are the difference between a demo and a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AI FOR SOFTWARE ENGINEERING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Reliable LLM Integrations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658368" y="3108960"/>
            <a:ext cx="4480560" cy="640080"/>
          </a:xfrm>
          <a:prstGeom prst="roundRect">
            <a:avLst>
              <a:gd name="adj" fmla="val 11429"/>
            </a:avLst>
          </a:prstGeom>
          <a:solidFill>
            <a:srgbClr val="134074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310896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·  SESSION 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349240" y="310896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8DA9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Robust API Integration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58368" y="4206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"I called an LLM"  →  "I integrated a probabilistic external service"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58368" y="6080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 Software Engineering  ·  CamTech University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Yesterday vs. Today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4206240" cy="548640"/>
          </a:xfrm>
          <a:prstGeom prst="roundRect">
            <a:avLst>
              <a:gd name="adj" fmla="val 10000"/>
            </a:avLst>
          </a:prstGeom>
          <a:solidFill>
            <a:srgbClr val="F7F9FB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0574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call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880360"/>
            <a:ext cx="4206240" cy="548640"/>
          </a:xfrm>
          <a:prstGeom prst="roundRect">
            <a:avLst>
              <a:gd name="adj" fmla="val 10000"/>
            </a:avLst>
          </a:prstGeom>
          <a:solidFill>
            <a:srgbClr val="F7F9FB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8803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34290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3703320"/>
            <a:ext cx="4206240" cy="548640"/>
          </a:xfrm>
          <a:prstGeom prst="roundRect">
            <a:avLst>
              <a:gd name="adj" fmla="val 10000"/>
            </a:avLst>
          </a:prstGeom>
          <a:solidFill>
            <a:srgbClr val="0B2545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7033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response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760720" y="164592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760720" y="2057400"/>
            <a:ext cx="5760720" cy="502920"/>
          </a:xfrm>
          <a:prstGeom prst="roundRect">
            <a:avLst>
              <a:gd name="adj" fmla="val 10909"/>
            </a:avLst>
          </a:prstGeom>
          <a:solidFill>
            <a:srgbClr val="0B2545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0" y="205740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call — success?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760720" y="2834640"/>
            <a:ext cx="2743200" cy="502920"/>
          </a:xfrm>
          <a:prstGeom prst="roundRect">
            <a:avLst>
              <a:gd name="adj" fmla="val 10909"/>
            </a:avLst>
          </a:prstGeom>
          <a:solidFill>
            <a:srgbClr val="2C9C7E"/>
          </a:solidFill>
          <a:ln/>
        </p:spPr>
      </p:sp>
      <p:sp>
        <p:nvSpPr>
          <p:cNvPr id="17" name="Text 15"/>
          <p:cNvSpPr/>
          <p:nvPr/>
        </p:nvSpPr>
        <p:spPr>
          <a:xfrm>
            <a:off x="5760720" y="28346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778240" y="2834640"/>
            <a:ext cx="2743200" cy="502920"/>
          </a:xfrm>
          <a:prstGeom prst="roundRect">
            <a:avLst>
              <a:gd name="adj" fmla="val 10909"/>
            </a:avLst>
          </a:prstGeom>
          <a:solidFill>
            <a:srgbClr val="C0563B"/>
          </a:solidFill>
          <a:ln/>
        </p:spPr>
      </p:sp>
      <p:sp>
        <p:nvSpPr>
          <p:cNvPr id="19" name="Text 17"/>
          <p:cNvSpPr/>
          <p:nvPr/>
        </p:nvSpPr>
        <p:spPr>
          <a:xfrm>
            <a:off x="8778240" y="28346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760720" y="3566160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0" y="3566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760720" y="4023360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760720" y="4169664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60720" y="416966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result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778240" y="3566160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78240" y="3566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error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778240" y="4023360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778240" y="4169664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78240" y="416966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Retry?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778240" y="4626864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778240" y="4773168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78240" y="47731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gracefully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AI for SE  ·  Week 2  ·  Session 2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965960"/>
            <a:ext cx="1417320" cy="1417320"/>
          </a:xfrm>
          <a:prstGeom prst="roundRect">
            <a:avLst>
              <a:gd name="adj" fmla="val 6452"/>
            </a:avLst>
          </a:prstGeom>
          <a:solidFill>
            <a:srgbClr val="F2A6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96596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2286000" y="21488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 Services Fail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331720" y="31546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for the failure, not just the happy path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AI for SE  ·  Week 2  ·  Session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REALITY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Can Go Wrong?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EEF2F6"/>
          </a:solidFill>
          <a:ln w="13970">
            <a:solidFill>
              <a:srgbClr val="C056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37360"/>
            <a:ext cx="196596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API key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852928" y="1737360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EEF2F6"/>
          </a:solidFill>
          <a:ln w="13970">
            <a:solidFill>
              <a:srgbClr val="C056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98648" y="1737360"/>
            <a:ext cx="196596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API key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65776" y="1737360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EEF2F6"/>
          </a:solidFill>
          <a:ln w="13970">
            <a:solidFill>
              <a:srgbClr val="C056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11496" y="1737360"/>
            <a:ext cx="196596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failure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278624" y="1737360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EEF2F6"/>
          </a:solidFill>
          <a:ln w="13970">
            <a:solidFill>
              <a:srgbClr val="C056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24344" y="1737360"/>
            <a:ext cx="196596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491472" y="1737360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EEF2F6"/>
          </a:solidFill>
          <a:ln w="13970">
            <a:solidFill>
              <a:srgbClr val="C056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37192" y="1737360"/>
            <a:ext cx="196596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2697480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EEF2F6"/>
          </a:solidFill>
          <a:ln w="13970">
            <a:solidFill>
              <a:srgbClr val="C056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697480"/>
            <a:ext cx="196596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error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852928" y="2697480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EEF2F6"/>
          </a:solidFill>
          <a:ln w="13970">
            <a:solidFill>
              <a:srgbClr val="C056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98648" y="2697480"/>
            <a:ext cx="196596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request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65776" y="2697480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EEF2F6"/>
          </a:solidFill>
          <a:ln w="13970">
            <a:solidFill>
              <a:srgbClr val="C056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11496" y="2697480"/>
            <a:ext cx="196596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too large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278624" y="2697480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EEF2F6"/>
          </a:solidFill>
          <a:ln w="13970">
            <a:solidFill>
              <a:srgbClr val="C056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24344" y="2697480"/>
            <a:ext cx="196596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unavailable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491472" y="2697480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EEF2F6"/>
          </a:solidFill>
          <a:ln w="13970">
            <a:solidFill>
              <a:srgbClr val="C056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37192" y="2697480"/>
            <a:ext cx="196596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response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3931920"/>
            <a:ext cx="10881360" cy="1737360"/>
          </a:xfrm>
          <a:prstGeom prst="roundRect">
            <a:avLst>
              <a:gd name="adj" fmla="val 5263"/>
            </a:avLst>
          </a:prstGeom>
          <a:solidFill>
            <a:srgbClr val="0B2545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3931920"/>
            <a:ext cx="10332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Discuss: 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these are </a:t>
            </a:r>
            <a:pPr indent="0" marL="0">
              <a:buNone/>
            </a:pPr>
            <a:r>
              <a:rPr lang="en-US" sz="18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in our application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which are </a:t>
            </a:r>
            <a:pPr indent="0" marL="0">
              <a:buNone/>
            </a:pPr>
            <a:r>
              <a:rPr lang="en-US" sz="18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failures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 can only react to?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AI for SE  ·  Week 2  ·  Session 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THE ANTI-PATTERN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Assume Success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Fragile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5486400" cy="1463040"/>
          </a:xfrm>
          <a:prstGeom prst="roundRect">
            <a:avLst>
              <a:gd name="adj" fmla="val 5000"/>
            </a:avLst>
          </a:prstGeom>
          <a:solidFill>
            <a:srgbClr val="0B2545"/>
          </a:solidFill>
          <a:ln w="12700">
            <a:solidFill>
              <a:srgbClr val="134074"/>
            </a:solidFill>
            <a:prstDash val="solid"/>
          </a:ln>
          <a:effectLst>
            <a:outerShdw sx="100000" sy="100000" kx="0" ky="0" algn="bl" rotWithShape="0" blurRad="101600" dist="38100" dir="5400000">
              <a:srgbClr val="0A1622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2157984"/>
            <a:ext cx="508406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= client.chat...create(...)</a:t>
            </a:r>
            <a:endParaRPr lang="en-US" sz="13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print(response</a:t>
            </a:r>
            <a:endParaRPr lang="en-US" sz="13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.choices[0].message.content)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583680" y="16459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9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818120" y="2011680"/>
            <a:ext cx="2743200" cy="502920"/>
          </a:xfrm>
          <a:prstGeom prst="roundRect">
            <a:avLst>
              <a:gd name="adj" fmla="val 10909"/>
            </a:avLst>
          </a:prstGeom>
          <a:solidFill>
            <a:srgbClr val="F7F9FB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18120" y="20116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818120" y="251460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818120" y="2679192"/>
            <a:ext cx="2743200" cy="502920"/>
          </a:xfrm>
          <a:prstGeom prst="roundRect">
            <a:avLst>
              <a:gd name="adj" fmla="val 10909"/>
            </a:avLst>
          </a:prstGeom>
          <a:solidFill>
            <a:srgbClr val="F2A65A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18120" y="26791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818120" y="318211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818120" y="3346704"/>
            <a:ext cx="2743200" cy="502920"/>
          </a:xfrm>
          <a:prstGeom prst="roundRect">
            <a:avLst>
              <a:gd name="adj" fmla="val 10909"/>
            </a:avLst>
          </a:prstGeom>
          <a:solidFill>
            <a:srgbClr val="F7F9FB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18120" y="334670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818120" y="384962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818120" y="4014216"/>
            <a:ext cx="2743200" cy="502920"/>
          </a:xfrm>
          <a:prstGeom prst="roundRect">
            <a:avLst>
              <a:gd name="adj" fmla="val 10909"/>
            </a:avLst>
          </a:prstGeom>
          <a:solidFill>
            <a:srgbClr val="0B2545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18120" y="401421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384048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to an external service is a place your program can fail. Wrap it, check it, then use it.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AI for SE  ·  Week 2  ·  Session 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965960"/>
            <a:ext cx="1417320" cy="1417320"/>
          </a:xfrm>
          <a:prstGeom prst="roundRect">
            <a:avLst>
              <a:gd name="adj" fmla="val 6452"/>
            </a:avLst>
          </a:prstGeom>
          <a:solidFill>
            <a:srgbClr val="F2A6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96596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2286000" y="21488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Exceptions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331720" y="31546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failures — but not all failures the same way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AI for SE  ·  Week 2  ·  Session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FIRST STEP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Exception Handling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858000" cy="2743200"/>
          </a:xfrm>
          <a:prstGeom prst="roundRect">
            <a:avLst>
              <a:gd name="adj" fmla="val 2667"/>
            </a:avLst>
          </a:prstGeom>
          <a:solidFill>
            <a:srgbClr val="0B2545"/>
          </a:solidFill>
          <a:ln w="12700">
            <a:solidFill>
              <a:srgbClr val="134074"/>
            </a:solidFill>
            <a:prstDash val="solid"/>
          </a:ln>
          <a:effectLst>
            <a:outerShdw sx="100000" sy="100000" kx="0" ky="0" algn="bl" rotWithShape="0" blurRad="101600" dist="38100" dir="5400000">
              <a:srgbClr val="0A1622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929384"/>
            <a:ext cx="645566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try:</a:t>
            </a:r>
            <a:endParaRPr lang="en-US" sz="13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response = client.chat.completions.create(</a:t>
            </a:r>
            <a:endParaRPr lang="en-US" sz="13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model="YOUR_MODEL",</a:t>
            </a:r>
            <a:endParaRPr lang="en-US" sz="13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messages=messages,</a:t>
            </a:r>
            <a:endParaRPr lang="en-US" sz="13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13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 Exception as e:</a:t>
            </a:r>
            <a:endParaRPr lang="en-US" sz="13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print(f"API request failed: {e}")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772400" y="1783080"/>
            <a:ext cx="3794760" cy="2743200"/>
          </a:xfrm>
          <a:prstGeom prst="roundRect">
            <a:avLst>
              <a:gd name="adj" fmla="val 3333"/>
            </a:avLst>
          </a:prstGeom>
          <a:solidFill>
            <a:srgbClr val="EEF2F6"/>
          </a:solidFill>
          <a:ln w="19050">
            <a:solidFill>
              <a:srgbClr val="F2A6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01000" y="2011680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start — but...
</a:t>
            </a:r>
            <a:pPr indent="0" marL="0">
              <a:buNone/>
            </a:pPr>
            <a:r>
              <a:rPr lang="en-US" sz="14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catching bare </a:t>
            </a:r>
            <a:pPr indent="0" marL="0">
              <a:buNone/>
            </a:pPr>
            <a:r>
              <a:rPr lang="en-US" sz="1450" b="1" dirty="0">
                <a:solidFill>
                  <a:srgbClr val="D98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Exception</a:t>
            </a:r>
            <a:pPr indent="0" marL="0">
              <a:buNone/>
            </a:pPr>
            <a:r>
              <a:rPr lang="en-US" sz="14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everywhere hides real bugs and treats every failure identically.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AI for SE  ·  Week 2  ·  Session 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THE KEY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 Errors, Different Responses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120640" cy="658368"/>
          </a:xfrm>
          <a:prstGeom prst="roundRect">
            <a:avLst>
              <a:gd name="adj" fmla="val 8333"/>
            </a:avLst>
          </a:prstGeom>
          <a:solidFill>
            <a:srgbClr val="F7F9FB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37360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error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806440" y="173736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355080" y="1737360"/>
            <a:ext cx="5166360" cy="658368"/>
          </a:xfrm>
          <a:prstGeom prst="roundRect">
            <a:avLst>
              <a:gd name="adj" fmla="val 8333"/>
            </a:avLst>
          </a:prstGeom>
          <a:solidFill>
            <a:srgbClr val="C0563B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1737360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retry — fix credentials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2532888"/>
            <a:ext cx="5120640" cy="658368"/>
          </a:xfrm>
          <a:prstGeom prst="roundRect">
            <a:avLst>
              <a:gd name="adj" fmla="val 8333"/>
            </a:avLst>
          </a:prstGeom>
          <a:solidFill>
            <a:srgbClr val="F7F9FB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532888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request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806440" y="2532888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355080" y="2532888"/>
            <a:ext cx="5166360" cy="658368"/>
          </a:xfrm>
          <a:prstGeom prst="roundRect">
            <a:avLst>
              <a:gd name="adj" fmla="val 8333"/>
            </a:avLst>
          </a:prstGeom>
          <a:solidFill>
            <a:srgbClr val="C0563B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2532888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request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3328416"/>
            <a:ext cx="5120640" cy="658368"/>
          </a:xfrm>
          <a:prstGeom prst="roundRect">
            <a:avLst>
              <a:gd name="adj" fmla="val 8333"/>
            </a:avLst>
          </a:prstGeom>
          <a:solidFill>
            <a:srgbClr val="F7F9FB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328416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806440" y="332841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355080" y="3328416"/>
            <a:ext cx="5166360" cy="658368"/>
          </a:xfrm>
          <a:prstGeom prst="roundRect">
            <a:avLst>
              <a:gd name="adj" fmla="val 8333"/>
            </a:avLst>
          </a:prstGeom>
          <a:solidFill>
            <a:srgbClr val="2C9C7E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3328416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+ retry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" y="4123944"/>
            <a:ext cx="5120640" cy="658368"/>
          </a:xfrm>
          <a:prstGeom prst="roundRect">
            <a:avLst>
              <a:gd name="adj" fmla="val 8333"/>
            </a:avLst>
          </a:prstGeom>
          <a:solidFill>
            <a:srgbClr val="F7F9FB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123944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 server error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806440" y="4123944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355080" y="4123944"/>
            <a:ext cx="5166360" cy="658368"/>
          </a:xfrm>
          <a:prstGeom prst="roundRect">
            <a:avLst>
              <a:gd name="adj" fmla="val 8333"/>
            </a:avLst>
          </a:prstGeom>
          <a:solidFill>
            <a:srgbClr val="2C9C7E"/>
          </a:solidFill>
          <a:ln/>
        </p:spPr>
      </p:sp>
      <p:sp>
        <p:nvSpPr>
          <p:cNvPr id="23" name="Text 21"/>
          <p:cNvSpPr/>
          <p:nvPr/>
        </p:nvSpPr>
        <p:spPr>
          <a:xfrm>
            <a:off x="6537960" y="4123944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40080" y="4919472"/>
            <a:ext cx="5120640" cy="658368"/>
          </a:xfrm>
          <a:prstGeom prst="roundRect">
            <a:avLst>
              <a:gd name="adj" fmla="val 8333"/>
            </a:avLst>
          </a:prstGeom>
          <a:solidFill>
            <a:srgbClr val="F7F9FB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4919472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timeout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806440" y="4919472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355080" y="4919472"/>
            <a:ext cx="5166360" cy="658368"/>
          </a:xfrm>
          <a:prstGeom prst="roundRect">
            <a:avLst>
              <a:gd name="adj" fmla="val 8333"/>
            </a:avLst>
          </a:prstGeom>
          <a:solidFill>
            <a:srgbClr val="D9822B"/>
          </a:solidFill>
          <a:ln/>
        </p:spPr>
      </p:sp>
      <p:sp>
        <p:nvSpPr>
          <p:cNvPr id="28" name="Text 26"/>
          <p:cNvSpPr/>
          <p:nvPr/>
        </p:nvSpPr>
        <p:spPr>
          <a:xfrm>
            <a:off x="6537960" y="4919472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Possibly retry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AI for SE  ·  Week 2  ·  Session 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965960"/>
            <a:ext cx="1417320" cy="1417320"/>
          </a:xfrm>
          <a:prstGeom prst="roundRect">
            <a:avLst>
              <a:gd name="adj" fmla="val 6452"/>
            </a:avLst>
          </a:prstGeom>
          <a:solidFill>
            <a:srgbClr val="F2A6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96596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2286000" y="21488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Rate Limits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331720" y="31546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service protects itself — plan for being told 'slow down'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AI for SE  ·  Week 2  ·  Session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DEFINITION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Rate Limit?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280160" y="1920240"/>
            <a:ext cx="4206240" cy="1371600"/>
          </a:xfrm>
          <a:prstGeom prst="roundRect">
            <a:avLst>
              <a:gd name="adj" fmla="val 6667"/>
            </a:avLst>
          </a:prstGeom>
          <a:solidFill>
            <a:srgbClr val="F7F9FB"/>
          </a:solidFill>
          <a:ln w="19050">
            <a:solidFill>
              <a:srgbClr val="2C9C7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80160" y="192024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
</a:t>
            </a:r>
            <a:pPr algn="ctr" indent="0" marL="0">
              <a:buNone/>
            </a:pPr>
            <a:r>
              <a:rPr lang="en-US" sz="2200" b="1" dirty="0">
                <a:solidFill>
                  <a:srgbClr val="2C9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requests / min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577840" y="1920240"/>
            <a:ext cx="914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675120" y="1920240"/>
            <a:ext cx="4206240" cy="1371600"/>
          </a:xfrm>
          <a:prstGeom prst="roundRect">
            <a:avLst>
              <a:gd name="adj" fmla="val 6667"/>
            </a:avLst>
          </a:prstGeom>
          <a:solidFill>
            <a:srgbClr val="F7F9FB"/>
          </a:solidFill>
          <a:ln w="19050">
            <a:solidFill>
              <a:srgbClr val="C056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0" y="192024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send
</a:t>
            </a:r>
            <a:pPr algn="ctr" indent="0" marL="0">
              <a:buNone/>
            </a:pPr>
            <a:r>
              <a:rPr lang="en-US" sz="2200" b="1" dirty="0">
                <a:solidFill>
                  <a:srgbClr val="C05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requests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280160" y="3840480"/>
            <a:ext cx="9601200" cy="914400"/>
          </a:xfrm>
          <a:prstGeom prst="roundRect">
            <a:avLst>
              <a:gd name="adj" fmla="val 8000"/>
            </a:avLst>
          </a:prstGeom>
          <a:solidFill>
            <a:srgbClr val="0B2545"/>
          </a:solidFill>
          <a:ln/>
        </p:spPr>
      </p:sp>
      <p:sp>
        <p:nvSpPr>
          <p:cNvPr id="10" name="Text 8"/>
          <p:cNvSpPr/>
          <p:nvPr/>
        </p:nvSpPr>
        <p:spPr>
          <a:xfrm>
            <a:off x="1508760" y="38404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service rejects the excess — usually with an HTTP 429 'Too Many Requests'.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AI for SE  ·  Week 2  ·  Session 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WHY &amp; WHAT IT LOOKS LIKE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Rate Limits Exist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92224"/>
            <a:ext cx="384048" cy="384048"/>
          </a:xfrm>
          <a:prstGeom prst="oval">
            <a:avLst/>
          </a:prstGeom>
          <a:solidFill>
            <a:srgbClr val="F2A65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88720" y="17373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protection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2450592"/>
            <a:ext cx="384048" cy="384048"/>
          </a:xfrm>
          <a:prstGeom prst="oval">
            <a:avLst/>
          </a:prstGeom>
          <a:solidFill>
            <a:srgbClr val="F2A65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450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239572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usage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40080" y="3108960"/>
            <a:ext cx="384048" cy="384048"/>
          </a:xfrm>
          <a:prstGeom prst="oval">
            <a:avLst/>
          </a:prstGeom>
          <a:solidFill>
            <a:srgbClr val="F2A65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3054096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capacity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40080" y="3767328"/>
            <a:ext cx="384048" cy="384048"/>
          </a:xfrm>
          <a:prstGeom prst="oval">
            <a:avLst/>
          </a:prstGeom>
          <a:solidFill>
            <a:srgbClr val="F2A65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767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371246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Abuse prevention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640080" y="4425696"/>
            <a:ext cx="384048" cy="384048"/>
          </a:xfrm>
          <a:prstGeom prst="oval">
            <a:avLst/>
          </a:prstGeom>
          <a:solidFill>
            <a:srgbClr val="F2A65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425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88720" y="437083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management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5943600" y="1828800"/>
            <a:ext cx="5577840" cy="3200400"/>
          </a:xfrm>
          <a:prstGeom prst="roundRect">
            <a:avLst>
              <a:gd name="adj" fmla="val 2286"/>
            </a:avLst>
          </a:prstGeom>
          <a:solidFill>
            <a:srgbClr val="0B2545"/>
          </a:solidFill>
          <a:ln w="12700">
            <a:solidFill>
              <a:srgbClr val="134074"/>
            </a:solidFill>
            <a:prstDash val="solid"/>
          </a:ln>
          <a:effectLst>
            <a:outerShdw sx="100000" sy="100000" kx="0" ky="0" algn="bl" rotWithShape="0" blurRad="101600" dist="38100" dir="5400000">
              <a:srgbClr val="0A1622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144768" y="1975104"/>
            <a:ext cx="5175504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 1 -&gt; success</a:t>
            </a:r>
            <a:endParaRPr lang="en-US" sz="14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 2 -&gt; success</a:t>
            </a:r>
            <a:endParaRPr lang="en-US" sz="14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 3 -&gt; success</a:t>
            </a:r>
            <a:endParaRPr lang="en-US" sz="14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 4 -&gt; RATE LIMITED</a:t>
            </a:r>
            <a:endParaRPr lang="en-US" sz="14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 5 -&gt; RATE LIMITED</a:t>
            </a:r>
            <a:endParaRPr lang="en-US" sz="14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4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8DA9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Should we immediately</a:t>
            </a:r>
            <a:endParaRPr lang="en-US" sz="14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8DA9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fire request #6?   NO.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AI for SE  ·  Week 2  ·  Session 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017520" cy="502920"/>
          </a:xfrm>
          <a:prstGeom prst="roundRect">
            <a:avLst>
              <a:gd name="adj" fmla="val 49091"/>
            </a:avLst>
          </a:prstGeom>
          <a:solidFill>
            <a:srgbClr val="F2A6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Should We Retry?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7772400" cy="548640"/>
          </a:xfrm>
          <a:prstGeom prst="roundRect">
            <a:avLst>
              <a:gd name="adj" fmla="val 10000"/>
            </a:avLst>
          </a:prstGeom>
          <a:solidFill>
            <a:srgbClr val="134074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745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API key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8595360" y="1874520"/>
            <a:ext cx="2971800" cy="548640"/>
          </a:xfrm>
          <a:prstGeom prst="roundRect">
            <a:avLst>
              <a:gd name="adj" fmla="val 10000"/>
            </a:avLst>
          </a:prstGeom>
          <a:solidFill>
            <a:srgbClr val="0B2545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0" y="18745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2532888"/>
            <a:ext cx="7772400" cy="548640"/>
          </a:xfrm>
          <a:prstGeom prst="roundRect">
            <a:avLst>
              <a:gd name="adj" fmla="val 10000"/>
            </a:avLst>
          </a:prstGeom>
          <a:solidFill>
            <a:srgbClr val="134074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53288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595360" y="2532888"/>
            <a:ext cx="2971800" cy="548640"/>
          </a:xfrm>
          <a:prstGeom prst="roundRect">
            <a:avLst>
              <a:gd name="adj" fmla="val 10000"/>
            </a:avLst>
          </a:prstGeom>
          <a:solidFill>
            <a:srgbClr val="0B2545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2532888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191256"/>
            <a:ext cx="7772400" cy="548640"/>
          </a:xfrm>
          <a:prstGeom prst="roundRect">
            <a:avLst>
              <a:gd name="adj" fmla="val 10000"/>
            </a:avLst>
          </a:prstGeom>
          <a:solidFill>
            <a:srgbClr val="134074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191256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 server error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595360" y="3191256"/>
            <a:ext cx="2971800" cy="548640"/>
          </a:xfrm>
          <a:prstGeom prst="roundRect">
            <a:avLst>
              <a:gd name="adj" fmla="val 10000"/>
            </a:avLst>
          </a:prstGeom>
          <a:solidFill>
            <a:srgbClr val="0B2545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95360" y="3191256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retry?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3849624"/>
            <a:ext cx="7772400" cy="548640"/>
          </a:xfrm>
          <a:prstGeom prst="roundRect">
            <a:avLst>
              <a:gd name="adj" fmla="val 10000"/>
            </a:avLst>
          </a:prstGeom>
          <a:solidFill>
            <a:srgbClr val="134074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849624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entered empty input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8595360" y="3849624"/>
            <a:ext cx="2971800" cy="548640"/>
          </a:xfrm>
          <a:prstGeom prst="roundRect">
            <a:avLst>
              <a:gd name="adj" fmla="val 10000"/>
            </a:avLst>
          </a:prstGeom>
          <a:solidFill>
            <a:srgbClr val="0B2545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0" y="3849624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retry?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0080" y="4507992"/>
            <a:ext cx="7772400" cy="548640"/>
          </a:xfrm>
          <a:prstGeom prst="roundRect">
            <a:avLst>
              <a:gd name="adj" fmla="val 10000"/>
            </a:avLst>
          </a:prstGeom>
          <a:solidFill>
            <a:srgbClr val="134074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507992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too large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8595360" y="4507992"/>
            <a:ext cx="2971800" cy="548640"/>
          </a:xfrm>
          <a:prstGeom prst="roundRect">
            <a:avLst>
              <a:gd name="adj" fmla="val 10000"/>
            </a:avLst>
          </a:prstGeom>
          <a:solidFill>
            <a:srgbClr val="0B2545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95360" y="450799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retry?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40080" y="5166360"/>
            <a:ext cx="7772400" cy="548640"/>
          </a:xfrm>
          <a:prstGeom prst="roundRect">
            <a:avLst>
              <a:gd name="adj" fmla="val 10000"/>
            </a:avLst>
          </a:prstGeom>
          <a:solidFill>
            <a:srgbClr val="134074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51663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timeout</a:t>
            </a:r>
            <a:endParaRPr lang="en-US" sz="1550" dirty="0"/>
          </a:p>
        </p:txBody>
      </p:sp>
      <p:sp>
        <p:nvSpPr>
          <p:cNvPr id="27" name="Shape 25"/>
          <p:cNvSpPr/>
          <p:nvPr/>
        </p:nvSpPr>
        <p:spPr>
          <a:xfrm>
            <a:off x="8595360" y="5166360"/>
            <a:ext cx="2971800" cy="548640"/>
          </a:xfrm>
          <a:prstGeom prst="roundRect">
            <a:avLst>
              <a:gd name="adj" fmla="val 10000"/>
            </a:avLst>
          </a:prstGeom>
          <a:solidFill>
            <a:srgbClr val="0B2545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95360" y="51663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retry?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on each · justify your answer · what waiting strategy would you use?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AI for SE  ·  Week 2  ·  Session 2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965960"/>
            <a:ext cx="1417320" cy="1417320"/>
          </a:xfrm>
          <a:prstGeom prst="roundRect">
            <a:avLst>
              <a:gd name="adj" fmla="val 6452"/>
            </a:avLst>
          </a:prstGeom>
          <a:solidFill>
            <a:srgbClr val="F2A6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96596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2286000" y="21488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Retry Strategies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331720" y="31546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the retryable — and back off while you do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AI for SE  ·  Week 2  ·  Session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THE TEMPTING MISTAKE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Naive Retry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852160" cy="2377440"/>
          </a:xfrm>
          <a:prstGeom prst="roundRect">
            <a:avLst>
              <a:gd name="adj" fmla="val 3077"/>
            </a:avLst>
          </a:prstGeom>
          <a:solidFill>
            <a:srgbClr val="0B2545"/>
          </a:solidFill>
          <a:ln w="12700">
            <a:solidFill>
              <a:srgbClr val="134074"/>
            </a:solidFill>
            <a:prstDash val="solid"/>
          </a:ln>
          <a:effectLst>
            <a:outerShdw sx="100000" sy="100000" kx="0" ky="0" algn="bl" rotWithShape="0" blurRad="101600" dist="38100" dir="5400000">
              <a:srgbClr val="0A1622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975104"/>
            <a:ext cx="5449824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range(3):</a:t>
            </a:r>
            <a:endParaRPr lang="en-US" sz="14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try:</a:t>
            </a:r>
            <a:endParaRPr lang="en-US" sz="14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response = call_api()</a:t>
            </a:r>
            <a:endParaRPr lang="en-US" sz="14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</a:t>
            </a:r>
            <a:endParaRPr lang="en-US" sz="14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except:</a:t>
            </a:r>
            <a:endParaRPr lang="en-US" sz="14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continue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766560" y="1828800"/>
            <a:ext cx="4800600" cy="2377440"/>
          </a:xfrm>
          <a:prstGeom prst="roundRect">
            <a:avLst>
              <a:gd name="adj" fmla="val 3846"/>
            </a:avLst>
          </a:prstGeom>
          <a:solidFill>
            <a:srgbClr val="EEF2F6"/>
          </a:solidFill>
          <a:ln w="19050">
            <a:solidFill>
              <a:srgbClr val="C056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95160" y="2057400"/>
            <a:ext cx="4343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05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
</a:t>
            </a:r>
            <a:pPr indent="0" marL="0">
              <a:buNone/>
            </a:pPr>
            <a:r>
              <a:rPr lang="en-US" sz="14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service is overloaded, retrying immediately — and every other client doing the same — </a:t>
            </a:r>
            <a:pPr indent="0" marL="0">
              <a:buNone/>
            </a:pPr>
            <a:r>
              <a:rPr lang="en-US" sz="1450" b="1" dirty="0">
                <a:solidFill>
                  <a:srgbClr val="C05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the overload worse.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AI for SE  ·  Week 2  ·  Session 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THE FIX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Exponential Backoff + Jitter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194560" cy="640080"/>
          </a:xfrm>
          <a:prstGeom prst="roundRect">
            <a:avLst>
              <a:gd name="adj" fmla="val 8571"/>
            </a:avLst>
          </a:prstGeom>
          <a:solidFill>
            <a:srgbClr val="F7F9FB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373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880360" y="173736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383280" y="1737360"/>
            <a:ext cx="1371600" cy="640080"/>
          </a:xfrm>
          <a:prstGeom prst="roundRect">
            <a:avLst>
              <a:gd name="adj" fmla="val 8571"/>
            </a:avLst>
          </a:prstGeom>
          <a:solidFill>
            <a:srgbClr val="F2A65A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0" y="17373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1s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2194560" cy="640080"/>
          </a:xfrm>
          <a:prstGeom prst="roundRect">
            <a:avLst>
              <a:gd name="adj" fmla="val 8571"/>
            </a:avLst>
          </a:prstGeom>
          <a:solidFill>
            <a:srgbClr val="F7F9FB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060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880360" y="260604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383280" y="2606040"/>
            <a:ext cx="1828800" cy="640080"/>
          </a:xfrm>
          <a:prstGeom prst="roundRect">
            <a:avLst>
              <a:gd name="adj" fmla="val 8571"/>
            </a:avLst>
          </a:prstGeom>
          <a:solidFill>
            <a:srgbClr val="F2A65A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26060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2s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3474720"/>
            <a:ext cx="2194560" cy="640080"/>
          </a:xfrm>
          <a:prstGeom prst="roundRect">
            <a:avLst>
              <a:gd name="adj" fmla="val 8571"/>
            </a:avLst>
          </a:prstGeom>
          <a:solidFill>
            <a:srgbClr val="F7F9FB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4747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880360" y="34747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383280" y="3474720"/>
            <a:ext cx="2286000" cy="640080"/>
          </a:xfrm>
          <a:prstGeom prst="roundRect">
            <a:avLst>
              <a:gd name="adj" fmla="val 8571"/>
            </a:avLst>
          </a:prstGeom>
          <a:solidFill>
            <a:srgbClr val="F2A65A"/>
          </a:solidFill>
          <a:ln/>
        </p:spPr>
      </p:sp>
      <p:sp>
        <p:nvSpPr>
          <p:cNvPr id="18" name="Text 16"/>
          <p:cNvSpPr/>
          <p:nvPr/>
        </p:nvSpPr>
        <p:spPr>
          <a:xfrm>
            <a:off x="3383280" y="34747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4s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" y="4343400"/>
            <a:ext cx="2194560" cy="640080"/>
          </a:xfrm>
          <a:prstGeom prst="roundRect">
            <a:avLst>
              <a:gd name="adj" fmla="val 8571"/>
            </a:avLst>
          </a:prstGeom>
          <a:solidFill>
            <a:srgbClr val="F7F9FB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343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880360" y="434340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383280" y="4343400"/>
            <a:ext cx="2743200" cy="640080"/>
          </a:xfrm>
          <a:prstGeom prst="roundRect">
            <a:avLst>
              <a:gd name="adj" fmla="val 8571"/>
            </a:avLst>
          </a:prstGeom>
          <a:solidFill>
            <a:srgbClr val="F2A65A"/>
          </a:solidFill>
          <a:ln/>
        </p:spPr>
      </p:sp>
      <p:sp>
        <p:nvSpPr>
          <p:cNvPr id="23" name="Text 21"/>
          <p:cNvSpPr/>
          <p:nvPr/>
        </p:nvSpPr>
        <p:spPr>
          <a:xfrm>
            <a:off x="3383280" y="43434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8s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675120" y="1828800"/>
            <a:ext cx="4892040" cy="1371600"/>
          </a:xfrm>
          <a:prstGeom prst="roundRect">
            <a:avLst>
              <a:gd name="adj" fmla="val 5333"/>
            </a:avLst>
          </a:prstGeom>
          <a:solidFill>
            <a:srgbClr val="0B2545"/>
          </a:solidFill>
          <a:ln w="12700">
            <a:solidFill>
              <a:srgbClr val="134074"/>
            </a:solidFill>
            <a:prstDash val="solid"/>
          </a:ln>
          <a:effectLst>
            <a:outerShdw sx="100000" sy="100000" kx="0" ky="0" algn="bl" rotWithShape="0" blurRad="101600" dist="38100" dir="5400000">
              <a:srgbClr val="0A1622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76288" y="1975104"/>
            <a:ext cx="448970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delay = base * 2 ** attempt</a:t>
            </a:r>
            <a:endParaRPr lang="en-US" sz="14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delay += random_jitter()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675120" y="3474720"/>
            <a:ext cx="4892040" cy="1645920"/>
          </a:xfrm>
          <a:prstGeom prst="roundRect">
            <a:avLst>
              <a:gd name="adj" fmla="val 5556"/>
            </a:avLst>
          </a:prstGeom>
          <a:solidFill>
            <a:srgbClr val="0B2545"/>
          </a:solidFill>
          <a:ln/>
        </p:spPr>
      </p:sp>
      <p:sp>
        <p:nvSpPr>
          <p:cNvPr id="27" name="Text 25"/>
          <p:cNvSpPr/>
          <p:nvPr/>
        </p:nvSpPr>
        <p:spPr>
          <a:xfrm>
            <a:off x="6903720" y="3657600"/>
            <a:ext cx="4434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jitter?
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random jitter, many clients retry at the exact same moment — a synchronised wave that re-overloads the service.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AI for SE  ·  Week 2  ·  Session 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RESTRAINT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NOT to Retry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1051560"/>
          </a:xfrm>
          <a:prstGeom prst="roundRect">
            <a:avLst>
              <a:gd name="adj" fmla="val 8696"/>
            </a:avLst>
          </a:prstGeom>
          <a:solidFill>
            <a:srgbClr val="EEF2F6"/>
          </a:solidFill>
          <a:ln w="19050">
            <a:solidFill>
              <a:srgbClr val="C056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640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5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45920" y="1828800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API key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172200" y="1828800"/>
            <a:ext cx="5257800" cy="1051560"/>
          </a:xfrm>
          <a:prstGeom prst="roundRect">
            <a:avLst>
              <a:gd name="adj" fmla="val 8696"/>
            </a:avLst>
          </a:prstGeom>
          <a:solidFill>
            <a:srgbClr val="EEF2F6"/>
          </a:solidFill>
          <a:ln w="19050">
            <a:solidFill>
              <a:srgbClr val="C056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828800"/>
            <a:ext cx="640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5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178040" y="1828800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request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3108960"/>
            <a:ext cx="5257800" cy="1051560"/>
          </a:xfrm>
          <a:prstGeom prst="roundRect">
            <a:avLst>
              <a:gd name="adj" fmla="val 8696"/>
            </a:avLst>
          </a:prstGeom>
          <a:solidFill>
            <a:srgbClr val="EEF2F6"/>
          </a:solidFill>
          <a:ln w="19050">
            <a:solidFill>
              <a:srgbClr val="C056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108960"/>
            <a:ext cx="640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5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645920" y="3108960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Malformed parameters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172200" y="3108960"/>
            <a:ext cx="5257800" cy="1051560"/>
          </a:xfrm>
          <a:prstGeom prst="roundRect">
            <a:avLst>
              <a:gd name="adj" fmla="val 8696"/>
            </a:avLst>
          </a:prstGeom>
          <a:solidFill>
            <a:srgbClr val="EEF2F6"/>
          </a:solidFill>
          <a:ln w="19050">
            <a:solidFill>
              <a:srgbClr val="C056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3108960"/>
            <a:ext cx="640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5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178040" y="3108960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error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" y="45720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Retrying won't fix the underlying problem — it just wastes time and money.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AI for SE  ·  Week 2  ·  Session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965960"/>
            <a:ext cx="1417320" cy="1417320"/>
          </a:xfrm>
          <a:prstGeom prst="roundRect">
            <a:avLst>
              <a:gd name="adj" fmla="val 6452"/>
            </a:avLst>
          </a:prstGeom>
          <a:solidFill>
            <a:srgbClr val="F2A6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96596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2286000" y="21488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 Management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331720" y="31546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has a cost — measure it, control it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AI for SE  ·  Week 2  ·  Session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· THE CURRENCY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Request Has a Cost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463040" y="2377440"/>
            <a:ext cx="2651760" cy="1005840"/>
          </a:xfrm>
          <a:prstGeom prst="roundRect">
            <a:avLst>
              <a:gd name="adj" fmla="val 5455"/>
            </a:avLst>
          </a:prstGeom>
          <a:solidFill>
            <a:srgbClr val="0B2545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63040" y="2377440"/>
            <a:ext cx="265176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tokens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0" y="237744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754880" y="2377440"/>
            <a:ext cx="2651760" cy="1005840"/>
          </a:xfrm>
          <a:prstGeom prst="roundRect">
            <a:avLst>
              <a:gd name="adj" fmla="val 5455"/>
            </a:avLst>
          </a:prstGeom>
          <a:solidFill>
            <a:srgbClr val="0B2545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2377440"/>
            <a:ext cx="265176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tokens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406640" y="237744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046720" y="2377440"/>
            <a:ext cx="2651760" cy="1005840"/>
          </a:xfrm>
          <a:prstGeom prst="roundRect">
            <a:avLst>
              <a:gd name="adj" fmla="val 5455"/>
            </a:avLst>
          </a:prstGeom>
          <a:solidFill>
            <a:srgbClr val="F2A65A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0" y="2377440"/>
            <a:ext cx="265176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tokens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97680" y="237744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DA9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360920" y="237744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DA9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40080" y="40233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pay for the prompt you send AND the answer you receive.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AI for SE  ·  Week 2  ·  Session 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· OBSERVABILITY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 &amp; Inspect Token Usage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4937760" cy="621792"/>
          </a:xfrm>
          <a:prstGeom prst="roundRect">
            <a:avLst>
              <a:gd name="adj" fmla="val 8824"/>
            </a:avLst>
          </a:prstGeom>
          <a:solidFill>
            <a:srgbClr val="F7F9FB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65376"/>
            <a:ext cx="365760" cy="365760"/>
          </a:xfrm>
          <a:prstGeom prst="oval">
            <a:avLst/>
          </a:prstGeom>
          <a:solidFill>
            <a:srgbClr val="F2A65A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737360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2487168"/>
            <a:ext cx="4937760" cy="621792"/>
          </a:xfrm>
          <a:prstGeom prst="roundRect">
            <a:avLst>
              <a:gd name="adj" fmla="val 8824"/>
            </a:avLst>
          </a:prstGeom>
          <a:solidFill>
            <a:srgbClr val="F7F9FB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615184"/>
            <a:ext cx="365760" cy="365760"/>
          </a:xfrm>
          <a:prstGeom prst="oval">
            <a:avLst/>
          </a:prstGeom>
          <a:solidFill>
            <a:srgbClr val="F2A65A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2487168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40080" y="3236976"/>
            <a:ext cx="4937760" cy="621792"/>
          </a:xfrm>
          <a:prstGeom prst="roundRect">
            <a:avLst>
              <a:gd name="adj" fmla="val 8824"/>
            </a:avLst>
          </a:prstGeom>
          <a:solidFill>
            <a:srgbClr val="F7F9FB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364992"/>
            <a:ext cx="365760" cy="365760"/>
          </a:xfrm>
          <a:prstGeom prst="oval">
            <a:avLst/>
          </a:prstGeom>
          <a:solidFill>
            <a:srgbClr val="F2A65A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3236976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40080" y="3986784"/>
            <a:ext cx="4937760" cy="621792"/>
          </a:xfrm>
          <a:prstGeom prst="roundRect">
            <a:avLst>
              <a:gd name="adj" fmla="val 8824"/>
            </a:avLst>
          </a:prstGeom>
          <a:solidFill>
            <a:srgbClr val="F7F9FB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114800"/>
            <a:ext cx="365760" cy="365760"/>
          </a:xfrm>
          <a:prstGeom prst="oval">
            <a:avLst/>
          </a:prstGeom>
          <a:solidFill>
            <a:srgbClr val="F2A65A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3986784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limits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5943600" y="1737360"/>
            <a:ext cx="5577840" cy="3017520"/>
          </a:xfrm>
          <a:prstGeom prst="roundRect">
            <a:avLst>
              <a:gd name="adj" fmla="val 2424"/>
            </a:avLst>
          </a:prstGeom>
          <a:solidFill>
            <a:srgbClr val="0B2545"/>
          </a:solidFill>
          <a:ln w="12700">
            <a:solidFill>
              <a:srgbClr val="134074"/>
            </a:solidFill>
            <a:prstDash val="solid"/>
          </a:ln>
          <a:effectLst>
            <a:outerShdw sx="100000" sy="100000" kx="0" ky="0" algn="bl" rotWithShape="0" blurRad="101600" dist="38100" dir="5400000">
              <a:srgbClr val="0A1622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44768" y="1883664"/>
            <a:ext cx="5175504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usage = response.usage</a:t>
            </a:r>
            <a:endParaRPr lang="en-US" sz="14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usage</a:t>
            </a:r>
            <a:endParaRPr lang="en-US" sz="14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├── prompt_tokens</a:t>
            </a:r>
            <a:endParaRPr lang="en-US" sz="14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├── completion_tokens</a:t>
            </a:r>
            <a:endParaRPr lang="en-US" sz="14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└── total_tokens</a:t>
            </a:r>
            <a:endParaRPr lang="en-US" sz="14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8DA9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exact fields vary by</a:t>
            </a:r>
            <a:endParaRPr lang="en-US" sz="14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8DA9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model / API version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AI for SE  ·  Week 2  ·  Session 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· THE FORMULA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Estimation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881360" cy="1737360"/>
          </a:xfrm>
          <a:prstGeom prst="roundRect">
            <a:avLst>
              <a:gd name="adj" fmla="val 4211"/>
            </a:avLst>
          </a:prstGeom>
          <a:solidFill>
            <a:srgbClr val="0B2545"/>
          </a:solidFill>
          <a:ln w="12700">
            <a:solidFill>
              <a:srgbClr val="134074"/>
            </a:solidFill>
            <a:prstDash val="solid"/>
          </a:ln>
          <a:effectLst>
            <a:outerShdw sx="100000" sy="100000" kx="0" ky="0" algn="bl" rotWithShape="0" blurRad="101600" dist="38100" dir="5400000">
              <a:srgbClr val="0A1622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2066544"/>
            <a:ext cx="10479024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request_cost =  (input_tokens  x  input_price)</a:t>
            </a:r>
            <a:endParaRPr lang="en-US" sz="17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+  (output_tokens x  output_price)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402336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0B2545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402336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the formula, not today's prices.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pricing changes constantly — and input and output are usually priced differently. Keep prices in config, not in code.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AI for SE  ·  Week 2  ·  Session 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· SCALE CHANGES EVERYTHING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Explosion — and Control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12080" cy="2286000"/>
          </a:xfrm>
          <a:prstGeom prst="roundRect">
            <a:avLst>
              <a:gd name="adj" fmla="val 3200"/>
            </a:avLst>
          </a:prstGeom>
          <a:solidFill>
            <a:srgbClr val="0B2545"/>
          </a:solidFill>
          <a:ln w="12700">
            <a:solidFill>
              <a:srgbClr val="134074"/>
            </a:solidFill>
            <a:prstDash val="solid"/>
          </a:ln>
          <a:effectLst>
            <a:outerShdw sx="100000" sy="100000" kx="0" ky="0" algn="bl" rotWithShape="0" blurRad="101600" dist="38100" dir="5400000">
              <a:srgbClr val="0A1622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975104"/>
            <a:ext cx="4809744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 request</a:t>
            </a:r>
            <a:endParaRPr lang="en-US" sz="15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1 user</a:t>
            </a:r>
            <a:endParaRPr lang="en-US" sz="15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10,000 users</a:t>
            </a:r>
            <a:endParaRPr lang="en-US" sz="15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100 requests/day</a:t>
            </a:r>
            <a:endParaRPr lang="en-US" sz="15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</a:t>
            </a:r>
            <a:endParaRPr lang="en-US" sz="15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?  per day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26480" y="1828800"/>
            <a:ext cx="5440680" cy="3657600"/>
          </a:xfrm>
          <a:prstGeom prst="roundRect">
            <a:avLst>
              <a:gd name="adj" fmla="val 2500"/>
            </a:avLst>
          </a:prstGeom>
          <a:solidFill>
            <a:srgbClr val="F7F9FB"/>
          </a:solidFill>
          <a:ln w="19050">
            <a:solidFill>
              <a:srgbClr val="2C9C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55080" y="20116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9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Controlling cost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37960" y="2514600"/>
            <a:ext cx="4846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Shorter prompts</a:t>
            </a:r>
            <a:endParaRPr lang="en-US" sz="15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output</a:t>
            </a:r>
            <a:endParaRPr lang="en-US" sz="15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Appropriate model</a:t>
            </a:r>
            <a:endParaRPr lang="en-US" sz="15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trimming</a:t>
            </a:r>
            <a:endParaRPr lang="en-US" sz="15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</a:t>
            </a:r>
            <a:endParaRPr lang="en-US" sz="15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monitoring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40080" y="434340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C05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per-call costs multiply fast at scale.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AI for SE  ·  Week 2  ·  Session 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965960"/>
            <a:ext cx="1417320" cy="1417320"/>
          </a:xfrm>
          <a:prstGeom prst="roundRect">
            <a:avLst>
              <a:gd name="adj" fmla="val 6452"/>
            </a:avLst>
          </a:prstGeom>
          <a:solidFill>
            <a:srgbClr val="F2A6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96596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2286000" y="21488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History Has a Cost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331720" y="31546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turn you keep, you pay for again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AI for SE  ·  Week 2  ·  Session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· THE HIDDEN BILL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Growing Conversation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1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194560" y="1828800"/>
            <a:ext cx="2011680" cy="457200"/>
          </a:xfrm>
          <a:prstGeom prst="roundRect">
            <a:avLst>
              <a:gd name="adj" fmla="val 10000"/>
            </a:avLst>
          </a:prstGeom>
          <a:solidFill>
            <a:srgbClr val="F2A65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6060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2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194560" y="2651760"/>
            <a:ext cx="3657600" cy="457200"/>
          </a:xfrm>
          <a:prstGeom prst="roundRect">
            <a:avLst>
              <a:gd name="adj" fmla="val 10000"/>
            </a:avLst>
          </a:prstGeom>
          <a:solidFill>
            <a:srgbClr val="F2A65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4290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3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194560" y="3474720"/>
            <a:ext cx="5303520" cy="457200"/>
          </a:xfrm>
          <a:prstGeom prst="roundRect">
            <a:avLst>
              <a:gd name="adj" fmla="val 10000"/>
            </a:avLst>
          </a:prstGeom>
          <a:solidFill>
            <a:srgbClr val="F2A65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2519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10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194560" y="4297680"/>
            <a:ext cx="8686800" cy="457200"/>
          </a:xfrm>
          <a:prstGeom prst="roundRect">
            <a:avLst>
              <a:gd name="adj" fmla="val 10000"/>
            </a:avLst>
          </a:prstGeom>
          <a:solidFill>
            <a:srgbClr val="C0563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53949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request may resend all previous messages — so chat memory has a growing cost.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AI for SE  ·  Week 2  ·  Session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· STRATEGIES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Management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7315200" cy="621792"/>
          </a:xfrm>
          <a:prstGeom prst="roundRect">
            <a:avLst>
              <a:gd name="adj" fmla="val 8824"/>
            </a:avLst>
          </a:prstGeom>
          <a:solidFill>
            <a:srgbClr val="F7F9FB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11096"/>
            <a:ext cx="365760" cy="365760"/>
          </a:xfrm>
          <a:prstGeom prst="oval">
            <a:avLst/>
          </a:prstGeom>
          <a:solidFill>
            <a:srgbClr val="0B254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11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1783080"/>
            <a:ext cx="6400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conversation history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40080" y="2560320"/>
            <a:ext cx="7315200" cy="621792"/>
          </a:xfrm>
          <a:prstGeom prst="roundRect">
            <a:avLst>
              <a:gd name="adj" fmla="val 8824"/>
            </a:avLst>
          </a:prstGeom>
          <a:solidFill>
            <a:srgbClr val="F7F9FB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688336"/>
            <a:ext cx="365760" cy="365760"/>
          </a:xfrm>
          <a:prstGeom prst="oval">
            <a:avLst/>
          </a:prstGeom>
          <a:solidFill>
            <a:srgbClr val="0B2545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6883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71600" y="2560320"/>
            <a:ext cx="6400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 older messages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640080" y="3337560"/>
            <a:ext cx="7315200" cy="621792"/>
          </a:xfrm>
          <a:prstGeom prst="roundRect">
            <a:avLst>
              <a:gd name="adj" fmla="val 8824"/>
            </a:avLst>
          </a:prstGeom>
          <a:solidFill>
            <a:srgbClr val="F7F9FB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3465576"/>
            <a:ext cx="365760" cy="365760"/>
          </a:xfrm>
          <a:prstGeom prst="oval">
            <a:avLst/>
          </a:prstGeom>
          <a:solidFill>
            <a:srgbClr val="0B2545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4655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71600" y="3337560"/>
            <a:ext cx="6400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irrelevant messages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640080" y="4114800"/>
            <a:ext cx="7315200" cy="621792"/>
          </a:xfrm>
          <a:prstGeom prst="roundRect">
            <a:avLst>
              <a:gd name="adj" fmla="val 8824"/>
            </a:avLst>
          </a:prstGeom>
          <a:solidFill>
            <a:srgbClr val="F7F9FB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242816"/>
            <a:ext cx="365760" cy="365760"/>
          </a:xfrm>
          <a:prstGeom prst="oval">
            <a:avLst/>
          </a:prstGeom>
          <a:solidFill>
            <a:srgbClr val="0B2545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242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71600" y="4114800"/>
            <a:ext cx="6400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sliding window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640080" y="4892040"/>
            <a:ext cx="7315200" cy="621792"/>
          </a:xfrm>
          <a:prstGeom prst="roundRect">
            <a:avLst>
              <a:gd name="adj" fmla="val 8824"/>
            </a:avLst>
          </a:prstGeom>
          <a:solidFill>
            <a:srgbClr val="F7F9FB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5020056"/>
            <a:ext cx="365760" cy="365760"/>
          </a:xfrm>
          <a:prstGeom prst="oval">
            <a:avLst/>
          </a:prstGeom>
          <a:solidFill>
            <a:srgbClr val="0B2545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5020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71600" y="4892040"/>
            <a:ext cx="6400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long-term info separately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8229600" y="1783080"/>
            <a:ext cx="3291840" cy="3337560"/>
          </a:xfrm>
          <a:prstGeom prst="roundRect">
            <a:avLst>
              <a:gd name="adj" fmla="val 2778"/>
            </a:avLst>
          </a:prstGeom>
          <a:solidFill>
            <a:srgbClr val="0B2545"/>
          </a:solidFill>
          <a:ln/>
        </p:spPr>
      </p:sp>
      <p:sp>
        <p:nvSpPr>
          <p:cNvPr id="25" name="Text 23"/>
          <p:cNvSpPr/>
          <p:nvPr/>
        </p:nvSpPr>
        <p:spPr>
          <a:xfrm>
            <a:off x="8458200" y="2011680"/>
            <a:ext cx="28346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
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strategies lead directly into RAG and long-term memory later in the course.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AI for SE  ·  Week 2  ·  Session 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965960"/>
            <a:ext cx="1417320" cy="1417320"/>
          </a:xfrm>
          <a:prstGeom prst="roundRect">
            <a:avLst>
              <a:gd name="adj" fmla="val 6452"/>
            </a:avLst>
          </a:prstGeom>
          <a:solidFill>
            <a:srgbClr val="F2A6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96596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2286000" y="21488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Streaming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331720" y="31546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when the user sees output — a UX and design decision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AI for SE  ·  Week 2  ·  Session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· TWO EXPERIENCES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 vs. Streaming Response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streaming — user waits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5120640" cy="502920"/>
          </a:xfrm>
          <a:prstGeom prst="roundRect">
            <a:avLst>
              <a:gd name="adj" fmla="val 10909"/>
            </a:avLst>
          </a:prstGeom>
          <a:solidFill>
            <a:srgbClr val="F7F9FB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0574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724912"/>
            <a:ext cx="5120640" cy="502920"/>
          </a:xfrm>
          <a:prstGeom prst="roundRect">
            <a:avLst>
              <a:gd name="adj" fmla="val 10909"/>
            </a:avLst>
          </a:prstGeom>
          <a:solidFill>
            <a:srgbClr val="0B2545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72491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......... (waiting) .........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322783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3392424"/>
            <a:ext cx="5120640" cy="502920"/>
          </a:xfrm>
          <a:prstGeom prst="roundRect">
            <a:avLst>
              <a:gd name="adj" fmla="val 10909"/>
            </a:avLst>
          </a:prstGeom>
          <a:solidFill>
            <a:srgbClr val="F7F9FB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392424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response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389534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4059936"/>
            <a:ext cx="5120640" cy="502920"/>
          </a:xfrm>
          <a:prstGeom prst="roundRect">
            <a:avLst>
              <a:gd name="adj" fmla="val 10909"/>
            </a:avLst>
          </a:prstGeom>
          <a:solidFill>
            <a:srgbClr val="F2A65A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059936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0" y="16459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streaming — progressive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0" y="2057400"/>
            <a:ext cx="5120640" cy="502920"/>
          </a:xfrm>
          <a:prstGeom prst="roundRect">
            <a:avLst>
              <a:gd name="adj" fmla="val 10909"/>
            </a:avLst>
          </a:prstGeom>
          <a:solidFill>
            <a:srgbClr val="F7F9FB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20574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0" y="256032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00800" y="2724912"/>
            <a:ext cx="5120640" cy="502920"/>
          </a:xfrm>
          <a:prstGeom prst="roundRect">
            <a:avLst>
              <a:gd name="adj" fmla="val 10909"/>
            </a:avLst>
          </a:prstGeom>
          <a:solidFill>
            <a:srgbClr val="F2A65A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272491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"Artificial"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00800" y="322783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00800" y="3392424"/>
            <a:ext cx="5120640" cy="502920"/>
          </a:xfrm>
          <a:prstGeom prst="roundRect">
            <a:avLst>
              <a:gd name="adj" fmla="val 10909"/>
            </a:avLst>
          </a:prstGeom>
          <a:solidFill>
            <a:srgbClr val="F2A65A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3392424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"Artificial intelligence"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00800" y="389534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400800" y="4059936"/>
            <a:ext cx="5120640" cy="502920"/>
          </a:xfrm>
          <a:prstGeom prst="roundRect">
            <a:avLst>
              <a:gd name="adj" fmla="val 10909"/>
            </a:avLst>
          </a:prstGeom>
          <a:solidFill>
            <a:srgbClr val="F2A65A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4059936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"Artificial intelligence is..."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40080" y="51206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receives chunks as they are generated, and shows them immediately.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AI for SE  ·  Week 2  ·  Session 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· BENEFITS &amp;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Streaming?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4937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perceived responsiveness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sees progress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long responses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chat UX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640080" y="4434840"/>
            <a:ext cx="5120640" cy="1005840"/>
          </a:xfrm>
          <a:prstGeom prst="roundRect">
            <a:avLst>
              <a:gd name="adj" fmla="val 7273"/>
            </a:avLst>
          </a:prstGeom>
          <a:solidFill>
            <a:srgbClr val="EEF2F6"/>
          </a:solidFill>
          <a:ln w="19050">
            <a:solidFill>
              <a:srgbClr val="C056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443484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But:  </a:t>
            </a:r>
            <a:pPr indent="0" marL="0">
              <a:buNone/>
            </a:pPr>
            <a:r>
              <a:rPr lang="en-US" sz="14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does not make generation faster. It changes WHEN the user sees output.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0" y="1828800"/>
            <a:ext cx="5166360" cy="914400"/>
          </a:xfrm>
          <a:prstGeom prst="roundRect">
            <a:avLst>
              <a:gd name="adj" fmla="val 8000"/>
            </a:avLst>
          </a:prstGeom>
          <a:solidFill>
            <a:srgbClr val="0B254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1828800"/>
            <a:ext cx="5166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0" y="3108960"/>
            <a:ext cx="1600200" cy="548640"/>
          </a:xfrm>
          <a:prstGeom prst="roundRect">
            <a:avLst>
              <a:gd name="adj" fmla="val 10000"/>
            </a:avLst>
          </a:prstGeom>
          <a:solidFill>
            <a:srgbClr val="F2A65A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3108960"/>
            <a:ext cx="160020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01000" y="310896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183880" y="3108960"/>
            <a:ext cx="1600200" cy="548640"/>
          </a:xfrm>
          <a:prstGeom prst="roundRect">
            <a:avLst>
              <a:gd name="adj" fmla="val 10000"/>
            </a:avLst>
          </a:prstGeom>
          <a:solidFill>
            <a:srgbClr val="F2A65A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83880" y="3108960"/>
            <a:ext cx="160020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784080" y="310896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966960" y="3108960"/>
            <a:ext cx="1600200" cy="548640"/>
          </a:xfrm>
          <a:prstGeom prst="roundRect">
            <a:avLst>
              <a:gd name="adj" fmla="val 10000"/>
            </a:avLst>
          </a:prstGeom>
          <a:solidFill>
            <a:srgbClr val="F2A65A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966960" y="3108960"/>
            <a:ext cx="160020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680960" y="3931920"/>
            <a:ext cx="2606040" cy="502920"/>
          </a:xfrm>
          <a:prstGeom prst="roundRect">
            <a:avLst>
              <a:gd name="adj" fmla="val 10909"/>
            </a:avLst>
          </a:prstGeom>
          <a:solidFill>
            <a:srgbClr val="0B2545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0" y="39319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client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680960" y="4434840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80960" y="4617720"/>
            <a:ext cx="2606040" cy="502920"/>
          </a:xfrm>
          <a:prstGeom prst="roundRect">
            <a:avLst>
              <a:gd name="adj" fmla="val 10909"/>
            </a:avLst>
          </a:prstGeom>
          <a:solidFill>
            <a:srgbClr val="F7F9FB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0" y="46177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/ terminal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AI for SE  ·  Week 2  ·  Session 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· CODE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Streaming Changes Your Code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5486400" cy="1463040"/>
          </a:xfrm>
          <a:prstGeom prst="roundRect">
            <a:avLst>
              <a:gd name="adj" fmla="val 5000"/>
            </a:avLst>
          </a:prstGeom>
          <a:solidFill>
            <a:srgbClr val="0B2545"/>
          </a:solidFill>
          <a:ln w="12700">
            <a:solidFill>
              <a:srgbClr val="134074"/>
            </a:solidFill>
            <a:prstDash val="solid"/>
          </a:ln>
          <a:effectLst>
            <a:outerShdw sx="100000" sy="100000" kx="0" ky="0" algn="bl" rotWithShape="0" blurRad="101600" dist="38100" dir="5400000">
              <a:srgbClr val="0A1622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2157984"/>
            <a:ext cx="508406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= client.chat...create(...)</a:t>
            </a:r>
            <a:endParaRPr lang="en-US" sz="13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print(response.choices[0]</a:t>
            </a:r>
            <a:endParaRPr lang="en-US" sz="13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.message.content)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0" y="16459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0" y="2011680"/>
            <a:ext cx="5166360" cy="2286000"/>
          </a:xfrm>
          <a:prstGeom prst="roundRect">
            <a:avLst>
              <a:gd name="adj" fmla="val 3200"/>
            </a:avLst>
          </a:prstGeom>
          <a:solidFill>
            <a:srgbClr val="0B2545"/>
          </a:solidFill>
          <a:ln w="12700">
            <a:solidFill>
              <a:srgbClr val="134074"/>
            </a:solidFill>
            <a:prstDash val="solid"/>
          </a:ln>
          <a:effectLst>
            <a:outerShdw sx="100000" sy="100000" kx="0" ky="0" algn="bl" rotWithShape="0" blurRad="101600" dist="38100" dir="5400000">
              <a:srgbClr val="0A1622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01968" y="2157984"/>
            <a:ext cx="4764024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 = client.chat...create(</a:t>
            </a:r>
            <a:endParaRPr lang="en-US" sz="13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...,</a:t>
            </a:r>
            <a:endParaRPr lang="en-US" sz="13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stream=True,</a:t>
            </a:r>
            <a:endParaRPr lang="en-US" sz="13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chunk in stream:</a:t>
            </a:r>
            <a:endParaRPr lang="en-US" sz="13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print(..., end="")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0080" y="384048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now consume an iterator of chunks — check the exact chunk shape against your SDK version.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AI for SE  ·  Week 2  ·  Session 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017520" cy="502920"/>
          </a:xfrm>
          <a:prstGeom prst="roundRect">
            <a:avLst>
              <a:gd name="adj" fmla="val 49091"/>
            </a:avLst>
          </a:prstGeom>
          <a:solidFill>
            <a:srgbClr val="F2A6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Streaming UX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 you are building an AI coding assistant.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457200" cy="457200"/>
          </a:xfrm>
          <a:prstGeom prst="oval">
            <a:avLst/>
          </a:prstGeom>
          <a:solidFill>
            <a:srgbClr val="F2A65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34440" y="233172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you use streaming?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457200" cy="457200"/>
          </a:xfrm>
          <a:prstGeom prst="oval">
            <a:avLst/>
          </a:prstGeom>
          <a:solidFill>
            <a:srgbClr val="F2A65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315468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if the stream fails halfway through?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0080" y="4023360"/>
            <a:ext cx="457200" cy="457200"/>
          </a:xfrm>
          <a:prstGeom prst="oval">
            <a:avLst/>
          </a:prstGeom>
          <a:solidFill>
            <a:srgbClr val="F2A65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34440" y="397764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the user see partial output?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40080" y="4846320"/>
            <a:ext cx="457200" cy="457200"/>
          </a:xfrm>
          <a:prstGeom prst="oval">
            <a:avLst/>
          </a:prstGeom>
          <a:solidFill>
            <a:srgbClr val="F2A65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846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34440" y="480060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the application retry automatically?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is a software-design problem — not just a coding trick.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AI for SE  ·  Week 2  ·  Session 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965960"/>
            <a:ext cx="1417320" cy="1417320"/>
          </a:xfrm>
          <a:prstGeom prst="roundRect">
            <a:avLst>
              <a:gd name="adj" fmla="val 6452"/>
            </a:avLst>
          </a:prstGeom>
          <a:solidFill>
            <a:srgbClr val="F2A6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96596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2286000" y="21488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Putting It Together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331720" y="31546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request path: validate, call, classify, retry, track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AI for SE  ·  Week 2  ·  Session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 · THE FULL PATH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Production-ish AI Request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434840" y="1691640"/>
            <a:ext cx="3291840" cy="548640"/>
          </a:xfrm>
          <a:prstGeom prst="roundRect">
            <a:avLst>
              <a:gd name="adj" fmla="val 11667"/>
            </a:avLst>
          </a:prstGeom>
          <a:solidFill>
            <a:srgbClr val="F7F9FB"/>
          </a:solidFill>
          <a:ln/>
        </p:spPr>
      </p:sp>
      <p:sp>
        <p:nvSpPr>
          <p:cNvPr id="5" name="Text 3"/>
          <p:cNvSpPr/>
          <p:nvPr/>
        </p:nvSpPr>
        <p:spPr>
          <a:xfrm>
            <a:off x="4434840" y="1691640"/>
            <a:ext cx="329184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input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434840" y="22402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34840" y="2468880"/>
            <a:ext cx="3291840" cy="548640"/>
          </a:xfrm>
          <a:prstGeom prst="roundRect">
            <a:avLst>
              <a:gd name="adj" fmla="val 11667"/>
            </a:avLst>
          </a:prstGeom>
          <a:solidFill>
            <a:srgbClr val="F7F9FB"/>
          </a:solidFill>
          <a:ln/>
        </p:spPr>
      </p:sp>
      <p:sp>
        <p:nvSpPr>
          <p:cNvPr id="8" name="Text 6"/>
          <p:cNvSpPr/>
          <p:nvPr/>
        </p:nvSpPr>
        <p:spPr>
          <a:xfrm>
            <a:off x="4434840" y="2468880"/>
            <a:ext cx="329184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conversation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434840" y="30175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34840" y="3246120"/>
            <a:ext cx="3291840" cy="548640"/>
          </a:xfrm>
          <a:prstGeom prst="roundRect">
            <a:avLst>
              <a:gd name="adj" fmla="val 11667"/>
            </a:avLst>
          </a:prstGeom>
          <a:solidFill>
            <a:srgbClr val="0B2545"/>
          </a:solidFill>
          <a:ln/>
        </p:spPr>
      </p:sp>
      <p:sp>
        <p:nvSpPr>
          <p:cNvPr id="11" name="Text 9"/>
          <p:cNvSpPr/>
          <p:nvPr/>
        </p:nvSpPr>
        <p:spPr>
          <a:xfrm>
            <a:off x="4434840" y="3246120"/>
            <a:ext cx="329184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LLM API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011680" y="4160520"/>
            <a:ext cx="2926080" cy="502920"/>
          </a:xfrm>
          <a:prstGeom prst="roundRect">
            <a:avLst>
              <a:gd name="adj" fmla="val 12727"/>
            </a:avLst>
          </a:prstGeom>
          <a:solidFill>
            <a:srgbClr val="2C9C7E"/>
          </a:solidFill>
          <a:ln/>
        </p:spPr>
      </p:sp>
      <p:sp>
        <p:nvSpPr>
          <p:cNvPr id="13" name="Text 11"/>
          <p:cNvSpPr/>
          <p:nvPr/>
        </p:nvSpPr>
        <p:spPr>
          <a:xfrm>
            <a:off x="2011680" y="4160520"/>
            <a:ext cx="29260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223760" y="4160520"/>
            <a:ext cx="2926080" cy="502920"/>
          </a:xfrm>
          <a:prstGeom prst="roundRect">
            <a:avLst>
              <a:gd name="adj" fmla="val 12727"/>
            </a:avLst>
          </a:prstGeom>
          <a:solidFill>
            <a:srgbClr val="C0563B"/>
          </a:solidFill>
          <a:ln/>
        </p:spPr>
      </p:sp>
      <p:sp>
        <p:nvSpPr>
          <p:cNvPr id="15" name="Text 13"/>
          <p:cNvSpPr/>
          <p:nvPr/>
        </p:nvSpPr>
        <p:spPr>
          <a:xfrm>
            <a:off x="7223760" y="4160520"/>
            <a:ext cx="29260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011680" y="4892040"/>
            <a:ext cx="2926080" cy="4572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11680" y="4892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response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011680" y="5349240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011680" y="5477256"/>
            <a:ext cx="2926080" cy="4572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11680" y="547725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output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011680" y="5934456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2011680" y="6062472"/>
            <a:ext cx="2926080" cy="457200"/>
          </a:xfrm>
          <a:prstGeom prst="roundRect">
            <a:avLst>
              <a:gd name="adj" fmla="val 12000"/>
            </a:avLst>
          </a:prstGeom>
          <a:solidFill>
            <a:srgbClr val="F2A65A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11680" y="606247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tokens → Return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223760" y="4892040"/>
            <a:ext cx="2926080" cy="457200"/>
          </a:xfrm>
          <a:prstGeom prst="roundRect">
            <a:avLst>
              <a:gd name="adj" fmla="val 14000"/>
            </a:avLst>
          </a:prstGeom>
          <a:solidFill>
            <a:srgbClr val="F7F9FB"/>
          </a:solidFill>
          <a:ln/>
        </p:spPr>
      </p:sp>
      <p:sp>
        <p:nvSpPr>
          <p:cNvPr id="25" name="Text 23"/>
          <p:cNvSpPr/>
          <p:nvPr/>
        </p:nvSpPr>
        <p:spPr>
          <a:xfrm>
            <a:off x="7223760" y="4892040"/>
            <a:ext cx="292608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error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223760" y="53492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223760" y="5532120"/>
            <a:ext cx="1371600" cy="457200"/>
          </a:xfrm>
          <a:prstGeom prst="roundRect">
            <a:avLst>
              <a:gd name="adj" fmla="val 14000"/>
            </a:avLst>
          </a:prstGeom>
          <a:solidFill>
            <a:srgbClr val="F2A65A"/>
          </a:solidFill>
          <a:ln/>
        </p:spPr>
      </p:sp>
      <p:sp>
        <p:nvSpPr>
          <p:cNvPr id="28" name="Text 26"/>
          <p:cNvSpPr/>
          <p:nvPr/>
        </p:nvSpPr>
        <p:spPr>
          <a:xfrm>
            <a:off x="7223760" y="5532120"/>
            <a:ext cx="13716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778240" y="5532120"/>
            <a:ext cx="1371600" cy="457200"/>
          </a:xfrm>
          <a:prstGeom prst="roundRect">
            <a:avLst>
              <a:gd name="adj" fmla="val 14000"/>
            </a:avLst>
          </a:prstGeom>
          <a:solidFill>
            <a:srgbClr val="0B2545"/>
          </a:solidFill>
          <a:ln/>
        </p:spPr>
      </p:sp>
      <p:sp>
        <p:nvSpPr>
          <p:cNvPr id="30" name="Text 28"/>
          <p:cNvSpPr/>
          <p:nvPr/>
        </p:nvSpPr>
        <p:spPr>
          <a:xfrm>
            <a:off x="8778240" y="5532120"/>
            <a:ext cx="13716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AI for SE  ·  Week 2  ·  Session 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 · DON'T REPEAT YOURSELF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Reusable API Wrapper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6035040" cy="2377440"/>
          </a:xfrm>
          <a:prstGeom prst="roundRect">
            <a:avLst>
              <a:gd name="adj" fmla="val 3077"/>
            </a:avLst>
          </a:prstGeom>
          <a:solidFill>
            <a:srgbClr val="0B2545"/>
          </a:solidFill>
          <a:ln w="12700">
            <a:solidFill>
              <a:srgbClr val="134074"/>
            </a:solidFill>
            <a:prstDash val="solid"/>
          </a:ln>
          <a:effectLst>
            <a:outerShdw sx="100000" sy="100000" kx="0" ky="0" algn="bl" rotWithShape="0" blurRad="101600" dist="38100" dir="5400000">
              <a:srgbClr val="0A1622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975104"/>
            <a:ext cx="5632704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ask_llm(</a:t>
            </a:r>
            <a:endParaRPr lang="en-US" sz="14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messages,</a:t>
            </a:r>
            <a:endParaRPr lang="en-US" sz="14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temperature=0.7,</a:t>
            </a:r>
            <a:endParaRPr lang="en-US" sz="14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max_tokens=500,</a:t>
            </a:r>
            <a:endParaRPr lang="en-US" sz="14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4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errors, retries, tokens,</a:t>
            </a:r>
            <a:endParaRPr lang="en-US" sz="14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logging all live here</a:t>
            </a:r>
            <a:endParaRPr lang="en-US" sz="14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949440" y="1828800"/>
            <a:ext cx="4617720" cy="2377440"/>
          </a:xfrm>
          <a:prstGeom prst="roundRect">
            <a:avLst>
              <a:gd name="adj" fmla="val 3846"/>
            </a:avLst>
          </a:prstGeom>
          <a:solidFill>
            <a:srgbClr val="EEF2F6"/>
          </a:solidFill>
          <a:ln w="19050">
            <a:solidFill>
              <a:srgbClr val="F2A6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78040" y="2057400"/>
            <a:ext cx="4160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place
</a:t>
            </a:r>
            <a:pPr indent="0" marL="0">
              <a:buNone/>
            </a:pPr>
            <a:r>
              <a:rPr lang="en-US" sz="14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cross-cutting concern — instead of scattering API calls, error handling and token logic across every feature.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AI for SE  ·  Week 2  ·  Session 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 · THE PAYOFF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Centralise?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wrapper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4937760" cy="502920"/>
          </a:xfrm>
          <a:prstGeom prst="roundRect">
            <a:avLst>
              <a:gd name="adj" fmla="val 10909"/>
            </a:avLst>
          </a:prstGeom>
          <a:solidFill>
            <a:srgbClr val="EEF2F6"/>
          </a:solidFill>
          <a:ln w="12700">
            <a:solidFill>
              <a:srgbClr val="C056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031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 A → API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4937760" cy="502920"/>
          </a:xfrm>
          <a:prstGeom prst="roundRect">
            <a:avLst>
              <a:gd name="adj" fmla="val 10909"/>
            </a:avLst>
          </a:prstGeom>
          <a:solidFill>
            <a:srgbClr val="EEF2F6"/>
          </a:solidFill>
          <a:ln w="12700">
            <a:solidFill>
              <a:srgbClr val="C056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7432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 B → API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383280"/>
            <a:ext cx="4937760" cy="502920"/>
          </a:xfrm>
          <a:prstGeom prst="roundRect">
            <a:avLst>
              <a:gd name="adj" fmla="val 10909"/>
            </a:avLst>
          </a:prstGeom>
          <a:solidFill>
            <a:srgbClr val="EEF2F6"/>
          </a:solidFill>
          <a:ln w="12700">
            <a:solidFill>
              <a:srgbClr val="C056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38328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 C → API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4023360"/>
            <a:ext cx="4937760" cy="502920"/>
          </a:xfrm>
          <a:prstGeom prst="roundRect">
            <a:avLst>
              <a:gd name="adj" fmla="val 10909"/>
            </a:avLst>
          </a:prstGeom>
          <a:solidFill>
            <a:srgbClr val="EEF2F6"/>
          </a:solidFill>
          <a:ln w="12700">
            <a:solidFill>
              <a:srgbClr val="C056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0233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 D → API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4709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handles errors, tokens, logging, retries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0" y="16916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9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wrapper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0" y="2103120"/>
            <a:ext cx="2103120" cy="384048"/>
          </a:xfrm>
          <a:prstGeom prst="roundRect">
            <a:avLst>
              <a:gd name="adj" fmla="val 11905"/>
            </a:avLst>
          </a:prstGeom>
          <a:solidFill>
            <a:srgbClr val="F7F9FB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21031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503920" y="210312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0" y="2606040"/>
            <a:ext cx="2103120" cy="384048"/>
          </a:xfrm>
          <a:prstGeom prst="roundRect">
            <a:avLst>
              <a:gd name="adj" fmla="val 11905"/>
            </a:avLst>
          </a:prstGeom>
          <a:solidFill>
            <a:srgbClr val="F7F9FB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26060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B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503920" y="260604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0" y="3108960"/>
            <a:ext cx="2103120" cy="384048"/>
          </a:xfrm>
          <a:prstGeom prst="roundRect">
            <a:avLst>
              <a:gd name="adj" fmla="val 11905"/>
            </a:avLst>
          </a:prstGeom>
          <a:solidFill>
            <a:srgbClr val="F7F9FB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31089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503920" y="310896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00800" y="3611880"/>
            <a:ext cx="2103120" cy="384048"/>
          </a:xfrm>
          <a:prstGeom prst="roundRect">
            <a:avLst>
              <a:gd name="adj" fmla="val 11905"/>
            </a:avLst>
          </a:prstGeom>
          <a:solidFill>
            <a:srgbClr val="F7F9FB"/>
          </a:solidFill>
          <a:ln w="12700">
            <a:solidFill>
              <a:srgbClr val="D3DD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36118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503920" y="361188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915400" y="2103120"/>
            <a:ext cx="2651760" cy="1709928"/>
          </a:xfrm>
          <a:prstGeom prst="roundRect">
            <a:avLst>
              <a:gd name="adj" fmla="val 4278"/>
            </a:avLst>
          </a:prstGeom>
          <a:solidFill>
            <a:srgbClr val="0B2545"/>
          </a:solidFill>
          <a:ln/>
        </p:spPr>
      </p:sp>
      <p:sp>
        <p:nvSpPr>
          <p:cNvPr id="28" name="Text 26"/>
          <p:cNvSpPr/>
          <p:nvPr/>
        </p:nvSpPr>
        <p:spPr>
          <a:xfrm>
            <a:off x="8915400" y="2103120"/>
            <a:ext cx="26517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service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API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00800" y="4709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C9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behaviour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AI for SE  ·  Week 2  ·  Session 2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017520" cy="502920"/>
          </a:xfrm>
          <a:prstGeom prst="roundRect">
            <a:avLst>
              <a:gd name="adj" fmla="val 49091"/>
            </a:avLst>
          </a:prstGeom>
          <a:solidFill>
            <a:srgbClr val="F2A6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an LLM Service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university is building an AI assistant used by 10,000 students.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4206240" cy="2651760"/>
          </a:xfrm>
          <a:prstGeom prst="roundRect">
            <a:avLst>
              <a:gd name="adj" fmla="val 2759"/>
            </a:avLst>
          </a:prstGeom>
          <a:solidFill>
            <a:srgbClr val="0B2545"/>
          </a:solidFill>
          <a:ln w="12700">
            <a:solidFill>
              <a:srgbClr val="134074"/>
            </a:solidFill>
            <a:prstDash val="solid"/>
          </a:ln>
          <a:effectLst>
            <a:outerShdw sx="100000" sy="100000" kx="0" ky="0" algn="bl" rotWithShape="0" blurRad="101600" dist="38100" dir="5400000">
              <a:srgbClr val="0A1622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41248" y="2478024"/>
            <a:ext cx="3803904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LLMService:</a:t>
            </a:r>
            <a:endParaRPr lang="en-US" sz="15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ask()</a:t>
            </a:r>
            <a:endParaRPr lang="en-US" sz="15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stream()</a:t>
            </a:r>
            <a:endParaRPr lang="en-US" sz="15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handle_error()</a:t>
            </a:r>
            <a:endParaRPr lang="en-US" sz="15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track_usage()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212080" y="2331720"/>
            <a:ext cx="384048" cy="384048"/>
          </a:xfrm>
          <a:prstGeom prst="oval">
            <a:avLst/>
          </a:prstGeom>
          <a:solidFill>
            <a:srgbClr val="F2A65A"/>
          </a:solidFill>
          <a:ln/>
        </p:spPr>
      </p:sp>
      <p:sp>
        <p:nvSpPr>
          <p:cNvPr id="9" name="Text 7"/>
          <p:cNvSpPr/>
          <p:nvPr/>
        </p:nvSpPr>
        <p:spPr>
          <a:xfrm>
            <a:off x="5212080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760720" y="228600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errors should retry?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5212080" y="2898648"/>
            <a:ext cx="384048" cy="384048"/>
          </a:xfrm>
          <a:prstGeom prst="oval">
            <a:avLst/>
          </a:prstGeom>
          <a:solidFill>
            <a:srgbClr val="F2A65A"/>
          </a:solidFill>
          <a:ln/>
        </p:spPr>
      </p:sp>
      <p:sp>
        <p:nvSpPr>
          <p:cNvPr id="12" name="Text 10"/>
          <p:cNvSpPr/>
          <p:nvPr/>
        </p:nvSpPr>
        <p:spPr>
          <a:xfrm>
            <a:off x="5212080" y="2898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760720" y="2852928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number of retries?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212080" y="3465576"/>
            <a:ext cx="384048" cy="384048"/>
          </a:xfrm>
          <a:prstGeom prst="oval">
            <a:avLst/>
          </a:prstGeom>
          <a:solidFill>
            <a:srgbClr val="F2A65A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0" y="3465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760720" y="3419856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token usage recorded?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5212080" y="4032504"/>
            <a:ext cx="384048" cy="384048"/>
          </a:xfrm>
          <a:prstGeom prst="oval">
            <a:avLst/>
          </a:prstGeom>
          <a:solidFill>
            <a:srgbClr val="F2A65A"/>
          </a:solidFill>
          <a:ln/>
        </p:spPr>
      </p:sp>
      <p:sp>
        <p:nvSpPr>
          <p:cNvPr id="18" name="Text 16"/>
          <p:cNvSpPr/>
          <p:nvPr/>
        </p:nvSpPr>
        <p:spPr>
          <a:xfrm>
            <a:off x="5212080" y="4032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760720" y="3986784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user see on failure?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5212080" y="4599432"/>
            <a:ext cx="384048" cy="384048"/>
          </a:xfrm>
          <a:prstGeom prst="oval">
            <a:avLst/>
          </a:prstGeom>
          <a:solidFill>
            <a:srgbClr val="F2A65A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0" y="4599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760720" y="4553712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responses be streamed?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40080" y="5440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the interface before writing it — this is the spec for your Lab 2 wrapper.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AI for SE  ·  Week 2  ·  Session 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Engineering Mindset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257800" cy="1051560"/>
          </a:xfrm>
          <a:prstGeom prst="roundRect">
            <a:avLst>
              <a:gd name="adj" fmla="val 8696"/>
            </a:avLst>
          </a:prstGeom>
          <a:solidFill>
            <a:srgbClr val="134074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2024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think
</a:t>
            </a:r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called ChatGPT successfully."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309360" y="1920240"/>
            <a:ext cx="5257800" cy="1051560"/>
          </a:xfrm>
          <a:prstGeom prst="roundRect">
            <a:avLst>
              <a:gd name="adj" fmla="val 8696"/>
            </a:avLst>
          </a:prstGeom>
          <a:solidFill>
            <a:srgbClr val="F2A65A"/>
          </a:solidFill>
          <a:ln/>
        </p:spPr>
      </p:sp>
      <p:sp>
        <p:nvSpPr>
          <p:cNvPr id="7" name="Text 5"/>
          <p:cNvSpPr/>
          <p:nvPr/>
        </p:nvSpPr>
        <p:spPr>
          <a:xfrm>
            <a:off x="6537960" y="192024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
</a:t>
            </a:r>
            <a:pPr indent="0" marL="0">
              <a:buNone/>
            </a:pPr>
            <a:r>
              <a:rPr lang="en-US" sz="15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integrated a probabilistic external service into a software system."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429000"/>
            <a:ext cx="2514600" cy="822960"/>
          </a:xfrm>
          <a:prstGeom prst="roundRect">
            <a:avLst>
              <a:gd name="adj" fmla="val 8889"/>
            </a:avLst>
          </a:prstGeom>
          <a:solidFill>
            <a:srgbClr val="10305A"/>
          </a:solidFill>
          <a:ln w="12700">
            <a:solidFill>
              <a:srgbClr val="13407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42900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3429000"/>
            <a:ext cx="2514600" cy="822960"/>
          </a:xfrm>
          <a:prstGeom prst="roundRect">
            <a:avLst>
              <a:gd name="adj" fmla="val 8889"/>
            </a:avLst>
          </a:prstGeom>
          <a:solidFill>
            <a:srgbClr val="10305A"/>
          </a:solidFill>
          <a:ln w="12700">
            <a:solidFill>
              <a:srgbClr val="13407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342900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26480" y="3429000"/>
            <a:ext cx="2514600" cy="822960"/>
          </a:xfrm>
          <a:prstGeom prst="roundRect">
            <a:avLst>
              <a:gd name="adj" fmla="val 8889"/>
            </a:avLst>
          </a:prstGeom>
          <a:solidFill>
            <a:srgbClr val="10305A"/>
          </a:solidFill>
          <a:ln w="12700">
            <a:solidFill>
              <a:srgbClr val="13407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342900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869680" y="3429000"/>
            <a:ext cx="2514600" cy="822960"/>
          </a:xfrm>
          <a:prstGeom prst="roundRect">
            <a:avLst>
              <a:gd name="adj" fmla="val 8889"/>
            </a:avLst>
          </a:prstGeom>
          <a:solidFill>
            <a:srgbClr val="10305A"/>
          </a:solidFill>
          <a:ln w="12700">
            <a:solidFill>
              <a:srgbClr val="13407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0" y="342900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4480560"/>
            <a:ext cx="2514600" cy="822960"/>
          </a:xfrm>
          <a:prstGeom prst="roundRect">
            <a:avLst>
              <a:gd name="adj" fmla="val 8889"/>
            </a:avLst>
          </a:prstGeom>
          <a:solidFill>
            <a:srgbClr val="10305A"/>
          </a:solidFill>
          <a:ln w="12700">
            <a:solidFill>
              <a:srgbClr val="13407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48056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383280" y="4480560"/>
            <a:ext cx="2514600" cy="822960"/>
          </a:xfrm>
          <a:prstGeom prst="roundRect">
            <a:avLst>
              <a:gd name="adj" fmla="val 8889"/>
            </a:avLst>
          </a:prstGeom>
          <a:solidFill>
            <a:srgbClr val="10305A"/>
          </a:solidFill>
          <a:ln w="12700">
            <a:solidFill>
              <a:srgbClr val="13407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448056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126480" y="4480560"/>
            <a:ext cx="2514600" cy="822960"/>
          </a:xfrm>
          <a:prstGeom prst="roundRect">
            <a:avLst>
              <a:gd name="adj" fmla="val 8889"/>
            </a:avLst>
          </a:prstGeom>
          <a:solidFill>
            <a:srgbClr val="10305A"/>
          </a:solidFill>
          <a:ln w="12700">
            <a:solidFill>
              <a:srgbClr val="13407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448056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experience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869680" y="4480560"/>
            <a:ext cx="2514600" cy="822960"/>
          </a:xfrm>
          <a:prstGeom prst="roundRect">
            <a:avLst>
              <a:gd name="adj" fmla="val 8889"/>
            </a:avLst>
          </a:prstGeom>
          <a:solidFill>
            <a:srgbClr val="10305A"/>
          </a:solidFill>
          <a:ln w="12700">
            <a:solidFill>
              <a:srgbClr val="13407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69680" y="448056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0080" y="5760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what turns a chatbot into an AI-enabled software system.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AI for SE  ·  Week 2  ·  Session 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Session 2 — Robust API Integration</dc:subject>
  <dc:creator>CamTech — Practical AI for Software Engineering</dc:creator>
  <cp:lastModifiedBy>CamTech — Practical AI for Software Engineering</cp:lastModifiedBy>
  <cp:revision>1</cp:revision>
  <dcterms:created xsi:type="dcterms:W3CDTF">2026-08-04T16:00:12Z</dcterms:created>
  <dcterms:modified xsi:type="dcterms:W3CDTF">2026-08-04T16:00:12Z</dcterms:modified>
</cp:coreProperties>
</file>